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strategia comercial" id="{f6f5e94b-74bd-508e-6536-6e4586927397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sthill 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6943" y="-36576"/>
            <a:ext cx="896112" cy="10762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51215" y="65105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@univwesthill</a:t>
            </a:r>
            <a:endParaRPr lang="en-US" sz="10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1261872"/>
            <a:ext cx="10515600" cy="53035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sthill Intr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ntro background 1" descr="Campus Universidad Westh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Logo Westhill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112" y="-384048"/>
            <a:ext cx="1316736" cy="1581441"/>
          </a:xfrm>
          <a:prstGeom prst="rect">
            <a:avLst/>
          </a:prstGeom>
        </p:spPr>
      </p:pic>
      <p:sp>
        <p:nvSpPr>
          <p:cNvPr id="5" name="Hashtag 3"/>
          <p:cNvSpPr txBox="1"/>
          <p:nvPr/>
        </p:nvSpPr>
        <p:spPr>
          <a:xfrm>
            <a:off x="8412480" y="6355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700" dirty="0"/>
          </a:p>
        </p:txBody>
      </p:sp>
      <p:sp>
        <p:nvSpPr>
          <p:cNvPr id="6" name="Cover title 4"/>
          <p:cNvSpPr txBox="1"/>
          <p:nvPr/>
        </p:nvSpPr>
        <p:spPr>
          <a:xfrm>
            <a:off x="411480" y="237744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 COMERCIAL</a:t>
            </a:r>
            <a:endParaRPr lang="en-US" sz="3800" dirty="0"/>
          </a:p>
        </p:txBody>
      </p:sp>
      <p:sp>
        <p:nvSpPr>
          <p:cNvPr id="7" name="Cover date 5"/>
          <p:cNvSpPr txBox="1"/>
          <p:nvPr/>
        </p:nvSpPr>
        <p:spPr>
          <a:xfrm>
            <a:off x="411480" y="39776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AGOSTO 2027</a:t>
            </a:r>
            <a:endParaRPr lang="en-US" sz="32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ashtag 6"/>
          <p:cNvSpPr txBox="1"/>
          <p:nvPr/>
        </p:nvSpPr>
        <p:spPr>
          <a:xfrm>
            <a:off x="1051560" y="91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20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126187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Estrategias Admisiones 2027</a:t>
            </a:r>
            <a:endParaRPr lang="en-US" sz="3000" dirty="0"/>
          </a:p>
        </p:txBody>
      </p:sp>
      <p:sp>
        <p:nvSpPr>
          <p:cNvPr id="5" name="Subtitle 7"/>
          <p:cNvSpPr txBox="1"/>
          <p:nvPr/>
        </p:nvSpPr>
        <p:spPr>
          <a:xfrm>
            <a:off x="548640" y="1828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 de Captación 2027 basado en los canales que sí convierten.</a:t>
            </a:r>
            <a:endParaRPr lang="en-US" sz="1600" dirty="0"/>
          </a:p>
        </p:txBody>
      </p:sp>
      <p:pic>
        <p:nvPicPr>
          <p:cNvPr id="6" name="Funnel floor 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31720"/>
            <a:ext cx="6949440" cy="93726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0000"/>
              </a:srgbClr>
            </a:outerShdw>
          </a:effectLst>
        </p:spPr>
      </p:pic>
      <p:pic>
        <p:nvPicPr>
          <p:cNvPr id="7" name="Icon FaUserGroup 9" descr="UserGro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382" y="2548890"/>
            <a:ext cx="502920" cy="502920"/>
          </a:xfrm>
          <a:prstGeom prst="rect">
            <a:avLst/>
          </a:prstGeom>
        </p:spPr>
      </p:pic>
      <p:sp>
        <p:nvSpPr>
          <p:cNvPr id="8" name="Text 10"/>
          <p:cNvSpPr txBox="1"/>
          <p:nvPr/>
        </p:nvSpPr>
        <p:spPr>
          <a:xfrm>
            <a:off x="1864462" y="2331720"/>
            <a:ext cx="4957877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PISO 1  </a:t>
            </a:r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Recomendados</a:t>
            </a:r>
            <a:endParaRPr lang="en-US" sz="1050" dirty="0"/>
          </a:p>
        </p:txBody>
      </p:sp>
      <p:sp>
        <p:nvSpPr>
          <p:cNvPr id="9" name="Text 11"/>
          <p:cNvSpPr txBox="1"/>
          <p:nvPr/>
        </p:nvSpPr>
        <p:spPr>
          <a:xfrm>
            <a:off x="1864462" y="2894076"/>
            <a:ext cx="4957877" cy="356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Estrategia: Embajador Westhill.</a:t>
            </a:r>
            <a:endParaRPr lang="en-US" sz="1150" dirty="0"/>
          </a:p>
        </p:txBody>
      </p:sp>
      <p:pic>
        <p:nvPicPr>
          <p:cNvPr id="10" name="Funnel floor 1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222" y="3360420"/>
            <a:ext cx="5872277" cy="93726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0000"/>
              </a:srgbClr>
            </a:outerShdw>
          </a:effectLst>
        </p:spPr>
      </p:pic>
      <p:pic>
        <p:nvPicPr>
          <p:cNvPr id="11" name="Icon FaSchool 13" descr="Schoo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2963" y="3577590"/>
            <a:ext cx="502920" cy="502920"/>
          </a:xfrm>
          <a:prstGeom prst="rect">
            <a:avLst/>
          </a:prstGeom>
        </p:spPr>
      </p:pic>
      <p:sp>
        <p:nvSpPr>
          <p:cNvPr id="12" name="Text 14"/>
          <p:cNvSpPr txBox="1"/>
          <p:nvPr/>
        </p:nvSpPr>
        <p:spPr>
          <a:xfrm>
            <a:off x="2403043" y="3360420"/>
            <a:ext cx="3880714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PISO 2  </a:t>
            </a:r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Preparatorias</a:t>
            </a:r>
            <a:endParaRPr lang="en-US" sz="1050" dirty="0"/>
          </a:p>
        </p:txBody>
      </p:sp>
      <p:sp>
        <p:nvSpPr>
          <p:cNvPr id="13" name="Text 15"/>
          <p:cNvSpPr txBox="1"/>
          <p:nvPr/>
        </p:nvSpPr>
        <p:spPr>
          <a:xfrm>
            <a:off x="2403043" y="3922776"/>
            <a:ext cx="3880714" cy="356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Visitas a Universidad, talleres y pláticas informativas.</a:t>
            </a:r>
            <a:endParaRPr lang="en-US" sz="1150" dirty="0"/>
          </a:p>
        </p:txBody>
      </p:sp>
      <p:pic>
        <p:nvPicPr>
          <p:cNvPr id="14" name="Funnel floor 16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5803" y="4389120"/>
            <a:ext cx="4795114" cy="93726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0000"/>
              </a:srgbClr>
            </a:outerShdw>
          </a:effectLst>
        </p:spPr>
      </p:pic>
      <p:pic>
        <p:nvPicPr>
          <p:cNvPr id="15" name="Icon FaBuilding 17" descr="Buildi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1545" y="4606290"/>
            <a:ext cx="502920" cy="502920"/>
          </a:xfrm>
          <a:prstGeom prst="rect">
            <a:avLst/>
          </a:prstGeom>
        </p:spPr>
      </p:pic>
      <p:sp>
        <p:nvSpPr>
          <p:cNvPr id="16" name="Text 18"/>
          <p:cNvSpPr txBox="1"/>
          <p:nvPr/>
        </p:nvSpPr>
        <p:spPr>
          <a:xfrm>
            <a:off x="2941625" y="4389120"/>
            <a:ext cx="280355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PISO 3  </a:t>
            </a:r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Convenios con empresas</a:t>
            </a:r>
            <a:endParaRPr lang="en-US" sz="1050" dirty="0"/>
          </a:p>
        </p:txBody>
      </p:sp>
      <p:sp>
        <p:nvSpPr>
          <p:cNvPr id="17" name="Text 19"/>
          <p:cNvSpPr txBox="1"/>
          <p:nvPr/>
        </p:nvSpPr>
        <p:spPr>
          <a:xfrm>
            <a:off x="2941625" y="4951476"/>
            <a:ext cx="2803550" cy="356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Colaboradores, familias y amigos.</a:t>
            </a:r>
            <a:endParaRPr lang="en-US" sz="1150" dirty="0"/>
          </a:p>
        </p:txBody>
      </p:sp>
      <p:pic>
        <p:nvPicPr>
          <p:cNvPr id="18" name="Funnel floor 20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64385" y="5417820"/>
            <a:ext cx="3717950" cy="93726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0000"/>
              </a:srgbClr>
            </a:outerShdw>
          </a:effectLst>
        </p:spPr>
      </p:pic>
      <p:pic>
        <p:nvPicPr>
          <p:cNvPr id="19" name="Icon FaUserGraduate 21" descr="UserGraduat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40126" y="5634990"/>
            <a:ext cx="502920" cy="502920"/>
          </a:xfrm>
          <a:prstGeom prst="rect">
            <a:avLst/>
          </a:prstGeom>
        </p:spPr>
      </p:pic>
      <p:sp>
        <p:nvSpPr>
          <p:cNvPr id="20" name="Text 22"/>
          <p:cNvSpPr txBox="1"/>
          <p:nvPr/>
        </p:nvSpPr>
        <p:spPr>
          <a:xfrm>
            <a:off x="3480206" y="5417820"/>
            <a:ext cx="1726387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INSCRITOS</a:t>
            </a:r>
            <a:endParaRPr lang="en-US" sz="1050" dirty="0"/>
          </a:p>
        </p:txBody>
      </p:sp>
      <p:pic>
        <p:nvPicPr>
          <p:cNvPr id="21" name="Card 23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0" y="2331720"/>
            <a:ext cx="3870655" cy="210312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22" name="Icon FaFilter 24" descr="Filter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0" y="2514600"/>
            <a:ext cx="548640" cy="548640"/>
          </a:xfrm>
          <a:prstGeom prst="rect">
            <a:avLst/>
          </a:prstGeom>
        </p:spPr>
      </p:pic>
      <p:sp>
        <p:nvSpPr>
          <p:cNvPr id="23" name="Text 25"/>
          <p:cNvSpPr txBox="1"/>
          <p:nvPr/>
        </p:nvSpPr>
        <p:spPr>
          <a:xfrm>
            <a:off x="8001000" y="3154680"/>
            <a:ext cx="34591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propuesta es realizar actividades enfocadas en generar prospectos, seguimiento y finalmente INSCRITOS.</a:t>
            </a:r>
            <a:endParaRPr lang="en-US" sz="1400" dirty="0"/>
          </a:p>
        </p:txBody>
      </p:sp>
      <p:pic>
        <p:nvPicPr>
          <p:cNvPr id="24" name="Card 26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2400" y="4617720"/>
            <a:ext cx="3870655" cy="493776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25" name="Icon FaUsers 27" descr="Users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18120" y="4645152"/>
            <a:ext cx="438912" cy="438912"/>
          </a:xfrm>
          <a:prstGeom prst="rect">
            <a:avLst/>
          </a:prstGeom>
        </p:spPr>
      </p:pic>
      <p:sp>
        <p:nvSpPr>
          <p:cNvPr id="26" name="Text 28"/>
          <p:cNvSpPr txBox="1"/>
          <p:nvPr/>
        </p:nvSpPr>
        <p:spPr>
          <a:xfrm>
            <a:off x="8366760" y="4617720"/>
            <a:ext cx="31391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Prospectos</a:t>
            </a:r>
            <a:endParaRPr lang="en-US" sz="1400" dirty="0"/>
          </a:p>
        </p:txBody>
      </p:sp>
      <p:pic>
        <p:nvPicPr>
          <p:cNvPr id="27" name="Card 29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72400" y="5202936"/>
            <a:ext cx="3870655" cy="493776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28" name="Icon FaHeadset 30" descr="Headset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18120" y="5230368"/>
            <a:ext cx="438912" cy="438912"/>
          </a:xfrm>
          <a:prstGeom prst="rect">
            <a:avLst/>
          </a:prstGeom>
        </p:spPr>
      </p:pic>
      <p:sp>
        <p:nvSpPr>
          <p:cNvPr id="29" name="Text 31"/>
          <p:cNvSpPr txBox="1"/>
          <p:nvPr/>
        </p:nvSpPr>
        <p:spPr>
          <a:xfrm>
            <a:off x="8366760" y="5202936"/>
            <a:ext cx="31391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Seguimiento</a:t>
            </a:r>
            <a:endParaRPr lang="en-US" sz="1400" dirty="0"/>
          </a:p>
        </p:txBody>
      </p:sp>
      <p:pic>
        <p:nvPicPr>
          <p:cNvPr id="30" name="Card 32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72400" y="5788152"/>
            <a:ext cx="3870655" cy="493776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5000"/>
              </a:srgbClr>
            </a:outerShdw>
          </a:effectLst>
        </p:spPr>
      </p:pic>
      <p:pic>
        <p:nvPicPr>
          <p:cNvPr id="31" name="Icon FaUserGraduate 33" descr="UserGraduate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18120" y="5815584"/>
            <a:ext cx="438912" cy="438912"/>
          </a:xfrm>
          <a:prstGeom prst="rect">
            <a:avLst/>
          </a:prstGeom>
        </p:spPr>
      </p:pic>
      <p:sp>
        <p:nvSpPr>
          <p:cNvPr id="32" name="Text 34"/>
          <p:cNvSpPr txBox="1"/>
          <p:nvPr/>
        </p:nvSpPr>
        <p:spPr>
          <a:xfrm>
            <a:off x="8366760" y="5788152"/>
            <a:ext cx="31391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INSCRITOS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6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6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6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6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6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65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65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65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5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65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65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3" grpId="0" animBg="1"/>
      <p:bldP spid="16" grpId="0" animBg="1"/>
      <p:bldP spid="17" grpId="0" animBg="1"/>
      <p:bldP spid="20" grpId="0" animBg="1"/>
      <p:bldP spid="23" grpId="0" animBg="1"/>
      <p:bldP spid="26" grpId="0" animBg="1"/>
      <p:bldP spid="29" grpId="0" animBg="1"/>
      <p:bldP spid="3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ashtag 35"/>
          <p:cNvSpPr txBox="1"/>
          <p:nvPr/>
        </p:nvSpPr>
        <p:spPr>
          <a:xfrm>
            <a:off x="1051560" y="91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20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126187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Piso 1 · Recomendados</a:t>
            </a:r>
            <a:endParaRPr lang="en-US" sz="3000" dirty="0"/>
          </a:p>
        </p:txBody>
      </p:sp>
      <p:pic>
        <p:nvPicPr>
          <p:cNvPr id="5" name="Funnel floor 3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2926080" cy="101727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0000"/>
              </a:srgbClr>
            </a:outerShdw>
          </a:effectLst>
        </p:spPr>
      </p:pic>
      <p:sp>
        <p:nvSpPr>
          <p:cNvPr id="6" name="Text 37"/>
          <p:cNvSpPr txBox="1"/>
          <p:nvPr/>
        </p:nvSpPr>
        <p:spPr>
          <a:xfrm>
            <a:off x="684703" y="1965960"/>
            <a:ext cx="2653955" cy="1017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· Recomendados</a:t>
            </a:r>
            <a:endParaRPr lang="en-US" sz="1100" dirty="0"/>
          </a:p>
        </p:txBody>
      </p:sp>
      <p:pic>
        <p:nvPicPr>
          <p:cNvPr id="7" name="Funnel floor 3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411" y="3074670"/>
            <a:ext cx="2472538" cy="1017270"/>
          </a:xfrm>
          <a:prstGeom prst="rect">
            <a:avLst/>
          </a:prstGeom>
        </p:spPr>
      </p:pic>
      <p:sp>
        <p:nvSpPr>
          <p:cNvPr id="8" name="Text 39"/>
          <p:cNvSpPr txBox="1"/>
          <p:nvPr/>
        </p:nvSpPr>
        <p:spPr>
          <a:xfrm>
            <a:off x="911474" y="3074670"/>
            <a:ext cx="2200412" cy="1017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 · Preparatorias</a:t>
            </a:r>
            <a:endParaRPr lang="en-US" sz="1100" dirty="0"/>
          </a:p>
        </p:txBody>
      </p:sp>
      <p:pic>
        <p:nvPicPr>
          <p:cNvPr id="9" name="Funnel floor 4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182" y="4183380"/>
            <a:ext cx="2018995" cy="1017270"/>
          </a:xfrm>
          <a:prstGeom prst="rect">
            <a:avLst/>
          </a:prstGeom>
        </p:spPr>
      </p:pic>
      <p:sp>
        <p:nvSpPr>
          <p:cNvPr id="10" name="Text 41"/>
          <p:cNvSpPr txBox="1"/>
          <p:nvPr/>
        </p:nvSpPr>
        <p:spPr>
          <a:xfrm>
            <a:off x="1138245" y="4183380"/>
            <a:ext cx="1746870" cy="1017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 · Convenios</a:t>
            </a:r>
            <a:endParaRPr lang="en-US" sz="1100" dirty="0"/>
          </a:p>
        </p:txBody>
      </p:sp>
      <p:pic>
        <p:nvPicPr>
          <p:cNvPr id="11" name="Funnel floor 4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954" y="5292090"/>
            <a:ext cx="1565453" cy="101727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0000"/>
              </a:srgbClr>
            </a:outerShdw>
          </a:effectLst>
        </p:spPr>
      </p:pic>
      <p:sp>
        <p:nvSpPr>
          <p:cNvPr id="12" name="Text 43"/>
          <p:cNvSpPr txBox="1"/>
          <p:nvPr/>
        </p:nvSpPr>
        <p:spPr>
          <a:xfrm>
            <a:off x="1365016" y="5292090"/>
            <a:ext cx="1293327" cy="1017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INSCRITOS</a:t>
            </a:r>
            <a:endParaRPr lang="en-US" sz="1100" dirty="0"/>
          </a:p>
        </p:txBody>
      </p:sp>
      <p:pic>
        <p:nvPicPr>
          <p:cNvPr id="13" name="Card 4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1965960"/>
            <a:ext cx="7848295" cy="68580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5000"/>
              </a:srgbClr>
            </a:outerShdw>
          </a:effectLst>
        </p:spPr>
      </p:pic>
      <p:pic>
        <p:nvPicPr>
          <p:cNvPr id="14" name="Icon FaTrophy 45" descr="Troph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7640" y="2057400"/>
            <a:ext cx="502920" cy="502920"/>
          </a:xfrm>
          <a:prstGeom prst="rect">
            <a:avLst/>
          </a:prstGeom>
        </p:spPr>
      </p:pic>
      <p:sp>
        <p:nvSpPr>
          <p:cNvPr id="15" name="Text 46"/>
          <p:cNvSpPr txBox="1"/>
          <p:nvPr/>
        </p:nvSpPr>
        <p:spPr>
          <a:xfrm>
            <a:off x="4663440" y="1965960"/>
            <a:ext cx="6842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RECOMENDADOS ES EL CANAL DE MAYOR VALOR COMERCIAL.</a:t>
            </a:r>
            <a:endParaRPr lang="en-US" sz="1600" dirty="0"/>
          </a:p>
        </p:txBody>
      </p:sp>
      <p:pic>
        <p:nvPicPr>
          <p:cNvPr id="16" name="Card 4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4760" y="2834640"/>
            <a:ext cx="3809848" cy="347472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5000"/>
              </a:srgbClr>
            </a:outerShdw>
          </a:effectLst>
        </p:spPr>
      </p:pic>
      <p:pic>
        <p:nvPicPr>
          <p:cNvPr id="17" name="Watermark FaUserGraduate 4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3008" y="4937760"/>
            <a:ext cx="1143000" cy="1143000"/>
          </a:xfrm>
          <a:prstGeom prst="rect">
            <a:avLst/>
          </a:prstGeom>
        </p:spPr>
      </p:pic>
      <p:pic>
        <p:nvPicPr>
          <p:cNvPr id="18" name="Icon FaUserGraduate 49" descr="UserGraduat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69080" y="3063240"/>
            <a:ext cx="640080" cy="640080"/>
          </a:xfrm>
          <a:prstGeom prst="rect">
            <a:avLst/>
          </a:prstGeom>
        </p:spPr>
      </p:pic>
      <p:sp>
        <p:nvSpPr>
          <p:cNvPr id="19" name="Text 50"/>
          <p:cNvSpPr txBox="1"/>
          <p:nvPr/>
        </p:nvSpPr>
        <p:spPr>
          <a:xfrm>
            <a:off x="4846320" y="3017520"/>
            <a:ext cx="2575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 Comercial:</a:t>
            </a:r>
            <a:endParaRPr lang="en-US" sz="1150" dirty="0"/>
          </a:p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Embajador Westhill.</a:t>
            </a:r>
            <a:endParaRPr lang="en-US" sz="1150" dirty="0"/>
          </a:p>
        </p:txBody>
      </p:sp>
      <p:sp>
        <p:nvSpPr>
          <p:cNvPr id="20" name="Text 51"/>
          <p:cNvSpPr txBox="1"/>
          <p:nvPr/>
        </p:nvSpPr>
        <p:spPr>
          <a:xfrm>
            <a:off x="4069080" y="3977640"/>
            <a:ext cx="33069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Objetivo: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Convertir a nuestros alumnos y egresados en una red comercial activa de recomendación.</a:t>
            </a:r>
            <a:endParaRPr lang="en-US" sz="1500" dirty="0"/>
          </a:p>
        </p:txBody>
      </p:sp>
      <p:pic>
        <p:nvPicPr>
          <p:cNvPr id="21" name="Card 52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33208" y="2834640"/>
            <a:ext cx="3809848" cy="1673352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22" name="Icon FaGift 53" descr="Gift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61808" y="3063240"/>
            <a:ext cx="548640" cy="548640"/>
          </a:xfrm>
          <a:prstGeom prst="rect">
            <a:avLst/>
          </a:prstGeom>
        </p:spPr>
      </p:pic>
      <p:sp>
        <p:nvSpPr>
          <p:cNvPr id="23" name="Text 54"/>
          <p:cNvSpPr txBox="1"/>
          <p:nvPr/>
        </p:nvSpPr>
        <p:spPr>
          <a:xfrm>
            <a:off x="8747608" y="2944368"/>
            <a:ext cx="24839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 está diseñando un plan completo con incentivos de bonos económicos e incentivos con puntos por participación en actividades y eventos.</a:t>
            </a:r>
            <a:endParaRPr lang="en-US" sz="1250" dirty="0"/>
          </a:p>
        </p:txBody>
      </p:sp>
      <p:pic>
        <p:nvPicPr>
          <p:cNvPr id="24" name="Card 55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33208" y="4636008"/>
            <a:ext cx="3809848" cy="1673352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25" name="Icon FaLink 56" descr="Link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61808" y="4864608"/>
            <a:ext cx="548640" cy="548640"/>
          </a:xfrm>
          <a:prstGeom prst="rect">
            <a:avLst/>
          </a:prstGeom>
        </p:spPr>
      </p:pic>
      <p:sp>
        <p:nvSpPr>
          <p:cNvPr id="26" name="Text 57"/>
          <p:cNvSpPr txBox="1"/>
          <p:nvPr/>
        </p:nvSpPr>
        <p:spPr>
          <a:xfrm>
            <a:off x="8747608" y="4745736"/>
            <a:ext cx="24839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Para medir la efectividad se va a crear un link para los alumnos embajadores para que los compartan con sus recomendados y a través de su llenado se registrarán en la siguiente base de datos.</a:t>
            </a:r>
            <a:endParaRPr lang="en-US" sz="12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6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 animBg="1"/>
      <p:bldP spid="15" grpId="0" animBg="1"/>
      <p:bldP spid="19" grpId="0" animBg="1"/>
      <p:bldP spid="20" grpId="0" animBg="1"/>
      <p:bldP spid="23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ashtag 58"/>
          <p:cNvSpPr txBox="1"/>
          <p:nvPr/>
        </p:nvSpPr>
        <p:spPr>
          <a:xfrm>
            <a:off x="1051560" y="91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20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126187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Piso 1 · Base de datos de referidos</a:t>
            </a:r>
            <a:endParaRPr lang="en-US" sz="3000" dirty="0"/>
          </a:p>
        </p:txBody>
      </p:sp>
      <p:pic>
        <p:nvPicPr>
          <p:cNvPr id="5" name="Funnel floor 5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2926080" cy="101727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0000"/>
              </a:srgbClr>
            </a:outerShdw>
          </a:effectLst>
        </p:spPr>
      </p:pic>
      <p:sp>
        <p:nvSpPr>
          <p:cNvPr id="6" name="Text 60"/>
          <p:cNvSpPr txBox="1"/>
          <p:nvPr/>
        </p:nvSpPr>
        <p:spPr>
          <a:xfrm>
            <a:off x="684703" y="1965960"/>
            <a:ext cx="2653955" cy="1017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· Recomendados</a:t>
            </a:r>
            <a:endParaRPr lang="en-US" sz="1100" dirty="0"/>
          </a:p>
        </p:txBody>
      </p:sp>
      <p:pic>
        <p:nvPicPr>
          <p:cNvPr id="7" name="Funnel floor 6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411" y="3074670"/>
            <a:ext cx="2472538" cy="1017270"/>
          </a:xfrm>
          <a:prstGeom prst="rect">
            <a:avLst/>
          </a:prstGeom>
        </p:spPr>
      </p:pic>
      <p:sp>
        <p:nvSpPr>
          <p:cNvPr id="8" name="Text 62"/>
          <p:cNvSpPr txBox="1"/>
          <p:nvPr/>
        </p:nvSpPr>
        <p:spPr>
          <a:xfrm>
            <a:off x="911474" y="3074670"/>
            <a:ext cx="2200412" cy="1017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 · Preparatorias</a:t>
            </a:r>
            <a:endParaRPr lang="en-US" sz="1100" dirty="0"/>
          </a:p>
        </p:txBody>
      </p:sp>
      <p:pic>
        <p:nvPicPr>
          <p:cNvPr id="9" name="Funnel floor 6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182" y="4183380"/>
            <a:ext cx="2018995" cy="1017270"/>
          </a:xfrm>
          <a:prstGeom prst="rect">
            <a:avLst/>
          </a:prstGeom>
        </p:spPr>
      </p:pic>
      <p:sp>
        <p:nvSpPr>
          <p:cNvPr id="10" name="Text 64"/>
          <p:cNvSpPr txBox="1"/>
          <p:nvPr/>
        </p:nvSpPr>
        <p:spPr>
          <a:xfrm>
            <a:off x="1138245" y="4183380"/>
            <a:ext cx="1746870" cy="1017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 · Convenios</a:t>
            </a:r>
            <a:endParaRPr lang="en-US" sz="1100" dirty="0"/>
          </a:p>
        </p:txBody>
      </p:sp>
      <p:pic>
        <p:nvPicPr>
          <p:cNvPr id="11" name="Funnel floor 6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954" y="5292090"/>
            <a:ext cx="1565453" cy="101727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0000"/>
              </a:srgbClr>
            </a:outerShdw>
          </a:effectLst>
        </p:spPr>
      </p:pic>
      <p:sp>
        <p:nvSpPr>
          <p:cNvPr id="12" name="Text 66"/>
          <p:cNvSpPr txBox="1"/>
          <p:nvPr/>
        </p:nvSpPr>
        <p:spPr>
          <a:xfrm>
            <a:off x="1365016" y="5292090"/>
            <a:ext cx="1293327" cy="1017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INSCRITOS</a:t>
            </a:r>
            <a:endParaRPr lang="en-US" sz="1100" dirty="0"/>
          </a:p>
        </p:txBody>
      </p:sp>
      <p:sp>
        <p:nvSpPr>
          <p:cNvPr id="13" name="Pill 67"/>
          <p:cNvSpPr txBox="1"/>
          <p:nvPr/>
        </p:nvSpPr>
        <p:spPr>
          <a:xfrm>
            <a:off x="3794760" y="1965960"/>
            <a:ext cx="219456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HOJA: REFERIDORES</a:t>
            </a:r>
            <a:endParaRPr lang="en-US" sz="1050" dirty="0"/>
          </a:p>
        </p:txBody>
      </p:sp>
      <p:pic>
        <p:nvPicPr>
          <p:cNvPr id="14" name="Referidores screenshot frame 68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2377440"/>
            <a:ext cx="4206240" cy="1179858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15" name="Referidores screenshot 69" descr="Referidores screensho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4488" y="2487168"/>
            <a:ext cx="3986784" cy="960402"/>
          </a:xfrm>
          <a:prstGeom prst="rect">
            <a:avLst/>
          </a:prstGeom>
        </p:spPr>
      </p:pic>
      <p:sp>
        <p:nvSpPr>
          <p:cNvPr id="16" name="Text 70"/>
          <p:cNvSpPr txBox="1"/>
          <p:nvPr/>
        </p:nvSpPr>
        <p:spPr>
          <a:xfrm>
            <a:off x="8229600" y="2377440"/>
            <a:ext cx="3413455" cy="1179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Cada embajador registrado con su código único, correo y teléfono.</a:t>
            </a:r>
            <a:endParaRPr lang="en-US" sz="1300" dirty="0"/>
          </a:p>
        </p:txBody>
      </p:sp>
      <p:sp>
        <p:nvSpPr>
          <p:cNvPr id="17" name="Pill 71"/>
          <p:cNvSpPr txBox="1"/>
          <p:nvPr/>
        </p:nvSpPr>
        <p:spPr>
          <a:xfrm>
            <a:off x="3794760" y="3740178"/>
            <a:ext cx="201168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HOJA: REFERIDOS</a:t>
            </a:r>
            <a:endParaRPr lang="en-US" sz="1050" dirty="0"/>
          </a:p>
        </p:txBody>
      </p:sp>
      <p:pic>
        <p:nvPicPr>
          <p:cNvPr id="18" name="Referidos screenshot frame 72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4760" y="4151658"/>
            <a:ext cx="4914390" cy="2203422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19" name="Referidos screenshot 73" descr="Referidos screensho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04488" y="4261386"/>
            <a:ext cx="4694934" cy="1983966"/>
          </a:xfrm>
          <a:prstGeom prst="rect">
            <a:avLst/>
          </a:prstGeom>
        </p:spPr>
      </p:pic>
      <p:sp>
        <p:nvSpPr>
          <p:cNvPr id="20" name="Text 74"/>
          <p:cNvSpPr txBox="1"/>
          <p:nvPr/>
        </p:nvSpPr>
        <p:spPr>
          <a:xfrm>
            <a:off x="8937750" y="4151658"/>
            <a:ext cx="2705305" cy="2203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Cada invitado con quién lo refirió, nivel y programa de interés.</a:t>
            </a:r>
            <a:endParaRPr lang="en-US" sz="1300" dirty="0"/>
          </a:p>
        </p:txBody>
      </p:sp>
      <p:sp>
        <p:nvSpPr>
          <p:cNvPr id="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 animBg="1"/>
      <p:bldP spid="13" grpId="0" animBg="1"/>
      <p:bldP spid="16" grpId="0" animBg="1"/>
      <p:bldP spid="17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ashtag 75"/>
          <p:cNvSpPr txBox="1"/>
          <p:nvPr/>
        </p:nvSpPr>
        <p:spPr>
          <a:xfrm>
            <a:off x="1051560" y="91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20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126187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Piso 2 · Preparatorias</a:t>
            </a:r>
            <a:endParaRPr lang="en-US" sz="3000" dirty="0"/>
          </a:p>
        </p:txBody>
      </p:sp>
      <p:pic>
        <p:nvPicPr>
          <p:cNvPr id="5" name="Funnel floor 7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2926080" cy="1017270"/>
          </a:xfrm>
          <a:prstGeom prst="rect">
            <a:avLst/>
          </a:prstGeom>
        </p:spPr>
      </p:pic>
      <p:sp>
        <p:nvSpPr>
          <p:cNvPr id="6" name="Text 77"/>
          <p:cNvSpPr txBox="1"/>
          <p:nvPr/>
        </p:nvSpPr>
        <p:spPr>
          <a:xfrm>
            <a:off x="684703" y="1965960"/>
            <a:ext cx="2653955" cy="1017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· Recomendados</a:t>
            </a:r>
            <a:endParaRPr lang="en-US" sz="1100" dirty="0"/>
          </a:p>
        </p:txBody>
      </p:sp>
      <p:pic>
        <p:nvPicPr>
          <p:cNvPr id="7" name="Funnel floor 7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411" y="3074670"/>
            <a:ext cx="2472538" cy="101727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0000"/>
              </a:srgbClr>
            </a:outerShdw>
          </a:effectLst>
        </p:spPr>
      </p:pic>
      <p:sp>
        <p:nvSpPr>
          <p:cNvPr id="8" name="Text 79"/>
          <p:cNvSpPr txBox="1"/>
          <p:nvPr/>
        </p:nvSpPr>
        <p:spPr>
          <a:xfrm>
            <a:off x="911474" y="3074670"/>
            <a:ext cx="2200412" cy="1017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 · Preparatorias</a:t>
            </a:r>
            <a:endParaRPr lang="en-US" sz="1100" dirty="0"/>
          </a:p>
        </p:txBody>
      </p:sp>
      <p:pic>
        <p:nvPicPr>
          <p:cNvPr id="9" name="Funnel floor 8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182" y="4183380"/>
            <a:ext cx="2018995" cy="1017270"/>
          </a:xfrm>
          <a:prstGeom prst="rect">
            <a:avLst/>
          </a:prstGeom>
        </p:spPr>
      </p:pic>
      <p:sp>
        <p:nvSpPr>
          <p:cNvPr id="10" name="Text 81"/>
          <p:cNvSpPr txBox="1"/>
          <p:nvPr/>
        </p:nvSpPr>
        <p:spPr>
          <a:xfrm>
            <a:off x="1138245" y="4183380"/>
            <a:ext cx="1746870" cy="1017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 · Convenios</a:t>
            </a:r>
            <a:endParaRPr lang="en-US" sz="1100" dirty="0"/>
          </a:p>
        </p:txBody>
      </p:sp>
      <p:pic>
        <p:nvPicPr>
          <p:cNvPr id="11" name="Funnel floor 8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954" y="5292090"/>
            <a:ext cx="1565453" cy="101727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0000"/>
              </a:srgbClr>
            </a:outerShdw>
          </a:effectLst>
        </p:spPr>
      </p:pic>
      <p:sp>
        <p:nvSpPr>
          <p:cNvPr id="12" name="Text 83"/>
          <p:cNvSpPr txBox="1"/>
          <p:nvPr/>
        </p:nvSpPr>
        <p:spPr>
          <a:xfrm>
            <a:off x="1365016" y="5292090"/>
            <a:ext cx="1293327" cy="1017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INSCRITOS</a:t>
            </a:r>
            <a:endParaRPr lang="en-US" sz="1100" dirty="0"/>
          </a:p>
        </p:txBody>
      </p:sp>
      <p:sp>
        <p:nvSpPr>
          <p:cNvPr id="13" name="Text 84"/>
          <p:cNvSpPr txBox="1"/>
          <p:nvPr/>
        </p:nvSpPr>
        <p:spPr>
          <a:xfrm>
            <a:off x="3794760" y="1938528"/>
            <a:ext cx="7848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Las preparatorias representan una fuente estratégica porque permiten trabajar con volumen, recurrencia y relación institucional.</a:t>
            </a:r>
            <a:endParaRPr lang="en-US" sz="1400" dirty="0"/>
          </a:p>
        </p:txBody>
      </p:sp>
      <p:sp>
        <p:nvSpPr>
          <p:cNvPr id="14" name="Text 85"/>
          <p:cNvSpPr txBox="1"/>
          <p:nvPr/>
        </p:nvSpPr>
        <p:spPr>
          <a:xfrm>
            <a:off x="3794760" y="2542032"/>
            <a:ext cx="7848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propuesta es medir lo siguiente:</a:t>
            </a:r>
            <a:endParaRPr lang="en-US" sz="1300" dirty="0"/>
          </a:p>
        </p:txBody>
      </p:sp>
      <p:pic>
        <p:nvPicPr>
          <p:cNvPr id="15" name="Card 86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2898648"/>
            <a:ext cx="2494178" cy="150876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16" name="Icon FaCalendarCheck 87" descr="Calendar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7640" y="3035808"/>
            <a:ext cx="457200" cy="457200"/>
          </a:xfrm>
          <a:prstGeom prst="rect">
            <a:avLst/>
          </a:prstGeom>
        </p:spPr>
      </p:pic>
      <p:sp>
        <p:nvSpPr>
          <p:cNvPr id="17" name="Text 88"/>
          <p:cNvSpPr txBox="1"/>
          <p:nvPr/>
        </p:nvSpPr>
        <p:spPr>
          <a:xfrm>
            <a:off x="3977640" y="3547872"/>
            <a:ext cx="2174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Asistencia a ferias escolares.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(Criterio analizar el número de alumnos inscritos en los años 2024, 2025 y 2026).</a:t>
            </a:r>
            <a:endParaRPr lang="en-US" sz="1200" dirty="0"/>
          </a:p>
        </p:txBody>
      </p:sp>
      <p:pic>
        <p:nvPicPr>
          <p:cNvPr id="18" name="Card 89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1818" y="2898648"/>
            <a:ext cx="2494178" cy="150876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19" name="Icon FaUsers 90" descr="User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4698" y="3035808"/>
            <a:ext cx="457200" cy="457200"/>
          </a:xfrm>
          <a:prstGeom prst="rect">
            <a:avLst/>
          </a:prstGeom>
        </p:spPr>
      </p:pic>
      <p:sp>
        <p:nvSpPr>
          <p:cNvPr id="20" name="Text 91"/>
          <p:cNvSpPr txBox="1"/>
          <p:nvPr/>
        </p:nvSpPr>
        <p:spPr>
          <a:xfrm>
            <a:off x="6654698" y="3547872"/>
            <a:ext cx="2174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Número de alumnos de los 3 grados.</a:t>
            </a:r>
            <a:endParaRPr lang="en-US" sz="1200" dirty="0"/>
          </a:p>
        </p:txBody>
      </p:sp>
      <p:pic>
        <p:nvPicPr>
          <p:cNvPr id="21" name="Card 92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8877" y="2898648"/>
            <a:ext cx="2494178" cy="150876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22" name="Icon FaBullseye 93" descr="Bullsey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31757" y="3035808"/>
            <a:ext cx="457200" cy="457200"/>
          </a:xfrm>
          <a:prstGeom prst="rect">
            <a:avLst/>
          </a:prstGeom>
        </p:spPr>
      </p:pic>
      <p:sp>
        <p:nvSpPr>
          <p:cNvPr id="23" name="Text 94"/>
          <p:cNvSpPr txBox="1"/>
          <p:nvPr/>
        </p:nvSpPr>
        <p:spPr>
          <a:xfrm>
            <a:off x="9331757" y="3547872"/>
            <a:ext cx="2174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Realizar una meta por escuela de la conversión de alumnos.</a:t>
            </a:r>
            <a:endParaRPr lang="en-US" sz="1200" dirty="0"/>
          </a:p>
        </p:txBody>
      </p:sp>
      <p:sp>
        <p:nvSpPr>
          <p:cNvPr id="24" name="Text 95"/>
          <p:cNvSpPr txBox="1"/>
          <p:nvPr/>
        </p:nvSpPr>
        <p:spPr>
          <a:xfrm>
            <a:off x="3794760" y="4526280"/>
            <a:ext cx="7848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Estrategias Comerciales:</a:t>
            </a:r>
            <a:endParaRPr lang="en-US" sz="1300" dirty="0"/>
          </a:p>
        </p:txBody>
      </p:sp>
      <p:pic>
        <p:nvPicPr>
          <p:cNvPr id="25" name="Card 96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94760" y="4864608"/>
            <a:ext cx="4552011" cy="146304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5000"/>
              </a:srgbClr>
            </a:outerShdw>
          </a:effectLst>
        </p:spPr>
      </p:pic>
      <p:pic>
        <p:nvPicPr>
          <p:cNvPr id="26" name="Icon FaBuildingColumns 97" descr="BuildingColumns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77640" y="5001768"/>
            <a:ext cx="457200" cy="457200"/>
          </a:xfrm>
          <a:prstGeom prst="rect">
            <a:avLst/>
          </a:prstGeom>
        </p:spPr>
      </p:pic>
      <p:sp>
        <p:nvSpPr>
          <p:cNvPr id="27" name="Text 98"/>
          <p:cNvSpPr txBox="1"/>
          <p:nvPr/>
        </p:nvSpPr>
        <p:spPr>
          <a:xfrm>
            <a:off x="4572000" y="4910328"/>
            <a:ext cx="363761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Visitas a Universidad: </a:t>
            </a:r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Experiencia en Westhill, el punto central que el alumno sea el protagonista. (Ya se tiene el plan piloto).</a:t>
            </a:r>
            <a:endParaRPr lang="en-US" sz="1150" dirty="0"/>
          </a:p>
        </p:txBody>
      </p:sp>
      <p:sp>
        <p:nvSpPr>
          <p:cNvPr id="28" name="Text 99"/>
          <p:cNvSpPr txBox="1"/>
          <p:nvPr/>
        </p:nvSpPr>
        <p:spPr>
          <a:xfrm>
            <a:off x="4572000" y="5669280"/>
            <a:ext cx="363761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Resultado: </a:t>
            </a:r>
            <a:pPr indent="0" marL="0">
              <a:buNone/>
            </a:pPr>
            <a:r>
              <a:rPr lang="en-US" sz="1150" b="1" i="1" dirty="0">
                <a:solidFill>
                  <a:schemeClr val="accent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que todos los alumnos salgan con el pensamiento, “Aquí quiero estudiar”.</a:t>
            </a:r>
            <a:endParaRPr lang="en-US" sz="1150" dirty="0"/>
          </a:p>
        </p:txBody>
      </p:sp>
      <p:pic>
        <p:nvPicPr>
          <p:cNvPr id="29" name="Card 100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29651" y="4864608"/>
            <a:ext cx="3113404" cy="694944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30" name="Icon FaChalkboardUser 101" descr="ChalkboardUser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66811" y="4983480"/>
            <a:ext cx="457200" cy="457200"/>
          </a:xfrm>
          <a:prstGeom prst="rect">
            <a:avLst/>
          </a:prstGeom>
        </p:spPr>
      </p:pic>
      <p:sp>
        <p:nvSpPr>
          <p:cNvPr id="31" name="Text 102"/>
          <p:cNvSpPr txBox="1"/>
          <p:nvPr/>
        </p:nvSpPr>
        <p:spPr>
          <a:xfrm>
            <a:off x="9261171" y="4864608"/>
            <a:ext cx="21075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Talleres</a:t>
            </a:r>
            <a:endParaRPr lang="en-US" sz="1400" dirty="0"/>
          </a:p>
        </p:txBody>
      </p:sp>
      <p:pic>
        <p:nvPicPr>
          <p:cNvPr id="32" name="Card 10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29651" y="5632704"/>
            <a:ext cx="3113404" cy="694944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33" name="Icon FaComments 104" descr="Comments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66811" y="5751576"/>
            <a:ext cx="457200" cy="457200"/>
          </a:xfrm>
          <a:prstGeom prst="rect">
            <a:avLst/>
          </a:prstGeom>
        </p:spPr>
      </p:pic>
      <p:sp>
        <p:nvSpPr>
          <p:cNvPr id="34" name="Text 105"/>
          <p:cNvSpPr txBox="1"/>
          <p:nvPr/>
        </p:nvSpPr>
        <p:spPr>
          <a:xfrm>
            <a:off x="9261171" y="5632704"/>
            <a:ext cx="21075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Pláticas Informativas.</a:t>
            </a:r>
            <a:endParaRPr lang="en-US" sz="14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6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6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6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6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6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6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6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65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5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65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65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65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65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65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65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65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65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 animBg="1"/>
      <p:bldP spid="13" grpId="0" animBg="1"/>
      <p:bldP spid="14" grpId="0" animBg="1"/>
      <p:bldP spid="17" grpId="0" animBg="1"/>
      <p:bldP spid="20" grpId="0" animBg="1"/>
      <p:bldP spid="23" grpId="0" animBg="1"/>
      <p:bldP spid="24" grpId="0" animBg="1"/>
      <p:bldP spid="27" grpId="0" animBg="1"/>
      <p:bldP spid="28" grpId="0" animBg="1"/>
      <p:bldP spid="31" grpId="0" animBg="1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ashtag 106"/>
          <p:cNvSpPr txBox="1"/>
          <p:nvPr/>
        </p:nvSpPr>
        <p:spPr>
          <a:xfrm>
            <a:off x="1051560" y="91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20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126187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Piso 3 · Convenios con empresas</a:t>
            </a:r>
            <a:endParaRPr lang="en-US" sz="3000" dirty="0"/>
          </a:p>
        </p:txBody>
      </p:sp>
      <p:pic>
        <p:nvPicPr>
          <p:cNvPr id="5" name="Funnel floor 10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2926080" cy="1017270"/>
          </a:xfrm>
          <a:prstGeom prst="rect">
            <a:avLst/>
          </a:prstGeom>
        </p:spPr>
      </p:pic>
      <p:sp>
        <p:nvSpPr>
          <p:cNvPr id="6" name="Text 108"/>
          <p:cNvSpPr txBox="1"/>
          <p:nvPr/>
        </p:nvSpPr>
        <p:spPr>
          <a:xfrm>
            <a:off x="684703" y="1965960"/>
            <a:ext cx="2653955" cy="1017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· Recomendados</a:t>
            </a:r>
            <a:endParaRPr lang="en-US" sz="1100" dirty="0"/>
          </a:p>
        </p:txBody>
      </p:sp>
      <p:pic>
        <p:nvPicPr>
          <p:cNvPr id="7" name="Funnel floor 10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411" y="3074670"/>
            <a:ext cx="2472538" cy="1017270"/>
          </a:xfrm>
          <a:prstGeom prst="rect">
            <a:avLst/>
          </a:prstGeom>
        </p:spPr>
      </p:pic>
      <p:sp>
        <p:nvSpPr>
          <p:cNvPr id="8" name="Text 110"/>
          <p:cNvSpPr txBox="1"/>
          <p:nvPr/>
        </p:nvSpPr>
        <p:spPr>
          <a:xfrm>
            <a:off x="911474" y="3074670"/>
            <a:ext cx="2200412" cy="1017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 · Preparatorias</a:t>
            </a:r>
            <a:endParaRPr lang="en-US" sz="1100" dirty="0"/>
          </a:p>
        </p:txBody>
      </p:sp>
      <p:pic>
        <p:nvPicPr>
          <p:cNvPr id="9" name="Funnel floor 11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182" y="4183380"/>
            <a:ext cx="2018995" cy="101727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0000"/>
              </a:srgbClr>
            </a:outerShdw>
          </a:effectLst>
        </p:spPr>
      </p:pic>
      <p:sp>
        <p:nvSpPr>
          <p:cNvPr id="10" name="Text 112"/>
          <p:cNvSpPr txBox="1"/>
          <p:nvPr/>
        </p:nvSpPr>
        <p:spPr>
          <a:xfrm>
            <a:off x="1138245" y="4183380"/>
            <a:ext cx="1746870" cy="1017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 · Convenios</a:t>
            </a:r>
            <a:endParaRPr lang="en-US" sz="1100" dirty="0"/>
          </a:p>
        </p:txBody>
      </p:sp>
      <p:pic>
        <p:nvPicPr>
          <p:cNvPr id="11" name="Funnel floor 11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954" y="5292090"/>
            <a:ext cx="1565453" cy="101727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0000"/>
              </a:srgbClr>
            </a:outerShdw>
          </a:effectLst>
        </p:spPr>
      </p:pic>
      <p:sp>
        <p:nvSpPr>
          <p:cNvPr id="12" name="Text 114"/>
          <p:cNvSpPr txBox="1"/>
          <p:nvPr/>
        </p:nvSpPr>
        <p:spPr>
          <a:xfrm>
            <a:off x="1365016" y="5292090"/>
            <a:ext cx="1293327" cy="1017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INSCRITOS</a:t>
            </a:r>
            <a:endParaRPr lang="en-US" sz="1100" dirty="0"/>
          </a:p>
        </p:txBody>
      </p:sp>
      <p:pic>
        <p:nvPicPr>
          <p:cNvPr id="13" name="Card 11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1965960"/>
            <a:ext cx="7848295" cy="105156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14" name="Icon FaHandshake 116" descr="Handshak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3360" y="2194560"/>
            <a:ext cx="594360" cy="594360"/>
          </a:xfrm>
          <a:prstGeom prst="rect">
            <a:avLst/>
          </a:prstGeom>
        </p:spPr>
      </p:pic>
      <p:sp>
        <p:nvSpPr>
          <p:cNvPr id="15" name="Text 117"/>
          <p:cNvSpPr txBox="1"/>
          <p:nvPr/>
        </p:nvSpPr>
        <p:spPr>
          <a:xfrm>
            <a:off x="4800600" y="1965960"/>
            <a:ext cx="6659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Para ampliar las fuentes de prospectos, se está trabajando en un programa de </a:t>
            </a:r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 empresas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cercanas a la Universidad.</a:t>
            </a:r>
            <a:endParaRPr lang="en-US" sz="1500" dirty="0"/>
          </a:p>
        </p:txBody>
      </p:sp>
      <p:sp>
        <p:nvSpPr>
          <p:cNvPr id="16" name="Text 118"/>
          <p:cNvSpPr txBox="1"/>
          <p:nvPr/>
        </p:nvSpPr>
        <p:spPr>
          <a:xfrm>
            <a:off x="3794760" y="3154680"/>
            <a:ext cx="7848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Las empresas nos permiten acceder a tres mercados:</a:t>
            </a:r>
            <a:endParaRPr lang="en-US" sz="1300" dirty="0"/>
          </a:p>
        </p:txBody>
      </p:sp>
      <p:pic>
        <p:nvPicPr>
          <p:cNvPr id="17" name="Card 119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4760" y="3520440"/>
            <a:ext cx="2494178" cy="96012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5000"/>
              </a:srgbClr>
            </a:outerShdw>
          </a:effectLst>
        </p:spPr>
      </p:pic>
      <p:pic>
        <p:nvPicPr>
          <p:cNvPr id="18" name="Icon FaUserTie 120" descr="UserTi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95928" y="3721608"/>
            <a:ext cx="548640" cy="548640"/>
          </a:xfrm>
          <a:prstGeom prst="rect">
            <a:avLst/>
          </a:prstGeom>
        </p:spPr>
      </p:pic>
      <p:sp>
        <p:nvSpPr>
          <p:cNvPr id="19" name="Text 121"/>
          <p:cNvSpPr txBox="1"/>
          <p:nvPr/>
        </p:nvSpPr>
        <p:spPr>
          <a:xfrm>
            <a:off x="4663440" y="3520440"/>
            <a:ext cx="15340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Colaboradores</a:t>
            </a:r>
            <a:endParaRPr lang="en-US" sz="1500" dirty="0"/>
          </a:p>
        </p:txBody>
      </p:sp>
      <p:pic>
        <p:nvPicPr>
          <p:cNvPr id="20" name="Card 122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1818" y="3520440"/>
            <a:ext cx="2494178" cy="96012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21" name="Icon FaHouseUser 123" descr="HouseUser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72986" y="3721608"/>
            <a:ext cx="548640" cy="548640"/>
          </a:xfrm>
          <a:prstGeom prst="rect">
            <a:avLst/>
          </a:prstGeom>
        </p:spPr>
      </p:pic>
      <p:sp>
        <p:nvSpPr>
          <p:cNvPr id="22" name="Text 124"/>
          <p:cNvSpPr txBox="1"/>
          <p:nvPr/>
        </p:nvSpPr>
        <p:spPr>
          <a:xfrm>
            <a:off x="7340498" y="3520440"/>
            <a:ext cx="15340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Familias</a:t>
            </a:r>
            <a:endParaRPr lang="en-US" sz="1500" dirty="0"/>
          </a:p>
        </p:txBody>
      </p:sp>
      <p:pic>
        <p:nvPicPr>
          <p:cNvPr id="23" name="Card 12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8877" y="3520440"/>
            <a:ext cx="2494178" cy="96012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24" name="Icon FaUserGroup 126" descr="UserGroup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50045" y="3721608"/>
            <a:ext cx="548640" cy="548640"/>
          </a:xfrm>
          <a:prstGeom prst="rect">
            <a:avLst/>
          </a:prstGeom>
        </p:spPr>
      </p:pic>
      <p:sp>
        <p:nvSpPr>
          <p:cNvPr id="25" name="Text 127"/>
          <p:cNvSpPr txBox="1"/>
          <p:nvPr/>
        </p:nvSpPr>
        <p:spPr>
          <a:xfrm>
            <a:off x="10017557" y="3520440"/>
            <a:ext cx="15340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Amigos.</a:t>
            </a:r>
            <a:endParaRPr lang="en-US" sz="1500" dirty="0"/>
          </a:p>
        </p:txBody>
      </p:sp>
      <p:pic>
        <p:nvPicPr>
          <p:cNvPr id="26" name="Card 128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94760" y="4617720"/>
            <a:ext cx="3832708" cy="91440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27" name="Icon FaFileContract 129" descr="FileContract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77640" y="4818888"/>
            <a:ext cx="502920" cy="502920"/>
          </a:xfrm>
          <a:prstGeom prst="rect">
            <a:avLst/>
          </a:prstGeom>
        </p:spPr>
      </p:pic>
      <p:sp>
        <p:nvSpPr>
          <p:cNvPr id="28" name="Text 130"/>
          <p:cNvSpPr txBox="1"/>
          <p:nvPr/>
        </p:nvSpPr>
        <p:spPr>
          <a:xfrm>
            <a:off x="4617720" y="4645152"/>
            <a:ext cx="287258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 está revisando el convenio existente.</a:t>
            </a:r>
            <a:endParaRPr lang="en-US" sz="1300" dirty="0"/>
          </a:p>
        </p:txBody>
      </p:sp>
      <p:pic>
        <p:nvPicPr>
          <p:cNvPr id="29" name="Card 131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10348" y="4617720"/>
            <a:ext cx="3832708" cy="91440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30" name="Icon FaPeopleGroup 132" descr="PeopleGroup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93228" y="4818888"/>
            <a:ext cx="502920" cy="502920"/>
          </a:xfrm>
          <a:prstGeom prst="rect">
            <a:avLst/>
          </a:prstGeom>
        </p:spPr>
      </p:pic>
      <p:sp>
        <p:nvSpPr>
          <p:cNvPr id="31" name="Text 133"/>
          <p:cNvSpPr txBox="1"/>
          <p:nvPr/>
        </p:nvSpPr>
        <p:spPr>
          <a:xfrm>
            <a:off x="8633308" y="4645152"/>
            <a:ext cx="287258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 este punto se trabajará muy de cerca con el área correspondiente para participar en eventos, dar presentaciones y tener atención personalizada a los prospectos.</a:t>
            </a:r>
            <a:endParaRPr lang="en-US" sz="1100" dirty="0"/>
          </a:p>
        </p:txBody>
      </p:sp>
      <p:pic>
        <p:nvPicPr>
          <p:cNvPr id="32" name="Card 134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794760" y="5669280"/>
            <a:ext cx="7848295" cy="658368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5000"/>
              </a:srgbClr>
            </a:outerShdw>
          </a:effectLst>
        </p:spPr>
      </p:pic>
      <p:pic>
        <p:nvPicPr>
          <p:cNvPr id="33" name="Icon FaFlagCheckered 135" descr="FlagCheckered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977640" y="5751576"/>
            <a:ext cx="493776" cy="493776"/>
          </a:xfrm>
          <a:prstGeom prst="rect">
            <a:avLst/>
          </a:prstGeom>
        </p:spPr>
      </p:pic>
      <p:sp>
        <p:nvSpPr>
          <p:cNvPr id="34" name="Text 136"/>
          <p:cNvSpPr txBox="1"/>
          <p:nvPr/>
        </p:nvSpPr>
        <p:spPr>
          <a:xfrm>
            <a:off x="4617720" y="5669280"/>
            <a:ext cx="6888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consigna para Agosto 2027 es construir una red que genere inscritos de manera constante.</a:t>
            </a:r>
            <a:endParaRPr lang="en-US" sz="14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6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6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6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6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6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6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6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65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5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65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65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65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65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65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65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65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65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 animBg="1"/>
      <p:bldP spid="15" grpId="0" animBg="1"/>
      <p:bldP spid="16" grpId="0" animBg="1"/>
      <p:bldP spid="19" grpId="0" animBg="1"/>
      <p:bldP spid="22" grpId="0" animBg="1"/>
      <p:bldP spid="25" grpId="0" animBg="1"/>
      <p:bldP spid="28" grpId="0" animBg="1"/>
      <p:bldP spid="31" grpId="0" animBg="1"/>
      <p:bldP spid="3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Westhill">
      <a:dk1>
        <a:srgbClr val="15243A"/>
      </a:dk1>
      <a:lt1>
        <a:srgbClr val="FFFFFF"/>
      </a:lt1>
      <a:dk2>
        <a:srgbClr val="0E2A47"/>
      </a:dk2>
      <a:lt2>
        <a:srgbClr val="EDF3FA"/>
      </a:lt2>
      <a:accent1>
        <a:srgbClr val="266294"/>
      </a:accent1>
      <a:accent2>
        <a:srgbClr val="F2C94C"/>
      </a:accent2>
      <a:accent3>
        <a:srgbClr val="4A90C8"/>
      </a:accent3>
      <a:accent4>
        <a:srgbClr val="163A5F"/>
      </a:accent4>
      <a:accent5>
        <a:srgbClr val="8FB3D9"/>
      </a:accent5>
      <a:accent6>
        <a:srgbClr val="5B6B7D"/>
      </a:accent6>
      <a:hlink>
        <a:srgbClr val="266294"/>
      </a:hlink>
      <a:folHlink>
        <a:srgbClr val="163A5F"/>
      </a:folHlink>
    </a:clrScheme>
    <a:fontScheme name="Office">
      <a:majorFont>
        <a:latin typeface="Ralew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aleway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Universidad Westhill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Estrategia Comercial agosto 2027</dc:title>
  <dc:subject>PptxGenJS Presentation</dc:subject>
  <dc:creator>Universidad Westhill</dc:creator>
  <cp:lastModifiedBy>Universidad Westhill</cp:lastModifiedBy>
  <cp:revision>1</cp:revision>
  <dcterms:created xsi:type="dcterms:W3CDTF">2026-10-08T17:46:10Z</dcterms:created>
  <dcterms:modified xsi:type="dcterms:W3CDTF">2026-10-08T17:46:10Z</dcterms:modified>
</cp:coreProperties>
</file>
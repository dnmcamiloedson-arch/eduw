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fondo-1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image" Target="../media/fondo-2.jpeg"/><Relationship Id="rId4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fondo-3.jpe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fondo-4.jpe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fondo-5.jpe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fondo-6.jpe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image" Target="../media/fondo-7.jpe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fondo-8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274320"/>
            <a:ext cx="2514600" cy="101360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51560" y="5669280"/>
            <a:ext cx="1097280" cy="64008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4" name="Shape 1"/>
          <p:cNvSpPr/>
          <p:nvPr/>
        </p:nvSpPr>
        <p:spPr>
          <a:xfrm>
            <a:off x="10042855" y="5669280"/>
            <a:ext cx="1097280" cy="64008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411480" y="2103120"/>
            <a:ext cx="5394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spc="100" kern="0" dirty="0">
                <a:solidFill>
                  <a:srgbClr val="2662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800" spc="100" kern="0" dirty="0">
                <a:solidFill>
                  <a:srgbClr val="2662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WESTHILL</a:t>
            </a:r>
            <a:endParaRPr lang="en-US" sz="38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411480" y="2633472"/>
            <a:ext cx="539496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lnSpc>
                <a:spcPct val="88000"/>
              </a:lnSpc>
              <a:buNone/>
              <a:defRPr lang="en-US" sz="54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ctr" indent="0" marL="0">
              <a:lnSpc>
                <a:spcPct val="88000"/>
              </a:lnSpc>
              <a:buNone/>
            </a:pPr>
            <a:r>
              <a:rPr lang="en-US" sz="54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TÍTULO DEL EVENTO</a:t>
            </a:r>
            <a:endParaRPr lang="en-US" sz="54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411480" y="4206240"/>
            <a:ext cx="5394960" cy="62179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dirty="0">
                <a:solidFill>
                  <a:srgbClr val="2662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800" dirty="0">
                <a:solidFill>
                  <a:srgbClr val="2662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SUMMIT 2026</a:t>
            </a:r>
            <a:endParaRPr lang="en-US" sz="3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240280" y="5394960"/>
            <a:ext cx="7708392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FECHA DEL EVENTO</a:t>
            </a:r>
            <a:endParaRPr lang="en-US" sz="30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240280" y="5961888"/>
            <a:ext cx="770839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Facultad de Medicina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 de ponencia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274320"/>
            <a:ext cx="2514600" cy="101360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2286000"/>
            <a:ext cx="548640" cy="64008"/>
          </a:xfrm>
          <a:prstGeom prst="rect">
            <a:avLst/>
          </a:prstGeom>
          <a:solidFill>
            <a:srgbClr val="2DB34A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68" y="932688"/>
            <a:ext cx="3657600" cy="3657600"/>
          </a:xfrm>
          <a:prstGeom prst="rect">
            <a:avLst/>
          </a:prstGeom>
        </p:spPr>
      </p:pic>
      <p:sp>
        <p:nvSpPr>
          <p:cNvPr id="5" name="Text 1"/>
          <p:cNvSpPr/>
          <p:nvPr>
            <p:ph type="pic" idx="103" hasCustomPrompt="1"/>
          </p:nvPr>
        </p:nvSpPr>
        <p:spPr>
          <a:xfrm>
            <a:off x="8110728" y="1069848"/>
            <a:ext cx="3383280" cy="3383280"/>
          </a:xfrm>
          <a:prstGeom prst="ellipse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Foto del ponente</a:t>
            </a:r>
            <a:endParaRPr lang="en-US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1234440" y="2176272"/>
            <a:ext cx="5943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spc="5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1300" spc="5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PONENCIA</a:t>
            </a:r>
            <a:endParaRPr lang="en-US" sz="1300" dirty="0"/>
          </a:p>
        </p:txBody>
      </p:sp>
      <p:sp>
        <p:nvSpPr>
          <p:cNvPr id="7" name="Text 1"/>
          <p:cNvSpPr/>
          <p:nvPr>
            <p:ph idx="105" type="title" hasCustomPrompt="1"/>
          </p:nvPr>
        </p:nvSpPr>
        <p:spPr>
          <a:xfrm>
            <a:off x="548640" y="260604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32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Título de la ponencia</a:t>
            </a:r>
            <a:endParaRPr lang="en-US" sz="3200" dirty="0"/>
          </a:p>
        </p:txBody>
      </p:sp>
      <p:sp>
        <p:nvSpPr>
          <p:cNvPr id="8" name="Text 1"/>
          <p:cNvSpPr/>
          <p:nvPr>
            <p:ph idx="106" type="body" hasCustomPrompt="1"/>
          </p:nvPr>
        </p:nvSpPr>
        <p:spPr>
          <a:xfrm>
            <a:off x="548640" y="4224528"/>
            <a:ext cx="694944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del ponente</a:t>
            </a:r>
            <a:endParaRPr lang="en-US" sz="2000" dirty="0"/>
          </a:p>
        </p:txBody>
      </p:sp>
      <p:sp>
        <p:nvSpPr>
          <p:cNvPr id="9" name="Text 1"/>
          <p:cNvSpPr/>
          <p:nvPr>
            <p:ph idx="107" type="body" hasCustomPrompt="1"/>
          </p:nvPr>
        </p:nvSpPr>
        <p:spPr>
          <a:xfrm>
            <a:off x="548640" y="4645152"/>
            <a:ext cx="69494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Cargo · Institución</a:t>
            </a:r>
            <a:endParaRPr lang="en-US" sz="14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48640" y="5486400"/>
            <a:ext cx="74980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Día · horario</a:t>
            </a:r>
            <a:endParaRPr lang="en-US" sz="2200" dirty="0"/>
          </a:p>
        </p:txBody>
      </p:sp>
      <p:sp>
        <p:nvSpPr>
          <p:cNvPr id="11" name="Text 1"/>
          <p:cNvSpPr/>
          <p:nvPr/>
        </p:nvSpPr>
        <p:spPr>
          <a:xfrm>
            <a:off x="7985455" y="54864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Facultad de Medicina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103120" cy="84774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926080" y="502920"/>
            <a:ext cx="18288" cy="685800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3127248" y="502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MEDICAL LEADERSHIP</a:t>
            </a:r>
            <a:endParaRPr lang="en-US" sz="1200" dirty="0"/>
          </a:p>
          <a:p>
            <a:pPr indent="0" marL="0">
              <a:buNone/>
            </a:pPr>
            <a:r>
              <a:rPr lang="en-US" sz="1200" spc="2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SUMMIT 2026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081528"/>
            <a:ext cx="548640" cy="64008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1234440" y="297180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spc="60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1300" spc="60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SECCIÓN</a:t>
            </a:r>
            <a:endParaRPr lang="en-US" sz="1300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548640" y="1600200"/>
            <a:ext cx="365760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600" dirty="0">
                <a:solidFill>
                  <a:srgbClr val="F2C94C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600" dirty="0">
                <a:solidFill>
                  <a:srgbClr val="F2C94C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9600" dirty="0"/>
          </a:p>
        </p:txBody>
      </p:sp>
      <p:sp>
        <p:nvSpPr>
          <p:cNvPr id="8" name="Text 3"/>
          <p:cNvSpPr/>
          <p:nvPr>
            <p:ph idx="106" type="title" hasCustomPrompt="1"/>
          </p:nvPr>
        </p:nvSpPr>
        <p:spPr>
          <a:xfrm>
            <a:off x="548640" y="3383280"/>
            <a:ext cx="603504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40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Título de la sección</a:t>
            </a:r>
            <a:endParaRPr lang="en-US" sz="4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548640" y="4892040"/>
            <a:ext cx="58521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FE6FB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CFE6FB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Frase breve que presenta la sección</a:t>
            </a:r>
            <a:endParaRPr lang="en-US" sz="17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conteni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228600"/>
            <a:ext cx="1920240" cy="77402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6019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WESTHILL MEDICAL LEADERSHIP SUMMIT 2026  ·  Facultad de Medicina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716975" y="660196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F2C94C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#SOMOSWESTHILL</a:t>
            </a:r>
            <a:endParaRPr lang="en-US" sz="9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4572000" y="274320"/>
            <a:ext cx="706831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Título de la diapositiva</a:t>
            </a:r>
            <a:endParaRPr lang="en-US" sz="28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4572000" y="987552"/>
            <a:ext cx="7068312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Subtítulo opcional</a:t>
            </a:r>
            <a:endParaRPr lang="en-US" sz="14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548640" y="1828800"/>
            <a:ext cx="11094415" cy="4389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1000"/>
              </a:spcAft>
              <a:buNone/>
              <a:defRPr lang="en-US" sz="1800" dirty="0">
                <a:solidFill>
                  <a:srgbClr val="15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5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Escribe aquí el contenido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601968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 e 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228600"/>
            <a:ext cx="1920240" cy="77402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6019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WESTHILL MEDICAL LEADERSHIP SUMMIT 2026  ·  Facultad de Medicina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716975" y="660196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F2C94C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#SOMOSWESTHILL</a:t>
            </a:r>
            <a:endParaRPr lang="en-US" sz="9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4572000" y="274320"/>
            <a:ext cx="706831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Título de la diapositiva</a:t>
            </a:r>
            <a:endParaRPr lang="en-US" sz="28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4572000" y="987552"/>
            <a:ext cx="7068312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Subtítulo opcional</a:t>
            </a:r>
            <a:endParaRPr lang="en-US" sz="14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548640" y="1828800"/>
            <a:ext cx="5577840" cy="4389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1000"/>
              </a:spcAft>
              <a:buNone/>
              <a:defRPr lang="en-US" sz="1800" dirty="0">
                <a:solidFill>
                  <a:srgbClr val="15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5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Escribe aquí el contenido</a:t>
            </a:r>
            <a:endParaRPr lang="en-US" sz="1800" dirty="0"/>
          </a:p>
        </p:txBody>
      </p:sp>
      <p:sp>
        <p:nvSpPr>
          <p:cNvPr id="8" name="Text 2"/>
          <p:cNvSpPr/>
          <p:nvPr>
            <p:ph type="pic" idx="106" hasCustomPrompt="1"/>
          </p:nvPr>
        </p:nvSpPr>
        <p:spPr>
          <a:xfrm>
            <a:off x="6446520" y="1828800"/>
            <a:ext cx="5193792" cy="4389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Inserta una imagen</a:t>
            </a: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601968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lo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228600"/>
            <a:ext cx="1920240" cy="77402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6019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WESTHILL MEDICAL LEADERSHIP SUMMIT 2026  ·  Facultad de Medicina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716975" y="660196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F2C94C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#SOMOSWESTHILL</a:t>
            </a:r>
            <a:endParaRPr lang="en-US" sz="9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4572000" y="274320"/>
            <a:ext cx="706831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Título de la diapositiva</a:t>
            </a:r>
            <a:endParaRPr lang="en-US" sz="28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4572000" y="987552"/>
            <a:ext cx="7068312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Subtítulo opcional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601968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ces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274320"/>
            <a:ext cx="2514600" cy="101035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488" y="1783080"/>
            <a:ext cx="1188720" cy="11887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423160" y="4572000"/>
            <a:ext cx="1097280" cy="64008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1"/>
          <p:cNvSpPr/>
          <p:nvPr/>
        </p:nvSpPr>
        <p:spPr>
          <a:xfrm>
            <a:off x="8671255" y="4572000"/>
            <a:ext cx="1097280" cy="64008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1371600" y="3108960"/>
            <a:ext cx="944849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6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66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COFFEE BREAK</a:t>
            </a:r>
            <a:endParaRPr lang="en-US" sz="66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566160" y="4325112"/>
            <a:ext cx="505937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400" dirty="0">
                <a:solidFill>
                  <a:srgbClr val="F2C94C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400" dirty="0">
                <a:solidFill>
                  <a:srgbClr val="F2C94C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Regresamos a las 00:00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371600" y="4983480"/>
            <a:ext cx="944849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rgbClr val="CFE6FB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dirty="0">
                <a:solidFill>
                  <a:srgbClr val="CFE6FB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Día · horario del receso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274320"/>
            <a:ext cx="2514600" cy="101035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423160" y="4636008"/>
            <a:ext cx="1097280" cy="64008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4" name="Shape 1"/>
          <p:cNvSpPr/>
          <p:nvPr/>
        </p:nvSpPr>
        <p:spPr>
          <a:xfrm>
            <a:off x="8671255" y="4636008"/>
            <a:ext cx="1097280" cy="64008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1371600" y="2148840"/>
            <a:ext cx="9448495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72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72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¡GRACIAS!</a:t>
            </a:r>
            <a:endParaRPr lang="en-US" sz="72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1371600" y="3429000"/>
            <a:ext cx="94484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spc="100" kern="0" dirty="0">
                <a:solidFill>
                  <a:srgbClr val="CFE6FB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200" spc="100" kern="0" dirty="0">
                <a:solidFill>
                  <a:srgbClr val="CFE6FB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Nombre del evento</a:t>
            </a:r>
            <a:endParaRPr lang="en-US" sz="22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566160" y="4389120"/>
            <a:ext cx="505937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Fecha · Sede</a:t>
            </a:r>
            <a:endParaRPr lang="en-US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601968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7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7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7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slideLayout" Target="../slideLayouts/slideLayout7.xml"/><Relationship Id="rId1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portada 1" descr="Médicos de la Facultad de Medici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868680"/>
            <a:ext cx="6382512" cy="4464069"/>
          </a:xfrm>
          <a:prstGeom prst="rect">
            <a:avLst/>
          </a:prstGeom>
        </p:spPr>
      </p:pic>
      <p:sp>
        <p:nvSpPr>
          <p:cNvPr id="3" name="Text 2"/>
          <p:cNvSpPr/>
          <p:nvPr>
            <p:ph idx="103" type="body" hasCustomPrompt="1"/>
          </p:nvPr>
        </p:nvSpPr>
        <p:spPr>
          <a:xfrm>
            <a:off x="411480" y="21031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spc="100" kern="0" dirty="0">
                <a:solidFill>
                  <a:srgbClr val="2662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WESTHILL</a:t>
            </a:r>
            <a:endParaRPr lang="en-US" sz="3800" dirty="0"/>
          </a:p>
        </p:txBody>
      </p:sp>
      <p:sp>
        <p:nvSpPr>
          <p:cNvPr id="4" name="Text 2"/>
          <p:cNvSpPr/>
          <p:nvPr>
            <p:ph idx="104" type="title" hasCustomPrompt="1"/>
          </p:nvPr>
        </p:nvSpPr>
        <p:spPr>
          <a:xfrm>
            <a:off x="411480" y="2633472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4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MEDICAL</a:t>
            </a:r>
            <a:endParaRPr lang="en-US" sz="54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54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LEADERSHIP</a:t>
            </a:r>
            <a:endParaRPr lang="en-US" sz="54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411480" y="4206240"/>
            <a:ext cx="5394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2662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SUMMIT </a:t>
            </a:r>
            <a:pPr algn="ctr" indent="0" marL="0">
              <a:buNone/>
            </a:pPr>
            <a:r>
              <a:rPr lang="en-US" sz="38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2026</a:t>
            </a:r>
            <a:endParaRPr lang="en-US" sz="3800" dirty="0"/>
          </a:p>
        </p:txBody>
      </p:sp>
      <p:sp>
        <p:nvSpPr>
          <p:cNvPr id="6" name="Text 2"/>
          <p:cNvSpPr/>
          <p:nvPr>
            <p:ph idx="106" type="body" hasCustomPrompt="1"/>
          </p:nvPr>
        </p:nvSpPr>
        <p:spPr>
          <a:xfrm>
            <a:off x="2240280" y="5394960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21, 22 Y 23 </a:t>
            </a:r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 OCTUBRE DE 2026</a:t>
            </a:r>
            <a:endParaRPr lang="en-US" sz="3000" dirty="0"/>
          </a:p>
        </p:txBody>
      </p:sp>
      <p:sp>
        <p:nvSpPr>
          <p:cNvPr id="7" name="Text 2"/>
          <p:cNvSpPr/>
          <p:nvPr>
            <p:ph idx="107" type="body" hasCustomPrompt="1"/>
          </p:nvPr>
        </p:nvSpPr>
        <p:spPr>
          <a:xfrm>
            <a:off x="2240280" y="5961888"/>
            <a:ext cx="7708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Facultad de Medicina</a:t>
            </a:r>
            <a:endParaRPr lang="en-US" sz="2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4" type="body" hasCustomPrompt="1"/>
          </p:nvPr>
        </p:nvSpPr>
        <p:spPr>
          <a:xfrm>
            <a:off x="1234440" y="217627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CEREMONIA DE APERTURA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5" type="title" hasCustomPrompt="1"/>
          </p:nvPr>
        </p:nvSpPr>
        <p:spPr>
          <a:xfrm>
            <a:off x="548640" y="260604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Fronteras de la Medicina</a:t>
            </a:r>
            <a:endParaRPr lang="en-US" sz="3200" dirty="0"/>
          </a:p>
          <a:p>
            <a:pPr algn="l" indent="0" marL="0">
              <a:lnSpc>
                <a:spcPct val="95000"/>
              </a:lnSpc>
              <a:spcBef>
                <a:spcPts val="800"/>
              </a:spcBef>
              <a:buNone/>
            </a:pPr>
            <a:r>
              <a:rPr lang="en-US" sz="2000" dirty="0">
                <a:solidFill>
                  <a:srgbClr val="0E2A47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Actualización clínica y nuevas perspectivas en la práctica médica</a:t>
            </a:r>
            <a:endParaRPr lang="en-US" sz="3200" dirty="0"/>
          </a:p>
        </p:txBody>
      </p:sp>
      <p:sp>
        <p:nvSpPr>
          <p:cNvPr id="4" name="Text 1"/>
          <p:cNvSpPr/>
          <p:nvPr>
            <p:ph idx="106" type="body" hasCustomPrompt="1"/>
          </p:nvPr>
        </p:nvSpPr>
        <p:spPr>
          <a:xfrm>
            <a:off x="548640" y="4224528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endParaRPr lang="en-US" sz="2000" dirty="0"/>
          </a:p>
        </p:txBody>
      </p:sp>
      <p:sp>
        <p:nvSpPr>
          <p:cNvPr id="5" name="Text 1"/>
          <p:cNvSpPr/>
          <p:nvPr>
            <p:ph idx="108" type="body" hasCustomPrompt="1"/>
          </p:nvPr>
        </p:nvSpPr>
        <p:spPr>
          <a:xfrm>
            <a:off x="548640" y="54864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Miércoles 21 de octubre  ·  08:00 – 08:30</a:t>
            </a:r>
            <a:endParaRPr lang="en-US" sz="2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>
            <p:ph type="pic" idx="103" hasCustomPrompt="1"/>
          </p:nvPr>
        </p:nvPicPr>
        <p:blipFill>
          <a:blip r:embed="rId1"/>
          <a:stretch>
            <a:fillRect/>
          </a:stretch>
        </p:blipFill>
        <p:spPr>
          <a:xfrm>
            <a:off x="8110728" y="1069848"/>
            <a:ext cx="3383280" cy="3383280"/>
          </a:xfrm>
          <a:prstGeom prst="ellipse">
            <a:avLst/>
          </a:prstGeom>
        </p:spPr>
      </p:pic>
      <p:sp>
        <p:nvSpPr>
          <p:cNvPr id="7" name="Text 1"/>
          <p:cNvSpPr/>
          <p:nvPr>
            <p:ph idx="107" type="body" hasCustomPrompt="1"/>
          </p:nvPr>
        </p:nvSpPr>
        <p:spPr>
          <a:xfrm>
            <a:off x="548640" y="4645152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0" y="274320"/>
            <a:ext cx="7068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Programa · Día 1</a:t>
            </a:r>
            <a:endParaRPr lang="en-US" sz="28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4572000" y="987552"/>
            <a:ext cx="7068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Miércoles 21 de octubre  ·  08:00 – 12:30</a:t>
            </a:r>
            <a:endParaRPr lang="en-US" sz="1400" dirty="0"/>
          </a:p>
        </p:txBody>
      </p:sp>
      <p:graphicFrame>
        <p:nvGraphicFramePr>
          <p:cNvPr id="4" name="Program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245352"/>
                <a:gridCol w="324612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100" kern="0" dirty="0">
                          <a:solidFill>
                            <a:srgbClr val="FFFFFF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HORARIO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62A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100" kern="0" dirty="0">
                          <a:solidFill>
                            <a:srgbClr val="FFFFFF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ACTIVIDAD / PONENCIA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62A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100" kern="0" dirty="0">
                          <a:solidFill>
                            <a:srgbClr val="FFFFFF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PONENTE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62A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08:00 – 08:30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E2A47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Ceremonia de apertura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08:30 – 09:00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Cirugía en el mundo real: visión de un experto</a:t>
                      </a:r>
                      <a:endParaRPr lang="en-US" sz="125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Dr. Juan Manuel Ruiz Molina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09:00 – 09:30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Enfermedad por reflujo gastroesofágico</a:t>
                      </a:r>
                      <a:endParaRPr lang="en-US" sz="125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Dr. Norberto Ruiz Molina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09:30 – 10:30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A6A0A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Coffee break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10:30 – 11:00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E2A47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Actividad de patrocinadores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11:00 – 11:30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Sintomatología del tracto urinario inferior</a:t>
                      </a:r>
                      <a:endParaRPr lang="en-US" sz="125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11:30 – 12:00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Cómo presentarse a la vida como médico en redes sociales</a:t>
                      </a:r>
                      <a:endParaRPr lang="en-US" sz="125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12:00 – 12:30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¿Qué pasa después de la carrera?</a:t>
                      </a:r>
                      <a:endParaRPr lang="en-US" sz="125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Dr. Alan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601968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0" y="274320"/>
            <a:ext cx="7068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Programa · Día 2</a:t>
            </a:r>
            <a:endParaRPr lang="en-US" sz="28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4572000" y="987552"/>
            <a:ext cx="7068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Jueves 22 de octubre  ·  09:00 – 14:30</a:t>
            </a:r>
            <a:endParaRPr lang="en-US" sz="1400" dirty="0"/>
          </a:p>
        </p:txBody>
      </p:sp>
      <p:graphicFrame>
        <p:nvGraphicFramePr>
          <p:cNvPr id="5" name="Program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245352"/>
                <a:gridCol w="32461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100" kern="0" dirty="0">
                          <a:solidFill>
                            <a:srgbClr val="FFFFFF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HORARIO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62A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100" kern="0" dirty="0">
                          <a:solidFill>
                            <a:srgbClr val="FFFFFF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ACTIVIDAD / PONENCIA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62A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100" kern="0" dirty="0">
                          <a:solidFill>
                            <a:srgbClr val="FFFFFF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PONENTE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62A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09:00 – 09:30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Imagenología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00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09:30 – 10:00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Electrofisiología: electromiografía en la clínica y en la práctica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00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10:00 – 10:30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Leadership in Healthcare: Leading High-Performance Medical Teams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5243A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Dr. César Escalante</a:t>
                      </a:r>
                      <a:endParaRPr lang="en-US" sz="100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10:30 – 11:30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6A0A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Coffee break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00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11:30 – 12:00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Anemias y leucemias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5243A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Dra. Guadalupe Rodríguez · Jefa de Hematología, La Raza</a:t>
                      </a:r>
                      <a:endParaRPr lang="en-US" sz="100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12:00 – 12:30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Agonistas de GLP-1: un viaje a través del tiempo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00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12:30 – 13:00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Nutrición clínica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5243A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Dr. Samuel Alejandro Zimbrón</a:t>
                      </a:r>
                      <a:endParaRPr lang="en-US" sz="100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13:00 – 13:30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AMIR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5243A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Dra. Iris y Dr. Jorge Macías</a:t>
                      </a:r>
                      <a:endParaRPr lang="en-US" sz="100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13:30 – 14:00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Interpretación rápida del paciente pediátrico: el ABCDE y el Triángulo de Evaluación Pediátrica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00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14:00 – 14:30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Importancia del tamiz neonatal como factor preventivo de enfermedades metabólicas congénitas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00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601968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0" y="274320"/>
            <a:ext cx="7068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Programa · Día 3</a:t>
            </a:r>
            <a:endParaRPr lang="en-US" sz="28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4572000" y="987552"/>
            <a:ext cx="7068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Viernes 23 de octubre  ·  08:00 – 13:00</a:t>
            </a:r>
            <a:endParaRPr lang="en-US" sz="1400" dirty="0"/>
          </a:p>
        </p:txBody>
      </p:sp>
      <p:graphicFrame>
        <p:nvGraphicFramePr>
          <p:cNvPr id="6" name="Program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245352"/>
                <a:gridCol w="324612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100" kern="0" dirty="0">
                          <a:solidFill>
                            <a:srgbClr val="FFFFFF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HORARIO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62A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100" kern="0" dirty="0">
                          <a:solidFill>
                            <a:srgbClr val="FFFFFF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ACTIVIDAD / PONENCIA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62A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100" kern="0" dirty="0">
                          <a:solidFill>
                            <a:srgbClr val="FFFFFF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PONENTE</a:t>
                      </a:r>
                      <a:endParaRPr lang="en-US" sz="110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62A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08:00 – 08:30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Antonio Chimal</a:t>
                      </a:r>
                      <a:endParaRPr lang="en-US" sz="125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08:30 – 09:00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Oncología para el médico interno de pregrado</a:t>
                      </a:r>
                      <a:endParaRPr lang="en-US" sz="125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09:00 – 09:30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Hacks del ECG patológico</a:t>
                      </a:r>
                      <a:endParaRPr lang="en-US" sz="125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09:30 – 10:00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E2A47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Actividad de patrocinadores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10:00 – 11:00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A6A0A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Coffee break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11:00 – 11:30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Atención Primaria de la Salud y Cobertura Universal en Salud, el nuevo paradigma en la formación médica</a:t>
                      </a:r>
                      <a:endParaRPr lang="en-US" sz="125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11:30 – 12:00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E2A47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Cómo usar la IA sin dejar de pensar clínicamente</a:t>
                      </a:r>
                      <a:endParaRPr lang="en-US" sz="125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12:00 – 12:30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E2A47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Mesa redonda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Dr. Asisclo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6294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12:30 – 13:00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E2A47"/>
                          </a:solidFill>
                          <a:latin typeface="Montserrat ExtraBold" pitchFamily="34" charset="0"/>
                          <a:ea typeface="Montserrat ExtraBold" pitchFamily="34" charset="-122"/>
                          <a:cs typeface="Montserrat ExtraBold" pitchFamily="34" charset="-120"/>
                        </a:rPr>
                        <a:t>Ceremonia de cierre</a:t>
                      </a:r>
                      <a:endParaRPr lang="en-US" sz="1250" dirty="0">
                        <a:latin typeface="Montserrat ExtraBold" charset="0"/>
                        <a:ea typeface="Montserrat ExtraBold" charset="0"/>
                        <a:cs typeface="Montserrat ExtraBold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B6C4"/>
                          </a:solidFill>
                          <a:latin typeface="Montserrat Medium" pitchFamily="34" charset="0"/>
                          <a:ea typeface="Montserrat Medium" pitchFamily="34" charset="-122"/>
                          <a:cs typeface="Montserrat Medium" pitchFamily="34" charset="-120"/>
                        </a:rPr>
                        <a:t>—</a:t>
                      </a:r>
                      <a:endParaRPr lang="en-US" sz="1150" dirty="0">
                        <a:latin typeface="Montserrat Medium" charset="0"/>
                        <a:ea typeface="Montserrat Medium" charset="0"/>
                        <a:cs typeface="Montserrat Medium" charset="0"/>
                      </a:endParaRPr>
                    </a:p>
                  </a:txBody>
                  <a:tcPr marL="109728" marR="109728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601968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0" y="274320"/>
            <a:ext cx="7068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El summit en cifras</a:t>
            </a:r>
            <a:endParaRPr lang="en-US" sz="28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4572000" y="987552"/>
            <a:ext cx="7068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Fronteras de la Medicina: actualización clínica y nuevas perspectivas en la práctica médica</a:t>
            </a:r>
            <a:endParaRPr lang="en-US" sz="1400" dirty="0"/>
          </a:p>
        </p:txBody>
      </p:sp>
      <p:pic>
        <p:nvPicPr>
          <p:cNvPr id="4" name="Card 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2514600" cy="3291840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E2A47">
                <a:alpha val="25000"/>
              </a:srgbClr>
            </a:outerShdw>
          </a:effectLst>
        </p:spPr>
      </p:pic>
      <p:sp>
        <p:nvSpPr>
          <p:cNvPr id="5" name="Cifra 6"/>
          <p:cNvSpPr txBox="1"/>
          <p:nvPr/>
        </p:nvSpPr>
        <p:spPr>
          <a:xfrm>
            <a:off x="822960" y="2103120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F2C94C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6" name="Dash 7"/>
          <p:cNvSpPr/>
          <p:nvPr/>
        </p:nvSpPr>
        <p:spPr>
          <a:xfrm>
            <a:off x="822960" y="3474720"/>
            <a:ext cx="502920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7" name="Etiqueta 8"/>
          <p:cNvSpPr txBox="1"/>
          <p:nvPr/>
        </p:nvSpPr>
        <p:spPr>
          <a:xfrm>
            <a:off x="822960" y="36576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días de actividades</a:t>
            </a:r>
            <a:endParaRPr lang="en-US" sz="1600" dirty="0"/>
          </a:p>
        </p:txBody>
      </p:sp>
      <p:sp>
        <p:nvSpPr>
          <p:cNvPr id="8" name="Apoyo 9"/>
          <p:cNvSpPr txBox="1"/>
          <p:nvPr/>
        </p:nvSpPr>
        <p:spPr>
          <a:xfrm>
            <a:off x="822960" y="44348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6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21, 22 y 23 de octubre</a:t>
            </a:r>
            <a:endParaRPr lang="en-US" sz="1200" dirty="0"/>
          </a:p>
        </p:txBody>
      </p:sp>
      <p:pic>
        <p:nvPicPr>
          <p:cNvPr id="9" name="Card 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8578" y="1828800"/>
            <a:ext cx="2514600" cy="3291840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E2A47">
                <a:alpha val="10000"/>
              </a:srgbClr>
            </a:outerShdw>
          </a:effectLst>
        </p:spPr>
      </p:pic>
      <p:sp>
        <p:nvSpPr>
          <p:cNvPr id="10" name="Cifra 11"/>
          <p:cNvSpPr txBox="1"/>
          <p:nvPr/>
        </p:nvSpPr>
        <p:spPr>
          <a:xfrm>
            <a:off x="3682898" y="2103120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19</a:t>
            </a:r>
            <a:endParaRPr lang="en-US" sz="7200" dirty="0"/>
          </a:p>
        </p:txBody>
      </p:sp>
      <p:sp>
        <p:nvSpPr>
          <p:cNvPr id="11" name="Dash 12"/>
          <p:cNvSpPr/>
          <p:nvPr/>
        </p:nvSpPr>
        <p:spPr>
          <a:xfrm>
            <a:off x="3682898" y="3474720"/>
            <a:ext cx="50292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12" name="Etiqueta 13"/>
          <p:cNvSpPr txBox="1"/>
          <p:nvPr/>
        </p:nvSpPr>
        <p:spPr>
          <a:xfrm>
            <a:off x="3682898" y="36576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ponencias</a:t>
            </a:r>
            <a:endParaRPr lang="en-US" sz="1600" dirty="0"/>
          </a:p>
        </p:txBody>
      </p:sp>
      <p:sp>
        <p:nvSpPr>
          <p:cNvPr id="13" name="Apoyo 14"/>
          <p:cNvSpPr txBox="1"/>
          <p:nvPr/>
        </p:nvSpPr>
        <p:spPr>
          <a:xfrm>
            <a:off x="3682898" y="44348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Actualización clínica</a:t>
            </a:r>
            <a:endParaRPr lang="en-US" sz="1200" dirty="0"/>
          </a:p>
        </p:txBody>
      </p:sp>
      <p:pic>
        <p:nvPicPr>
          <p:cNvPr id="14" name="Card 1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8517" y="1828800"/>
            <a:ext cx="2514600" cy="3291840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E2A47">
                <a:alpha val="10000"/>
              </a:srgbClr>
            </a:outerShdw>
          </a:effectLst>
        </p:spPr>
      </p:pic>
      <p:sp>
        <p:nvSpPr>
          <p:cNvPr id="15" name="Cifra 16"/>
          <p:cNvSpPr txBox="1"/>
          <p:nvPr/>
        </p:nvSpPr>
        <p:spPr>
          <a:xfrm>
            <a:off x="6542837" y="2103120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16" name="Dash 17"/>
          <p:cNvSpPr/>
          <p:nvPr/>
        </p:nvSpPr>
        <p:spPr>
          <a:xfrm>
            <a:off x="6542837" y="3474720"/>
            <a:ext cx="50292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17" name="Etiqueta 18"/>
          <p:cNvSpPr txBox="1"/>
          <p:nvPr/>
        </p:nvSpPr>
        <p:spPr>
          <a:xfrm>
            <a:off x="6542837" y="36576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mesa redonda</a:t>
            </a:r>
            <a:endParaRPr lang="en-US" sz="1600" dirty="0"/>
          </a:p>
        </p:txBody>
      </p:sp>
      <p:sp>
        <p:nvSpPr>
          <p:cNvPr id="18" name="Apoyo 19"/>
          <p:cNvSpPr txBox="1"/>
          <p:nvPr/>
        </p:nvSpPr>
        <p:spPr>
          <a:xfrm>
            <a:off x="6542837" y="44348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Viernes 23 de octubre</a:t>
            </a:r>
            <a:endParaRPr lang="en-US" sz="1200" dirty="0"/>
          </a:p>
        </p:txBody>
      </p:sp>
      <p:pic>
        <p:nvPicPr>
          <p:cNvPr id="19" name="Card 2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8455" y="1828800"/>
            <a:ext cx="2514600" cy="3291840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E2A47">
                <a:alpha val="10000"/>
              </a:srgbClr>
            </a:outerShdw>
          </a:effectLst>
        </p:spPr>
      </p:pic>
      <p:sp>
        <p:nvSpPr>
          <p:cNvPr id="20" name="Cifra 21"/>
          <p:cNvSpPr txBox="1"/>
          <p:nvPr/>
        </p:nvSpPr>
        <p:spPr>
          <a:xfrm>
            <a:off x="9402775" y="2103120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21" name="Dash 22"/>
          <p:cNvSpPr/>
          <p:nvPr/>
        </p:nvSpPr>
        <p:spPr>
          <a:xfrm>
            <a:off x="9402775" y="3474720"/>
            <a:ext cx="50292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22" name="Etiqueta 23"/>
          <p:cNvSpPr txBox="1"/>
          <p:nvPr/>
        </p:nvSpPr>
        <p:spPr>
          <a:xfrm>
            <a:off x="9402775" y="36576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actividades de patrocinadores</a:t>
            </a:r>
            <a:endParaRPr lang="en-US" sz="1600" dirty="0"/>
          </a:p>
        </p:txBody>
      </p:sp>
      <p:sp>
        <p:nvSpPr>
          <p:cNvPr id="23" name="Apoyo 24"/>
          <p:cNvSpPr txBox="1"/>
          <p:nvPr/>
        </p:nvSpPr>
        <p:spPr>
          <a:xfrm>
            <a:off x="9402775" y="44348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Miércoles 21 y viernes 23</a:t>
            </a:r>
            <a:endParaRPr lang="en-US" sz="1200" dirty="0"/>
          </a:p>
        </p:txBody>
      </p:sp>
      <p:pic>
        <p:nvPicPr>
          <p:cNvPr id="24" name="Note card 2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440680"/>
            <a:ext cx="8412480" cy="603504"/>
          </a:xfrm>
          <a:prstGeom prst="rect">
            <a:avLst/>
          </a:prstGeom>
        </p:spPr>
      </p:pic>
      <p:sp>
        <p:nvSpPr>
          <p:cNvPr id="25" name="Note outline 26"/>
          <p:cNvSpPr/>
          <p:nvPr/>
        </p:nvSpPr>
        <p:spPr>
          <a:xfrm>
            <a:off x="548640" y="5440680"/>
            <a:ext cx="8412480" cy="603504"/>
          </a:xfrm>
          <a:prstGeom prst="roundRect">
            <a:avLst>
              <a:gd name="adj" fmla="val 21212"/>
            </a:avLst>
          </a:prstGeom>
          <a:ln w="19050">
            <a:solidFill>
              <a:srgbClr val="F2C94C"/>
            </a:solidFill>
            <a:prstDash val="solid"/>
          </a:ln>
        </p:spPr>
      </p:sp>
      <p:pic>
        <p:nvPicPr>
          <p:cNvPr id="26" name="Icon FaCircleInfo 27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" y="5577840"/>
            <a:ext cx="329184" cy="329184"/>
          </a:xfrm>
          <a:prstGeom prst="rect">
            <a:avLst/>
          </a:prstGeom>
        </p:spPr>
      </p:pic>
      <p:sp>
        <p:nvSpPr>
          <p:cNvPr id="27" name="Note text 28"/>
          <p:cNvSpPr txBox="1"/>
          <p:nvPr/>
        </p:nvSpPr>
        <p:spPr>
          <a:xfrm>
            <a:off x="1152144" y="546811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Conteo hecho con el programa: 19 ponencias sin contar ceremonias, coffee breaks, actividades de patrocinadores ni la mesa redonda (incluye el bloque «Antonio Chimal»).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601968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0" y="274320"/>
            <a:ext cx="7068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Ponentes</a:t>
            </a:r>
            <a:endParaRPr lang="en-US" sz="28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4572000" y="987552"/>
            <a:ext cx="7068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Para poner la foto: clic derecho en el círculo › Cambiar imagen</a:t>
            </a:r>
            <a:endParaRPr lang="en-US" sz="1400" dirty="0"/>
          </a:p>
        </p:txBody>
      </p:sp>
      <p:pic>
        <p:nvPicPr>
          <p:cNvPr id="4" name="Card 2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2606040" cy="2130552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E2A47">
                <a:alpha val="10000"/>
              </a:srgbClr>
            </a:outerShdw>
          </a:effectLst>
        </p:spPr>
      </p:pic>
      <p:sp>
        <p:nvSpPr>
          <p:cNvPr id="5" name="Aro 30"/>
          <p:cNvSpPr/>
          <p:nvPr/>
        </p:nvSpPr>
        <p:spPr>
          <a:xfrm>
            <a:off x="731520" y="1984248"/>
            <a:ext cx="841248" cy="841248"/>
          </a:xfrm>
          <a:prstGeom prst="ellipse">
            <a:avLst/>
          </a:prstGeom>
          <a:solidFill>
            <a:srgbClr val="F2C94C"/>
          </a:solidFill>
          <a:ln/>
        </p:spPr>
      </p:sp>
      <p:pic>
        <p:nvPicPr>
          <p:cNvPr id="6" name="Foto ponente 31" descr="Foto de Dr. Juan Manuel Ruiz Molin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2020824"/>
            <a:ext cx="768096" cy="768096"/>
          </a:xfrm>
          <a:prstGeom prst="ellipse">
            <a:avLst/>
          </a:prstGeom>
        </p:spPr>
      </p:pic>
      <p:sp>
        <p:nvSpPr>
          <p:cNvPr id="7" name="Nombre 32"/>
          <p:cNvSpPr txBox="1"/>
          <p:nvPr/>
        </p:nvSpPr>
        <p:spPr>
          <a:xfrm>
            <a:off x="1682496" y="1965960"/>
            <a:ext cx="1325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Juan Manuel Ruiz Molina</a:t>
            </a:r>
            <a:endParaRPr lang="en-US" sz="1250" dirty="0"/>
          </a:p>
        </p:txBody>
      </p:sp>
      <p:sp>
        <p:nvSpPr>
          <p:cNvPr id="8" name="Dash 33"/>
          <p:cNvSpPr/>
          <p:nvPr/>
        </p:nvSpPr>
        <p:spPr>
          <a:xfrm>
            <a:off x="749808" y="2990088"/>
            <a:ext cx="41148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9" name="Ponencia 34"/>
          <p:cNvSpPr txBox="1"/>
          <p:nvPr/>
        </p:nvSpPr>
        <p:spPr>
          <a:xfrm>
            <a:off x="749808" y="3108960"/>
            <a:ext cx="220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Cirugía en el mundo real: visión de un experto</a:t>
            </a:r>
            <a:endParaRPr lang="en-US" sz="1050" dirty="0"/>
          </a:p>
        </p:txBody>
      </p:sp>
      <p:sp>
        <p:nvSpPr>
          <p:cNvPr id="10" name="Cuando 35"/>
          <p:cNvSpPr txBox="1"/>
          <p:nvPr/>
        </p:nvSpPr>
        <p:spPr>
          <a:xfrm>
            <a:off x="749808" y="359359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5B6B7D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Mié 21 oct · 08:30</a:t>
            </a:r>
            <a:endParaRPr lang="en-US" sz="950" dirty="0"/>
          </a:p>
        </p:txBody>
      </p:sp>
      <p:pic>
        <p:nvPicPr>
          <p:cNvPr id="11" name="Card 3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098" y="1783080"/>
            <a:ext cx="2606040" cy="2130552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E2A47">
                <a:alpha val="10000"/>
              </a:srgbClr>
            </a:outerShdw>
          </a:effectLst>
        </p:spPr>
      </p:pic>
      <p:sp>
        <p:nvSpPr>
          <p:cNvPr id="12" name="Aro 37"/>
          <p:cNvSpPr/>
          <p:nvPr/>
        </p:nvSpPr>
        <p:spPr>
          <a:xfrm>
            <a:off x="3560978" y="1984248"/>
            <a:ext cx="841248" cy="841248"/>
          </a:xfrm>
          <a:prstGeom prst="ellipse">
            <a:avLst/>
          </a:prstGeom>
          <a:solidFill>
            <a:srgbClr val="F2C94C"/>
          </a:solidFill>
          <a:ln/>
        </p:spPr>
      </p:sp>
      <p:pic>
        <p:nvPicPr>
          <p:cNvPr id="13" name="Foto ponente 38" descr="Foto de Dr. Norberto Ruiz Molin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7554" y="2020824"/>
            <a:ext cx="768096" cy="768096"/>
          </a:xfrm>
          <a:prstGeom prst="ellipse">
            <a:avLst/>
          </a:prstGeom>
        </p:spPr>
      </p:pic>
      <p:sp>
        <p:nvSpPr>
          <p:cNvPr id="14" name="Nombre 39"/>
          <p:cNvSpPr txBox="1"/>
          <p:nvPr/>
        </p:nvSpPr>
        <p:spPr>
          <a:xfrm>
            <a:off x="4511954" y="1965960"/>
            <a:ext cx="1325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Norberto Ruiz Molina</a:t>
            </a:r>
            <a:endParaRPr lang="en-US" sz="1250" dirty="0"/>
          </a:p>
        </p:txBody>
      </p:sp>
      <p:sp>
        <p:nvSpPr>
          <p:cNvPr id="15" name="Dash 40"/>
          <p:cNvSpPr/>
          <p:nvPr/>
        </p:nvSpPr>
        <p:spPr>
          <a:xfrm>
            <a:off x="3579266" y="2990088"/>
            <a:ext cx="41148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16" name="Ponencia 41"/>
          <p:cNvSpPr txBox="1"/>
          <p:nvPr/>
        </p:nvSpPr>
        <p:spPr>
          <a:xfrm>
            <a:off x="3579266" y="3108960"/>
            <a:ext cx="220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Enfermedad por reflujo gastroesofágico</a:t>
            </a:r>
            <a:endParaRPr lang="en-US" sz="1050" dirty="0"/>
          </a:p>
        </p:txBody>
      </p:sp>
      <p:sp>
        <p:nvSpPr>
          <p:cNvPr id="17" name="Cuando 42"/>
          <p:cNvSpPr txBox="1"/>
          <p:nvPr/>
        </p:nvSpPr>
        <p:spPr>
          <a:xfrm>
            <a:off x="3579266" y="359359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5B6B7D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Mié 21 oct · 09:00</a:t>
            </a:r>
            <a:endParaRPr lang="en-US" sz="950" dirty="0"/>
          </a:p>
        </p:txBody>
      </p:sp>
      <p:pic>
        <p:nvPicPr>
          <p:cNvPr id="18" name="Card 4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7557" y="1783080"/>
            <a:ext cx="2606040" cy="2130552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E2A47">
                <a:alpha val="10000"/>
              </a:srgbClr>
            </a:outerShdw>
          </a:effectLst>
        </p:spPr>
      </p:pic>
      <p:sp>
        <p:nvSpPr>
          <p:cNvPr id="19" name="Aro 44"/>
          <p:cNvSpPr/>
          <p:nvPr/>
        </p:nvSpPr>
        <p:spPr>
          <a:xfrm>
            <a:off x="6390437" y="1984248"/>
            <a:ext cx="841248" cy="841248"/>
          </a:xfrm>
          <a:prstGeom prst="ellipse">
            <a:avLst/>
          </a:prstGeom>
          <a:solidFill>
            <a:srgbClr val="F2C94C"/>
          </a:solidFill>
          <a:ln/>
        </p:spPr>
      </p:sp>
      <p:pic>
        <p:nvPicPr>
          <p:cNvPr id="20" name="Foto ponente 45" descr="Foto de Dr. Al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7013" y="2020824"/>
            <a:ext cx="768096" cy="768096"/>
          </a:xfrm>
          <a:prstGeom prst="ellipse">
            <a:avLst/>
          </a:prstGeom>
        </p:spPr>
      </p:pic>
      <p:sp>
        <p:nvSpPr>
          <p:cNvPr id="21" name="Nombre 46"/>
          <p:cNvSpPr txBox="1"/>
          <p:nvPr/>
        </p:nvSpPr>
        <p:spPr>
          <a:xfrm>
            <a:off x="7341413" y="1965960"/>
            <a:ext cx="1325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Alan</a:t>
            </a:r>
            <a:endParaRPr lang="en-US" sz="1250" dirty="0"/>
          </a:p>
        </p:txBody>
      </p:sp>
      <p:sp>
        <p:nvSpPr>
          <p:cNvPr id="22" name="Dash 47"/>
          <p:cNvSpPr/>
          <p:nvPr/>
        </p:nvSpPr>
        <p:spPr>
          <a:xfrm>
            <a:off x="6408725" y="2990088"/>
            <a:ext cx="41148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23" name="Ponencia 48"/>
          <p:cNvSpPr txBox="1"/>
          <p:nvPr/>
        </p:nvSpPr>
        <p:spPr>
          <a:xfrm>
            <a:off x="6408725" y="3108960"/>
            <a:ext cx="220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¿Qué pasa después de la carrera?</a:t>
            </a:r>
            <a:endParaRPr lang="en-US" sz="1050" dirty="0"/>
          </a:p>
        </p:txBody>
      </p:sp>
      <p:sp>
        <p:nvSpPr>
          <p:cNvPr id="24" name="Cuando 49"/>
          <p:cNvSpPr txBox="1"/>
          <p:nvPr/>
        </p:nvSpPr>
        <p:spPr>
          <a:xfrm>
            <a:off x="6408725" y="359359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5B6B7D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Mié 21 oct · 12:00</a:t>
            </a:r>
            <a:endParaRPr lang="en-US" sz="950" dirty="0"/>
          </a:p>
        </p:txBody>
      </p:sp>
      <p:pic>
        <p:nvPicPr>
          <p:cNvPr id="25" name="Card 5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7015" y="1783080"/>
            <a:ext cx="2606040" cy="2130552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E2A47">
                <a:alpha val="10000"/>
              </a:srgbClr>
            </a:outerShdw>
          </a:effectLst>
        </p:spPr>
      </p:pic>
      <p:sp>
        <p:nvSpPr>
          <p:cNvPr id="26" name="Aro 51"/>
          <p:cNvSpPr/>
          <p:nvPr/>
        </p:nvSpPr>
        <p:spPr>
          <a:xfrm>
            <a:off x="9219895" y="1984248"/>
            <a:ext cx="841248" cy="841248"/>
          </a:xfrm>
          <a:prstGeom prst="ellipse">
            <a:avLst/>
          </a:prstGeom>
          <a:solidFill>
            <a:srgbClr val="F2C94C"/>
          </a:solidFill>
          <a:ln/>
        </p:spPr>
      </p:sp>
      <p:pic>
        <p:nvPicPr>
          <p:cNvPr id="27" name="Foto ponente 52" descr="Foto de Dr. César Escalan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6471" y="2020824"/>
            <a:ext cx="768096" cy="768096"/>
          </a:xfrm>
          <a:prstGeom prst="ellipse">
            <a:avLst/>
          </a:prstGeom>
        </p:spPr>
      </p:pic>
      <p:sp>
        <p:nvSpPr>
          <p:cNvPr id="28" name="Nombre 53"/>
          <p:cNvSpPr txBox="1"/>
          <p:nvPr/>
        </p:nvSpPr>
        <p:spPr>
          <a:xfrm>
            <a:off x="10170871" y="1965960"/>
            <a:ext cx="1325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César Escalante</a:t>
            </a:r>
            <a:endParaRPr lang="en-US" sz="1250" dirty="0"/>
          </a:p>
        </p:txBody>
      </p:sp>
      <p:sp>
        <p:nvSpPr>
          <p:cNvPr id="29" name="Dash 54"/>
          <p:cNvSpPr/>
          <p:nvPr/>
        </p:nvSpPr>
        <p:spPr>
          <a:xfrm>
            <a:off x="9238183" y="2990088"/>
            <a:ext cx="41148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30" name="Ponencia 55"/>
          <p:cNvSpPr txBox="1"/>
          <p:nvPr/>
        </p:nvSpPr>
        <p:spPr>
          <a:xfrm>
            <a:off x="9238183" y="3108960"/>
            <a:ext cx="220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Leadership in Healthcare: Leading High-Performance Medical Teams</a:t>
            </a:r>
            <a:endParaRPr lang="en-US" sz="1050" dirty="0"/>
          </a:p>
        </p:txBody>
      </p:sp>
      <p:sp>
        <p:nvSpPr>
          <p:cNvPr id="31" name="Cuando 56"/>
          <p:cNvSpPr txBox="1"/>
          <p:nvPr/>
        </p:nvSpPr>
        <p:spPr>
          <a:xfrm>
            <a:off x="9238183" y="359359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5B6B7D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Jue 22 oct · 10:00</a:t>
            </a:r>
            <a:endParaRPr lang="en-US" sz="950" dirty="0"/>
          </a:p>
        </p:txBody>
      </p:sp>
      <p:pic>
        <p:nvPicPr>
          <p:cNvPr id="32" name="Card 5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4096512"/>
            <a:ext cx="2606040" cy="2130552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E2A47">
                <a:alpha val="10000"/>
              </a:srgbClr>
            </a:outerShdw>
          </a:effectLst>
        </p:spPr>
      </p:pic>
      <p:sp>
        <p:nvSpPr>
          <p:cNvPr id="33" name="Aro 58"/>
          <p:cNvSpPr/>
          <p:nvPr/>
        </p:nvSpPr>
        <p:spPr>
          <a:xfrm>
            <a:off x="731520" y="4297680"/>
            <a:ext cx="841248" cy="841248"/>
          </a:xfrm>
          <a:prstGeom prst="ellipse">
            <a:avLst/>
          </a:prstGeom>
          <a:solidFill>
            <a:srgbClr val="F2C94C"/>
          </a:solidFill>
          <a:ln/>
        </p:spPr>
      </p:sp>
      <p:pic>
        <p:nvPicPr>
          <p:cNvPr id="34" name="Foto ponente 59" descr="Foto de Dra. Guadalupe Rodríguez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8096" y="4334256"/>
            <a:ext cx="768096" cy="768096"/>
          </a:xfrm>
          <a:prstGeom prst="ellipse">
            <a:avLst/>
          </a:prstGeom>
        </p:spPr>
      </p:pic>
      <p:sp>
        <p:nvSpPr>
          <p:cNvPr id="35" name="Nombre 60"/>
          <p:cNvSpPr txBox="1"/>
          <p:nvPr/>
        </p:nvSpPr>
        <p:spPr>
          <a:xfrm>
            <a:off x="1682496" y="4279392"/>
            <a:ext cx="1325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Dra. Guadalupe Rodríguez</a:t>
            </a:r>
            <a:endParaRPr lang="en-US" sz="1250" dirty="0"/>
          </a:p>
          <a:p>
            <a:pPr indent="0" marL="0">
              <a:buNone/>
            </a:pPr>
            <a:r>
              <a:rPr lang="en-US" sz="9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Jefa de Hematología, La Raza</a:t>
            </a:r>
            <a:endParaRPr lang="en-US" sz="1250" dirty="0"/>
          </a:p>
        </p:txBody>
      </p:sp>
      <p:sp>
        <p:nvSpPr>
          <p:cNvPr id="36" name="Dash 61"/>
          <p:cNvSpPr/>
          <p:nvPr/>
        </p:nvSpPr>
        <p:spPr>
          <a:xfrm>
            <a:off x="749808" y="5303520"/>
            <a:ext cx="41148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37" name="Ponencia 62"/>
          <p:cNvSpPr txBox="1"/>
          <p:nvPr/>
        </p:nvSpPr>
        <p:spPr>
          <a:xfrm>
            <a:off x="749808" y="5422392"/>
            <a:ext cx="220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Anemias y leucemias</a:t>
            </a:r>
            <a:endParaRPr lang="en-US" sz="1050" dirty="0"/>
          </a:p>
        </p:txBody>
      </p:sp>
      <p:sp>
        <p:nvSpPr>
          <p:cNvPr id="38" name="Cuando 63"/>
          <p:cNvSpPr txBox="1"/>
          <p:nvPr/>
        </p:nvSpPr>
        <p:spPr>
          <a:xfrm>
            <a:off x="749808" y="5907024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5B6B7D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Jue 22 oct · 11:30</a:t>
            </a:r>
            <a:endParaRPr lang="en-US" sz="950" dirty="0"/>
          </a:p>
        </p:txBody>
      </p:sp>
      <p:pic>
        <p:nvPicPr>
          <p:cNvPr id="39" name="Card 64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78098" y="4096512"/>
            <a:ext cx="2606040" cy="2130552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E2A47">
                <a:alpha val="10000"/>
              </a:srgbClr>
            </a:outerShdw>
          </a:effectLst>
        </p:spPr>
      </p:pic>
      <p:sp>
        <p:nvSpPr>
          <p:cNvPr id="40" name="Aro 65"/>
          <p:cNvSpPr/>
          <p:nvPr/>
        </p:nvSpPr>
        <p:spPr>
          <a:xfrm>
            <a:off x="3560978" y="4297680"/>
            <a:ext cx="841248" cy="841248"/>
          </a:xfrm>
          <a:prstGeom prst="ellipse">
            <a:avLst/>
          </a:prstGeom>
          <a:solidFill>
            <a:srgbClr val="F2C94C"/>
          </a:solidFill>
          <a:ln/>
        </p:spPr>
      </p:sp>
      <p:pic>
        <p:nvPicPr>
          <p:cNvPr id="41" name="Foto ponente 66" descr="Foto de Dr. Samuel Alejandro Zimbró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97554" y="4334256"/>
            <a:ext cx="768096" cy="768096"/>
          </a:xfrm>
          <a:prstGeom prst="ellipse">
            <a:avLst/>
          </a:prstGeom>
        </p:spPr>
      </p:pic>
      <p:sp>
        <p:nvSpPr>
          <p:cNvPr id="42" name="Nombre 67"/>
          <p:cNvSpPr txBox="1"/>
          <p:nvPr/>
        </p:nvSpPr>
        <p:spPr>
          <a:xfrm>
            <a:off x="4511954" y="4279392"/>
            <a:ext cx="1325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Samuel Alejandro Zimbrón</a:t>
            </a:r>
            <a:endParaRPr lang="en-US" sz="1250" dirty="0"/>
          </a:p>
        </p:txBody>
      </p:sp>
      <p:sp>
        <p:nvSpPr>
          <p:cNvPr id="43" name="Dash 68"/>
          <p:cNvSpPr/>
          <p:nvPr/>
        </p:nvSpPr>
        <p:spPr>
          <a:xfrm>
            <a:off x="3579266" y="5303520"/>
            <a:ext cx="41148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44" name="Ponencia 69"/>
          <p:cNvSpPr txBox="1"/>
          <p:nvPr/>
        </p:nvSpPr>
        <p:spPr>
          <a:xfrm>
            <a:off x="3579266" y="5422392"/>
            <a:ext cx="220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Nutrición clínica</a:t>
            </a:r>
            <a:endParaRPr lang="en-US" sz="1050" dirty="0"/>
          </a:p>
        </p:txBody>
      </p:sp>
      <p:sp>
        <p:nvSpPr>
          <p:cNvPr id="45" name="Cuando 70"/>
          <p:cNvSpPr txBox="1"/>
          <p:nvPr/>
        </p:nvSpPr>
        <p:spPr>
          <a:xfrm>
            <a:off x="3579266" y="5907024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5B6B7D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Jue 22 oct · 12:30</a:t>
            </a:r>
            <a:endParaRPr lang="en-US" sz="950" dirty="0"/>
          </a:p>
        </p:txBody>
      </p:sp>
      <p:pic>
        <p:nvPicPr>
          <p:cNvPr id="46" name="Card 7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07557" y="4096512"/>
            <a:ext cx="2606040" cy="2130552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E2A47">
                <a:alpha val="10000"/>
              </a:srgbClr>
            </a:outerShdw>
          </a:effectLst>
        </p:spPr>
      </p:pic>
      <p:sp>
        <p:nvSpPr>
          <p:cNvPr id="47" name="Aro 72"/>
          <p:cNvSpPr/>
          <p:nvPr/>
        </p:nvSpPr>
        <p:spPr>
          <a:xfrm>
            <a:off x="6390437" y="4297680"/>
            <a:ext cx="841248" cy="841248"/>
          </a:xfrm>
          <a:prstGeom prst="ellipse">
            <a:avLst/>
          </a:prstGeom>
          <a:solidFill>
            <a:srgbClr val="F2C94C"/>
          </a:solidFill>
          <a:ln/>
        </p:spPr>
      </p:sp>
      <p:pic>
        <p:nvPicPr>
          <p:cNvPr id="48" name="Foto ponente 73" descr="Foto de Dra. Iris y Dr. Jorge Macías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7013" y="4334256"/>
            <a:ext cx="768096" cy="768096"/>
          </a:xfrm>
          <a:prstGeom prst="ellipse">
            <a:avLst/>
          </a:prstGeom>
        </p:spPr>
      </p:pic>
      <p:sp>
        <p:nvSpPr>
          <p:cNvPr id="49" name="Nombre 74"/>
          <p:cNvSpPr txBox="1"/>
          <p:nvPr/>
        </p:nvSpPr>
        <p:spPr>
          <a:xfrm>
            <a:off x="7341413" y="4279392"/>
            <a:ext cx="1325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Dra. Iris y Dr. Jorge Macías</a:t>
            </a:r>
            <a:endParaRPr lang="en-US" sz="1250" dirty="0"/>
          </a:p>
        </p:txBody>
      </p:sp>
      <p:sp>
        <p:nvSpPr>
          <p:cNvPr id="50" name="Dash 75"/>
          <p:cNvSpPr/>
          <p:nvPr/>
        </p:nvSpPr>
        <p:spPr>
          <a:xfrm>
            <a:off x="6408725" y="5303520"/>
            <a:ext cx="41148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1" name="Ponencia 76"/>
          <p:cNvSpPr txBox="1"/>
          <p:nvPr/>
        </p:nvSpPr>
        <p:spPr>
          <a:xfrm>
            <a:off x="6408725" y="5422392"/>
            <a:ext cx="220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AMIR</a:t>
            </a:r>
            <a:endParaRPr lang="en-US" sz="1050" dirty="0"/>
          </a:p>
        </p:txBody>
      </p:sp>
      <p:sp>
        <p:nvSpPr>
          <p:cNvPr id="52" name="Cuando 77"/>
          <p:cNvSpPr txBox="1"/>
          <p:nvPr/>
        </p:nvSpPr>
        <p:spPr>
          <a:xfrm>
            <a:off x="6408725" y="5907024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5B6B7D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Jue 22 oct · 13:00</a:t>
            </a:r>
            <a:endParaRPr lang="en-US" sz="950" dirty="0"/>
          </a:p>
        </p:txBody>
      </p:sp>
      <p:pic>
        <p:nvPicPr>
          <p:cNvPr id="53" name="Card 78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37015" y="4096512"/>
            <a:ext cx="2606040" cy="2130552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E2A47">
                <a:alpha val="10000"/>
              </a:srgbClr>
            </a:outerShdw>
          </a:effectLst>
        </p:spPr>
      </p:pic>
      <p:sp>
        <p:nvSpPr>
          <p:cNvPr id="54" name="Aro 79"/>
          <p:cNvSpPr/>
          <p:nvPr/>
        </p:nvSpPr>
        <p:spPr>
          <a:xfrm>
            <a:off x="9219895" y="4297680"/>
            <a:ext cx="841248" cy="841248"/>
          </a:xfrm>
          <a:prstGeom prst="ellipse">
            <a:avLst/>
          </a:prstGeom>
          <a:solidFill>
            <a:srgbClr val="F2C94C"/>
          </a:solidFill>
          <a:ln/>
        </p:spPr>
      </p:sp>
      <p:pic>
        <p:nvPicPr>
          <p:cNvPr id="55" name="Foto ponente 80" descr="Foto de Dr. Asisclo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56471" y="4334256"/>
            <a:ext cx="768096" cy="768096"/>
          </a:xfrm>
          <a:prstGeom prst="ellipse">
            <a:avLst/>
          </a:prstGeom>
        </p:spPr>
      </p:pic>
      <p:sp>
        <p:nvSpPr>
          <p:cNvPr id="56" name="Nombre 81"/>
          <p:cNvSpPr txBox="1"/>
          <p:nvPr/>
        </p:nvSpPr>
        <p:spPr>
          <a:xfrm>
            <a:off x="10170871" y="4279392"/>
            <a:ext cx="1325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Asisclo</a:t>
            </a:r>
            <a:endParaRPr lang="en-US" sz="1250" dirty="0"/>
          </a:p>
        </p:txBody>
      </p:sp>
      <p:sp>
        <p:nvSpPr>
          <p:cNvPr id="57" name="Dash 82"/>
          <p:cNvSpPr/>
          <p:nvPr/>
        </p:nvSpPr>
        <p:spPr>
          <a:xfrm>
            <a:off x="9238183" y="5303520"/>
            <a:ext cx="41148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8" name="Ponencia 83"/>
          <p:cNvSpPr txBox="1"/>
          <p:nvPr/>
        </p:nvSpPr>
        <p:spPr>
          <a:xfrm>
            <a:off x="9238183" y="5422392"/>
            <a:ext cx="220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Mesa redonda</a:t>
            </a:r>
            <a:endParaRPr lang="en-US" sz="1050" dirty="0"/>
          </a:p>
        </p:txBody>
      </p:sp>
      <p:sp>
        <p:nvSpPr>
          <p:cNvPr id="59" name="Cuando 84"/>
          <p:cNvSpPr txBox="1"/>
          <p:nvPr/>
        </p:nvSpPr>
        <p:spPr>
          <a:xfrm>
            <a:off x="9238183" y="5907024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5B6B7D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Vie 23 oct · 12:00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601968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1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1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6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1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6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6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1" dur="6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6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6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6" dur="6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7" dur="6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6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1" dur="6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2" dur="6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6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6" dur="65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7" dur="65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6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1" dur="65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2" dur="65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6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6" dur="65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7" dur="65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6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1" dur="65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2" dur="65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6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6" dur="65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7" dur="65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6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1" dur="65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2" dur="65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6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6" dur="65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7" dur="65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6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1" dur="65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2" dur="65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6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6" dur="65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7" dur="65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6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1" dur="65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2" dur="65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6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6" dur="65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7" dur="65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6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1" dur="65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2" dur="65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6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6" dur="65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7" dur="65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6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1" dur="65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2" dur="65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5" dur="6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6" dur="65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7" dur="65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0" dur="6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1" dur="65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2" dur="65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6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6" dur="65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7" dur="65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0" dur="6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1" dur="65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2" dur="65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3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2" grpId="0" animBg="1"/>
      <p:bldP spid="43" grpId="0" animBg="1"/>
      <p:bldP spid="44" grpId="0" animBg="1"/>
      <p:bldP spid="45" grpId="0" animBg="1"/>
      <p:bldP spid="47" grpId="0" animBg="1"/>
      <p:bldP spid="49" grpId="0" animBg="1"/>
      <p:bldP spid="50" grpId="0" animBg="1"/>
      <p:bldP spid="51" grpId="0" animBg="1"/>
      <p:bldP spid="52" grpId="0" animBg="1"/>
      <p:bldP spid="54" grpId="0" animBg="1"/>
      <p:bldP spid="56" grpId="0" animBg="1"/>
      <p:bldP spid="57" grpId="0" animBg="1"/>
      <p:bldP spid="58" grpId="0" animBg="1"/>
      <p:bldP spid="5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1234440" y="2971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DÍA</a:t>
            </a:r>
            <a:endParaRPr lang="en-US" sz="1300" dirty="0"/>
          </a:p>
        </p:txBody>
      </p:sp>
      <p:sp>
        <p:nvSpPr>
          <p:cNvPr id="3" name="Text 3"/>
          <p:cNvSpPr/>
          <p:nvPr>
            <p:ph idx="105" type="body" hasCustomPrompt="1"/>
          </p:nvPr>
        </p:nvSpPr>
        <p:spPr>
          <a:xfrm>
            <a:off x="548640" y="160020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600" dirty="0">
                <a:solidFill>
                  <a:srgbClr val="F2C94C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3"/>
          <p:cNvSpPr/>
          <p:nvPr>
            <p:ph idx="106" type="title" hasCustomPrompt="1"/>
          </p:nvPr>
        </p:nvSpPr>
        <p:spPr>
          <a:xfrm>
            <a:off x="548640" y="33832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Miércoles 21 de octubre</a:t>
            </a:r>
            <a:endParaRPr lang="en-US" sz="40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548640" y="489204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FE6FB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Jornada de 08:00 a 12:30</a:t>
            </a:r>
            <a:endParaRPr lang="en-US" sz="1700" dirty="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4" type="body" hasCustomPrompt="1"/>
          </p:nvPr>
        </p:nvSpPr>
        <p:spPr>
          <a:xfrm>
            <a:off x="1234440" y="217627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PONENCIA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5" type="title" hasCustomPrompt="1"/>
          </p:nvPr>
        </p:nvSpPr>
        <p:spPr>
          <a:xfrm>
            <a:off x="548640" y="260604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Leadership in Healthcare: Leading High-Performance Medical Teams</a:t>
            </a:r>
            <a:endParaRPr lang="en-US" sz="3200" dirty="0"/>
          </a:p>
        </p:txBody>
      </p:sp>
      <p:sp>
        <p:nvSpPr>
          <p:cNvPr id="4" name="Text 1"/>
          <p:cNvSpPr/>
          <p:nvPr>
            <p:ph idx="106" type="body" hasCustomPrompt="1"/>
          </p:nvPr>
        </p:nvSpPr>
        <p:spPr>
          <a:xfrm>
            <a:off x="548640" y="4224528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César Escalante</a:t>
            </a:r>
            <a:endParaRPr lang="en-US" sz="2000" dirty="0"/>
          </a:p>
        </p:txBody>
      </p:sp>
      <p:sp>
        <p:nvSpPr>
          <p:cNvPr id="5" name="Text 1"/>
          <p:cNvSpPr/>
          <p:nvPr>
            <p:ph idx="108" type="body" hasCustomPrompt="1"/>
          </p:nvPr>
        </p:nvSpPr>
        <p:spPr>
          <a:xfrm>
            <a:off x="548640" y="54864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Jueves 22 de octubre  ·  10:00 – 10:30</a:t>
            </a:r>
            <a:endParaRPr lang="en-US" sz="2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>
            <p:ph type="pic" idx="103" hasCustomPrompt="1"/>
          </p:nvPr>
        </p:nvPicPr>
        <p:blipFill>
          <a:blip r:embed="rId1"/>
          <a:stretch>
            <a:fillRect/>
          </a:stretch>
        </p:blipFill>
        <p:spPr>
          <a:xfrm>
            <a:off x="8110728" y="1069848"/>
            <a:ext cx="3383280" cy="3383280"/>
          </a:xfrm>
          <a:prstGeom prst="ellipse">
            <a:avLst/>
          </a:prstGeom>
        </p:spPr>
      </p:pic>
      <p:sp>
        <p:nvSpPr>
          <p:cNvPr id="7" name="Text 1"/>
          <p:cNvSpPr/>
          <p:nvPr>
            <p:ph idx="107" type="body" hasCustomPrompt="1"/>
          </p:nvPr>
        </p:nvSpPr>
        <p:spPr>
          <a:xfrm>
            <a:off x="548640" y="4645152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0" y="274320"/>
            <a:ext cx="7068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Título del tema</a:t>
            </a:r>
            <a:endParaRPr lang="en-US" sz="28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4572000" y="987552"/>
            <a:ext cx="7068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Diseño «Contenido e imagen» para las diapositivas de cada ponencia</a:t>
            </a:r>
            <a:endParaRPr lang="en-US" sz="14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548640" y="1828800"/>
            <a:ext cx="5577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15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Escribe aquí el primer punto clave del tema.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15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Segundo punto: una idea por renglón, frases cortas.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15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Tercer punto: resalta los datos o conceptos clave.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15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Cuarto punto de apoyo para cerrar la idea.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>
            <p:ph type="pic" idx="106" hasCustomPrompt="1"/>
          </p:nvPr>
        </p:nvPicPr>
        <p:blipFill>
          <a:blip r:embed="rId1"/>
          <a:stretch>
            <a:fillRect/>
          </a:stretch>
        </p:blipFill>
        <p:spPr>
          <a:xfrm>
            <a:off x="6446520" y="1828800"/>
            <a:ext cx="5193792" cy="4389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601968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0" y="274320"/>
            <a:ext cx="7068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Puntos clave</a:t>
            </a:r>
            <a:endParaRPr lang="en-US" sz="28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4572000" y="987552"/>
            <a:ext cx="7068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Tres tarjetas para conceptos o hallazgos; la central va destacada</a:t>
            </a:r>
            <a:endParaRPr lang="en-US" sz="1400" dirty="0"/>
          </a:p>
        </p:txBody>
      </p:sp>
      <p:pic>
        <p:nvPicPr>
          <p:cNvPr id="4" name="Card 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3511296" cy="3931920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tethoscope 86" descr="Stethosco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76272"/>
            <a:ext cx="868680" cy="868680"/>
          </a:xfrm>
          <a:prstGeom prst="rect">
            <a:avLst/>
          </a:prstGeom>
        </p:spPr>
      </p:pic>
      <p:sp>
        <p:nvSpPr>
          <p:cNvPr id="6" name="Titulo tarjeta 87"/>
          <p:cNvSpPr txBox="1"/>
          <p:nvPr/>
        </p:nvSpPr>
        <p:spPr>
          <a:xfrm>
            <a:off x="914400" y="3246120"/>
            <a:ext cx="2779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Concepto uno</a:t>
            </a:r>
            <a:endParaRPr lang="en-US" sz="2000" dirty="0"/>
          </a:p>
        </p:txBody>
      </p:sp>
      <p:sp>
        <p:nvSpPr>
          <p:cNvPr id="7" name="Dash 88"/>
          <p:cNvSpPr/>
          <p:nvPr/>
        </p:nvSpPr>
        <p:spPr>
          <a:xfrm>
            <a:off x="914400" y="3840480"/>
            <a:ext cx="50292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8" name="Texto tarjeta 89"/>
          <p:cNvSpPr txBox="1"/>
          <p:nvPr/>
        </p:nvSpPr>
        <p:spPr>
          <a:xfrm>
            <a:off x="914400" y="4069080"/>
            <a:ext cx="2779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Describe aquí la idea en dos o tres renglones.</a:t>
            </a:r>
            <a:endParaRPr lang="en-US" sz="1400" dirty="0"/>
          </a:p>
        </p:txBody>
      </p:sp>
      <p:pic>
        <p:nvPicPr>
          <p:cNvPr id="9" name="Card 9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28" y="1828800"/>
            <a:ext cx="3511296" cy="3931920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E2A47">
                <a:alpha val="25000"/>
              </a:srgbClr>
            </a:outerShdw>
          </a:effectLst>
        </p:spPr>
      </p:pic>
      <p:pic>
        <p:nvPicPr>
          <p:cNvPr id="10" name="Watermark FaHeartPulse 9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244" y="4526280"/>
            <a:ext cx="1051560" cy="1051560"/>
          </a:xfrm>
          <a:prstGeom prst="rect">
            <a:avLst/>
          </a:prstGeom>
        </p:spPr>
      </p:pic>
      <p:pic>
        <p:nvPicPr>
          <p:cNvPr id="11" name="Icon FaHeartPulse 92" descr="HeartPul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4588" y="2176272"/>
            <a:ext cx="868680" cy="868680"/>
          </a:xfrm>
          <a:prstGeom prst="rect">
            <a:avLst/>
          </a:prstGeom>
        </p:spPr>
      </p:pic>
      <p:sp>
        <p:nvSpPr>
          <p:cNvPr id="12" name="Titulo tarjeta 93"/>
          <p:cNvSpPr txBox="1"/>
          <p:nvPr/>
        </p:nvSpPr>
        <p:spPr>
          <a:xfrm>
            <a:off x="4704588" y="3246120"/>
            <a:ext cx="2779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Concepto dos</a:t>
            </a:r>
            <a:endParaRPr lang="en-US" sz="2000" dirty="0"/>
          </a:p>
        </p:txBody>
      </p:sp>
      <p:sp>
        <p:nvSpPr>
          <p:cNvPr id="13" name="Dash 94"/>
          <p:cNvSpPr/>
          <p:nvPr/>
        </p:nvSpPr>
        <p:spPr>
          <a:xfrm>
            <a:off x="4704588" y="3840480"/>
            <a:ext cx="502920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14" name="Texto tarjeta 95"/>
          <p:cNvSpPr txBox="1"/>
          <p:nvPr/>
        </p:nvSpPr>
        <p:spPr>
          <a:xfrm>
            <a:off x="4704588" y="4069080"/>
            <a:ext cx="2779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Describe aquí la idea en dos o tres renglones.</a:t>
            </a:r>
            <a:endParaRPr lang="en-US" sz="1400" dirty="0"/>
          </a:p>
        </p:txBody>
      </p:sp>
      <p:pic>
        <p:nvPicPr>
          <p:cNvPr id="15" name="Card 9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9016" y="1828800"/>
            <a:ext cx="3511296" cy="3931920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Microscope 97" descr="Microscop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2176272"/>
            <a:ext cx="868680" cy="868680"/>
          </a:xfrm>
          <a:prstGeom prst="rect">
            <a:avLst/>
          </a:prstGeom>
        </p:spPr>
      </p:pic>
      <p:sp>
        <p:nvSpPr>
          <p:cNvPr id="17" name="Titulo tarjeta 98"/>
          <p:cNvSpPr txBox="1"/>
          <p:nvPr/>
        </p:nvSpPr>
        <p:spPr>
          <a:xfrm>
            <a:off x="8494776" y="3246120"/>
            <a:ext cx="2779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Concepto tres</a:t>
            </a:r>
            <a:endParaRPr lang="en-US" sz="2000" dirty="0"/>
          </a:p>
        </p:txBody>
      </p:sp>
      <p:sp>
        <p:nvSpPr>
          <p:cNvPr id="18" name="Dash 99"/>
          <p:cNvSpPr/>
          <p:nvPr/>
        </p:nvSpPr>
        <p:spPr>
          <a:xfrm>
            <a:off x="8494776" y="3840480"/>
            <a:ext cx="50292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19" name="Texto tarjeta 100"/>
          <p:cNvSpPr txBox="1"/>
          <p:nvPr/>
        </p:nvSpPr>
        <p:spPr>
          <a:xfrm>
            <a:off x="8494776" y="4069080"/>
            <a:ext cx="2779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Describe aquí la idea en dos o tres renglones.</a:t>
            </a:r>
            <a:endParaRPr lang="en-US" sz="1400" dirty="0"/>
          </a:p>
        </p:txBody>
      </p:sp>
      <p:sp>
        <p:nvSpPr>
          <p:cNvPr id="20" name="Ejemplo 101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Textos de ejemplo: sustitúyelos por el contenido de la ponencia.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601968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0" y="274320"/>
            <a:ext cx="7068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Mensaje clave</a:t>
            </a:r>
            <a:endParaRPr lang="en-US" sz="2800" dirty="0"/>
          </a:p>
        </p:txBody>
      </p:sp>
      <p:pic>
        <p:nvPicPr>
          <p:cNvPr id="3" name="Card 10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11094415" cy="4114800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E2A47">
                <a:alpha val="25000"/>
              </a:srgbClr>
            </a:outerShdw>
          </a:effectLst>
        </p:spPr>
      </p:pic>
      <p:pic>
        <p:nvPicPr>
          <p:cNvPr id="4" name="Watermark FaQuoteRight 10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8495" y="3703320"/>
            <a:ext cx="1737360" cy="1737360"/>
          </a:xfrm>
          <a:prstGeom prst="rect">
            <a:avLst/>
          </a:prstGeom>
        </p:spPr>
      </p:pic>
      <p:pic>
        <p:nvPicPr>
          <p:cNvPr id="5" name="Icon FaQuoteLeft 104" descr="Quote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194560"/>
            <a:ext cx="822960" cy="822960"/>
          </a:xfrm>
          <a:prstGeom prst="rect">
            <a:avLst/>
          </a:prstGeom>
        </p:spPr>
      </p:pic>
      <p:sp>
        <p:nvSpPr>
          <p:cNvPr id="6" name="Cita 105"/>
          <p:cNvSpPr txBox="1"/>
          <p:nvPr/>
        </p:nvSpPr>
        <p:spPr>
          <a:xfrm>
            <a:off x="1051560" y="3200400"/>
            <a:ext cx="8961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Escribe aquí la frase o la conclusión central de la ponencia, en no más de tres renglones.</a:t>
            </a:r>
            <a:endParaRPr lang="en-US" sz="2600" dirty="0"/>
          </a:p>
        </p:txBody>
      </p:sp>
      <p:sp>
        <p:nvSpPr>
          <p:cNvPr id="7" name="Dash 106"/>
          <p:cNvSpPr/>
          <p:nvPr/>
        </p:nvSpPr>
        <p:spPr>
          <a:xfrm>
            <a:off x="1051560" y="5029200"/>
            <a:ext cx="54864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8" name="Autor 107"/>
          <p:cNvSpPr txBox="1"/>
          <p:nvPr/>
        </p:nvSpPr>
        <p:spPr>
          <a:xfrm>
            <a:off x="1783080" y="484632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C94C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del autor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6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Cargo o institución</a:t>
            </a:r>
            <a:endParaRPr lang="en-US" sz="1400" dirty="0"/>
          </a:p>
        </p:txBody>
      </p:sp>
      <p:sp>
        <p:nvSpPr>
          <p:cNvPr id="9" name="Text 2"/>
          <p:cNvSpPr/>
          <p:nvPr>
            <p:ph idx="104" type="body" hasCustomPrompt="1"/>
          </p:nvPr>
        </p:nvSpPr>
        <p:spPr>
          <a:xfrm>
            <a:off x="4572000" y="987552"/>
            <a:ext cx="7068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601968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4" type="title" hasCustomPrompt="1"/>
          </p:nvPr>
        </p:nvSpPr>
        <p:spPr>
          <a:xfrm>
            <a:off x="1371600" y="3108960"/>
            <a:ext cx="94484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COFFEE BREAK</a:t>
            </a:r>
            <a:endParaRPr lang="en-US" sz="66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3566160" y="4325112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2C94C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Regresamos a las 10:30</a:t>
            </a:r>
            <a:endParaRPr lang="en-US" sz="24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371600" y="4983480"/>
            <a:ext cx="94484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FE6FB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Miércoles 21 de octubre  ·  09:30 – 10:30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0" y="274320"/>
            <a:ext cx="7068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Patrocinadores</a:t>
            </a:r>
            <a:endParaRPr lang="en-US" sz="28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4572000" y="987552"/>
            <a:ext cx="7068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Actividad de patrocinadores: Mié 21 oct 10:30 – 11:00  ·  Vie 23 oct 09:30 – 10:00</a:t>
            </a:r>
            <a:endParaRPr lang="en-US" sz="1400" dirty="0"/>
          </a:p>
        </p:txBody>
      </p:sp>
      <p:pic>
        <p:nvPicPr>
          <p:cNvPr id="4" name="Card 10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2606040" cy="1828800"/>
          </a:xfrm>
          <a:prstGeom prst="rect">
            <a:avLst/>
          </a:prstGeom>
        </p:spPr>
      </p:pic>
      <p:pic>
        <p:nvPicPr>
          <p:cNvPr id="5" name="Watermark FaImage 10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620" y="2258568"/>
            <a:ext cx="640080" cy="640080"/>
          </a:xfrm>
          <a:prstGeom prst="rect">
            <a:avLst/>
          </a:prstGeom>
        </p:spPr>
      </p:pic>
      <p:sp>
        <p:nvSpPr>
          <p:cNvPr id="6" name="Logo 110"/>
          <p:cNvSpPr txBox="1"/>
          <p:nvPr/>
        </p:nvSpPr>
        <p:spPr>
          <a:xfrm>
            <a:off x="731520" y="30175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5C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Logo del patrocinador</a:t>
            </a:r>
            <a:endParaRPr lang="en-US" sz="1100" dirty="0"/>
          </a:p>
        </p:txBody>
      </p:sp>
      <p:pic>
        <p:nvPicPr>
          <p:cNvPr id="7" name="Card 1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098" y="1874520"/>
            <a:ext cx="2606040" cy="1828800"/>
          </a:xfrm>
          <a:prstGeom prst="rect">
            <a:avLst/>
          </a:prstGeom>
        </p:spPr>
      </p:pic>
      <p:pic>
        <p:nvPicPr>
          <p:cNvPr id="8" name="Watermark FaImage 11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1078" y="2258568"/>
            <a:ext cx="640080" cy="640080"/>
          </a:xfrm>
          <a:prstGeom prst="rect">
            <a:avLst/>
          </a:prstGeom>
        </p:spPr>
      </p:pic>
      <p:sp>
        <p:nvSpPr>
          <p:cNvPr id="9" name="Logo 113"/>
          <p:cNvSpPr txBox="1"/>
          <p:nvPr/>
        </p:nvSpPr>
        <p:spPr>
          <a:xfrm>
            <a:off x="3560978" y="30175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5C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Logo del patrocinador</a:t>
            </a:r>
            <a:endParaRPr lang="en-US" sz="1100" dirty="0"/>
          </a:p>
        </p:txBody>
      </p:sp>
      <p:pic>
        <p:nvPicPr>
          <p:cNvPr id="10" name="Card 1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7557" y="1874520"/>
            <a:ext cx="2606040" cy="1828800"/>
          </a:xfrm>
          <a:prstGeom prst="rect">
            <a:avLst/>
          </a:prstGeom>
        </p:spPr>
      </p:pic>
      <p:pic>
        <p:nvPicPr>
          <p:cNvPr id="11" name="Watermark FaImage 11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0537" y="2258568"/>
            <a:ext cx="640080" cy="640080"/>
          </a:xfrm>
          <a:prstGeom prst="rect">
            <a:avLst/>
          </a:prstGeom>
        </p:spPr>
      </p:pic>
      <p:sp>
        <p:nvSpPr>
          <p:cNvPr id="12" name="Logo 116"/>
          <p:cNvSpPr txBox="1"/>
          <p:nvPr/>
        </p:nvSpPr>
        <p:spPr>
          <a:xfrm>
            <a:off x="6390437" y="30175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5C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Logo del patrocinador</a:t>
            </a:r>
            <a:endParaRPr lang="en-US" sz="1100" dirty="0"/>
          </a:p>
        </p:txBody>
      </p:sp>
      <p:pic>
        <p:nvPicPr>
          <p:cNvPr id="13" name="Card 11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7015" y="1874520"/>
            <a:ext cx="2606040" cy="1828800"/>
          </a:xfrm>
          <a:prstGeom prst="rect">
            <a:avLst/>
          </a:prstGeom>
        </p:spPr>
      </p:pic>
      <p:pic>
        <p:nvPicPr>
          <p:cNvPr id="14" name="Watermark FaImage 11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19995" y="2258568"/>
            <a:ext cx="640080" cy="640080"/>
          </a:xfrm>
          <a:prstGeom prst="rect">
            <a:avLst/>
          </a:prstGeom>
        </p:spPr>
      </p:pic>
      <p:sp>
        <p:nvSpPr>
          <p:cNvPr id="15" name="Logo 119"/>
          <p:cNvSpPr txBox="1"/>
          <p:nvPr/>
        </p:nvSpPr>
        <p:spPr>
          <a:xfrm>
            <a:off x="9219895" y="30175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5C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Logo del patrocinador</a:t>
            </a:r>
            <a:endParaRPr lang="en-US" sz="1100" dirty="0"/>
          </a:p>
        </p:txBody>
      </p:sp>
      <p:pic>
        <p:nvPicPr>
          <p:cNvPr id="16" name="Card 120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3977640"/>
            <a:ext cx="2606040" cy="1828800"/>
          </a:xfrm>
          <a:prstGeom prst="rect">
            <a:avLst/>
          </a:prstGeom>
        </p:spPr>
      </p:pic>
      <p:pic>
        <p:nvPicPr>
          <p:cNvPr id="17" name="Watermark FaImage 121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31620" y="4361688"/>
            <a:ext cx="640080" cy="640080"/>
          </a:xfrm>
          <a:prstGeom prst="rect">
            <a:avLst/>
          </a:prstGeom>
        </p:spPr>
      </p:pic>
      <p:sp>
        <p:nvSpPr>
          <p:cNvPr id="18" name="Logo 122"/>
          <p:cNvSpPr txBox="1"/>
          <p:nvPr/>
        </p:nvSpPr>
        <p:spPr>
          <a:xfrm>
            <a:off x="731520" y="51206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5C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Logo del patrocinador</a:t>
            </a:r>
            <a:endParaRPr lang="en-US" sz="1100" dirty="0"/>
          </a:p>
        </p:txBody>
      </p:sp>
      <p:pic>
        <p:nvPicPr>
          <p:cNvPr id="19" name="Card 123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78098" y="3977640"/>
            <a:ext cx="2606040" cy="1828800"/>
          </a:xfrm>
          <a:prstGeom prst="rect">
            <a:avLst/>
          </a:prstGeom>
        </p:spPr>
      </p:pic>
      <p:pic>
        <p:nvPicPr>
          <p:cNvPr id="20" name="Watermark FaImage 124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1078" y="4361688"/>
            <a:ext cx="640080" cy="640080"/>
          </a:xfrm>
          <a:prstGeom prst="rect">
            <a:avLst/>
          </a:prstGeom>
        </p:spPr>
      </p:pic>
      <p:sp>
        <p:nvSpPr>
          <p:cNvPr id="21" name="Logo 125"/>
          <p:cNvSpPr txBox="1"/>
          <p:nvPr/>
        </p:nvSpPr>
        <p:spPr>
          <a:xfrm>
            <a:off x="3560978" y="51206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5C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Logo del patrocinador</a:t>
            </a:r>
            <a:endParaRPr lang="en-US" sz="1100" dirty="0"/>
          </a:p>
        </p:txBody>
      </p:sp>
      <p:pic>
        <p:nvPicPr>
          <p:cNvPr id="22" name="Card 126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07557" y="3977640"/>
            <a:ext cx="2606040" cy="1828800"/>
          </a:xfrm>
          <a:prstGeom prst="rect">
            <a:avLst/>
          </a:prstGeom>
        </p:spPr>
      </p:pic>
      <p:pic>
        <p:nvPicPr>
          <p:cNvPr id="23" name="Watermark FaImage 127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90537" y="4361688"/>
            <a:ext cx="640080" cy="640080"/>
          </a:xfrm>
          <a:prstGeom prst="rect">
            <a:avLst/>
          </a:prstGeom>
        </p:spPr>
      </p:pic>
      <p:sp>
        <p:nvSpPr>
          <p:cNvPr id="24" name="Logo 128"/>
          <p:cNvSpPr txBox="1"/>
          <p:nvPr/>
        </p:nvSpPr>
        <p:spPr>
          <a:xfrm>
            <a:off x="6390437" y="51206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5C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Logo del patrocinador</a:t>
            </a:r>
            <a:endParaRPr lang="en-US" sz="1100" dirty="0"/>
          </a:p>
        </p:txBody>
      </p:sp>
      <p:pic>
        <p:nvPicPr>
          <p:cNvPr id="25" name="Card 129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37015" y="3977640"/>
            <a:ext cx="2606040" cy="1828800"/>
          </a:xfrm>
          <a:prstGeom prst="rect">
            <a:avLst/>
          </a:prstGeom>
        </p:spPr>
      </p:pic>
      <p:pic>
        <p:nvPicPr>
          <p:cNvPr id="26" name="Watermark FaImage 130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19995" y="4361688"/>
            <a:ext cx="640080" cy="640080"/>
          </a:xfrm>
          <a:prstGeom prst="rect">
            <a:avLst/>
          </a:prstGeom>
        </p:spPr>
      </p:pic>
      <p:sp>
        <p:nvSpPr>
          <p:cNvPr id="27" name="Logo 131"/>
          <p:cNvSpPr txBox="1"/>
          <p:nvPr/>
        </p:nvSpPr>
        <p:spPr>
          <a:xfrm>
            <a:off x="9219895" y="51206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5C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Logo del patrocinador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601968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2" grpId="0" animBg="1"/>
      <p:bldP spid="15" grpId="0" animBg="1"/>
      <p:bldP spid="18" grpId="0" animBg="1"/>
      <p:bldP spid="21" grpId="0" animBg="1"/>
      <p:bldP spid="24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1371600" y="2148840"/>
            <a:ext cx="94484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¡GRACIAS!</a:t>
            </a:r>
            <a:endParaRPr lang="en-US" sz="72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1371600" y="3429000"/>
            <a:ext cx="9448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pc="100" kern="0" dirty="0">
                <a:solidFill>
                  <a:srgbClr val="CFE6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WESTHILL </a:t>
            </a:r>
            <a:pPr algn="ctr" indent="0" marL="0">
              <a:buNone/>
            </a:pPr>
            <a:r>
              <a:rPr lang="en-US" sz="2200" spc="10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MEDICAL LEADERSHIP </a:t>
            </a:r>
            <a:pPr algn="ctr" indent="0" marL="0">
              <a:buNone/>
            </a:pPr>
            <a:r>
              <a:rPr lang="en-US" sz="2200" spc="100" kern="0" dirty="0">
                <a:solidFill>
                  <a:srgbClr val="CFE6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SUMMIT 2026</a:t>
            </a:r>
            <a:endParaRPr lang="en-US" sz="22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3566160" y="438912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21, 22 Y 23 DE OCTUBRE DE 2026</a:t>
            </a:r>
            <a:endParaRPr lang="en-US" sz="2200" dirty="0"/>
          </a:p>
        </p:txBody>
      </p:sp>
      <p:sp>
        <p:nvSpPr>
          <p:cNvPr id="5" name="Sede 132"/>
          <p:cNvSpPr txBox="1"/>
          <p:nvPr/>
        </p:nvSpPr>
        <p:spPr>
          <a:xfrm>
            <a:off x="1371600" y="498348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FE6FB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Facultad de Medicina</a:t>
            </a:r>
            <a:endParaRPr lang="en-US" sz="1600" dirty="0"/>
          </a:p>
        </p:txBody>
      </p:sp>
      <p:sp>
        <p:nvSpPr>
          <p:cNvPr id="6" name="Pill 133"/>
          <p:cNvSpPr txBox="1"/>
          <p:nvPr/>
        </p:nvSpPr>
        <p:spPr>
          <a:xfrm>
            <a:off x="3306928" y="5532120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F2C9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@univwesthill</a:t>
            </a:r>
            <a:endParaRPr lang="en-US" sz="1400" dirty="0"/>
          </a:p>
        </p:txBody>
      </p:sp>
      <p:sp>
        <p:nvSpPr>
          <p:cNvPr id="7" name="Pill 134"/>
          <p:cNvSpPr txBox="1"/>
          <p:nvPr/>
        </p:nvSpPr>
        <p:spPr>
          <a:xfrm>
            <a:off x="6233008" y="5532120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#SOMOSWESTHILL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Westhill Medical Summit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0F62AE"/>
      </a:accent3>
      <a:accent4>
        <a:srgbClr val="2DB34A"/>
      </a:accent4>
      <a:accent5>
        <a:srgbClr val="0A4A92"/>
      </a:accent5>
      <a:accent6>
        <a:srgbClr val="5B6B7D"/>
      </a:accent6>
      <a:hlink>
        <a:srgbClr val="0F62AE"/>
      </a:hlink>
      <a:folHlink>
        <a:srgbClr val="0A4A92"/>
      </a:folHlink>
    </a:clrScheme>
    <a:fontScheme name="Office">
      <a:majorFont>
        <a:latin typeface="Montserrat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Westhill Medical Leadership Summit 2026</dc:title>
  <dc:subject>PptxGenJS Presentation</dc:subject>
  <dc:creator>Universidad Westhill · Facultad de Medicina</dc:creator>
  <cp:lastModifiedBy>Universidad Westhill · Facultad de Medicina</cp:lastModifiedBy>
  <cp:revision>1</cp:revision>
  <dcterms:created xsi:type="dcterms:W3CDTF">2026-10-13T20:18:06Z</dcterms:created>
  <dcterms:modified xsi:type="dcterms:W3CDTF">2026-10-13T20:18:06Z</dcterms:modified>
</cp:coreProperties>
</file>
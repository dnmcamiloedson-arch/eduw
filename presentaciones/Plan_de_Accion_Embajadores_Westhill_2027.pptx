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dd7f73a7-ec51-c50a-8325-61928c4aefaa}">
          <p14:sldIdLst>
            <p14:sldId id="256"/>
          </p14:sldIdLst>
        </p14:section>
        <p14:section name="Programa" id="{d64e50b7-0616-d8c4-ce3e-46bc87d1d1c9}">
          <p14:sldIdLst>
            <p14:sldId id="257"/>
            <p14:sldId id="258"/>
          </p14:sldIdLst>
        </p14:section>
        <p14:section name="Mecánica" id="{6357e59f-488b-d984-7b76-70f94ad0f08d}">
          <p14:sldIdLst>
            <p14:sldId id="259"/>
            <p14:sldId id="260"/>
            <p14:sldId id="261"/>
          </p14:sldIdLst>
        </p14:section>
        <p14:section name="Niveles y beneficios" id="{b1aee3f0-6c18-408d-2806-bf1e3b185d89}">
          <p14:sldIdLst>
            <p14:sldId id="262"/>
            <p14:sldId id="263"/>
            <p14:sldId id="264"/>
          </p14:sldIdLst>
        </p14:section>
        <p14:section name="Iniciativas" id="{b633a4e3-99f2-e482-8797-0c3943df1356}">
          <p14:sldIdLst>
            <p14:sldId id="265"/>
            <p14:sldId id="266"/>
          </p14:sldIdLst>
        </p14:section>
        <p14:section name="Cierre" id="{f932a443-e705-7f1f-74af-fd3454015fd6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image-1002-3.png"/><Relationship Id="rId4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sthill 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48695" y="5760720"/>
            <a:ext cx="2377440" cy="237744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9005" y="329184"/>
            <a:ext cx="1280160" cy="73152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PLAN DE ACCIÓN  ·  EMBAJADORES WESTHILL 2.0</a:t>
            </a:r>
            <a:endParaRPr lang="en-US" sz="1100" dirty="0"/>
          </a:p>
        </p:txBody>
      </p:sp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205" y="292608"/>
            <a:ext cx="593850" cy="713232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548640" y="64008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</a:rPr>
              <a:t>#SOMOSWESTHILL</a:t>
            </a:r>
            <a:endParaRPr lang="en-US" sz="1000" dirty="0"/>
          </a:p>
        </p:txBody>
      </p:sp>
      <p:sp>
        <p:nvSpPr>
          <p:cNvPr id="7" name="Text 2"/>
          <p:cNvSpPr/>
          <p:nvPr/>
        </p:nvSpPr>
        <p:spPr>
          <a:xfrm>
            <a:off x="8442655" y="64008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@univwesthill</a:t>
            </a:r>
            <a:endParaRPr lang="en-US" sz="1000" dirty="0"/>
          </a:p>
        </p:txBody>
      </p:sp>
      <p:sp>
        <p:nvSpPr>
          <p:cNvPr id="8" name="Text 3"/>
          <p:cNvSpPr/>
          <p:nvPr>
            <p:ph idx="106" type="title" hasCustomPrompt="1"/>
          </p:nvPr>
        </p:nvSpPr>
        <p:spPr>
          <a:xfrm>
            <a:off x="548640" y="566928"/>
            <a:ext cx="96926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sthill Spli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chemeClr val="accent1"/>
                </a:solidFill>
              </a:rPr>
              <a:t>PLAN DE ACCIÓN  ·  EMBAJADORES WESTHILL 2.0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tx2"/>
                </a:solidFill>
              </a:rPr>
              <a:t>#SOMOSWESTHILL   ·   @univwesthill</a:t>
            </a:r>
            <a:endParaRPr lang="en-US" sz="1000" dirty="0"/>
          </a:p>
        </p:txBody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566928"/>
            <a:ext cx="58521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89320" y="6400800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sthill 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jpe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ver background 1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914400" cy="1098223"/>
          </a:xfrm>
          <a:prstGeom prst="rect">
            <a:avLst/>
          </a:prstGeom>
        </p:spPr>
      </p:pic>
      <p:sp>
        <p:nvSpPr>
          <p:cNvPr id="4" name="Kicker 3"/>
          <p:cNvSpPr txBox="1"/>
          <p:nvPr/>
        </p:nvSpPr>
        <p:spPr>
          <a:xfrm>
            <a:off x="640080" y="205740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chemeClr val="accent2"/>
                </a:solidFill>
              </a:rPr>
              <a:t>PLAN DE ACCIÓN</a:t>
            </a:r>
            <a:endParaRPr lang="en-US" sz="1800" dirty="0"/>
          </a:p>
        </p:txBody>
      </p:sp>
      <p:sp>
        <p:nvSpPr>
          <p:cNvPr id="5" name="Cover title 4"/>
          <p:cNvSpPr txBox="1"/>
          <p:nvPr/>
        </p:nvSpPr>
        <p:spPr>
          <a:xfrm>
            <a:off x="640080" y="2514600"/>
            <a:ext cx="6217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Embajadores Westhill 2.0</a:t>
            </a:r>
            <a:endParaRPr lang="en-US" sz="5400" dirty="0"/>
          </a:p>
        </p:txBody>
      </p:sp>
      <p:sp>
        <p:nvSpPr>
          <p:cNvPr id="6" name="Date 5"/>
          <p:cNvSpPr txBox="1"/>
          <p:nvPr/>
        </p:nvSpPr>
        <p:spPr>
          <a:xfrm>
            <a:off x="640080" y="4526280"/>
            <a:ext cx="2331720" cy="54864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300" kern="0" dirty="0">
                <a:solidFill>
                  <a:schemeClr val="tx2"/>
                </a:solidFill>
              </a:rPr>
              <a:t>ENERO 2027</a:t>
            </a:r>
            <a:endParaRPr lang="en-US" sz="1800" dirty="0"/>
          </a:p>
        </p:txBody>
      </p:sp>
      <p:sp>
        <p:nvSpPr>
          <p:cNvPr id="7" name="Hashtag 6"/>
          <p:cNvSpPr txBox="1"/>
          <p:nvPr/>
        </p:nvSpPr>
        <p:spPr>
          <a:xfrm>
            <a:off x="640080" y="5989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5"/>
                </a:solidFill>
              </a:rPr>
              <a:t>#SOMOSWESTHILL</a:t>
            </a:r>
            <a:endParaRPr lang="en-US" sz="1600" dirty="0"/>
          </a:p>
        </p:txBody>
      </p:sp>
      <p:pic>
        <p:nvPicPr>
          <p:cNvPr id="8" name="Paw print 7" descr="Huella">    </p:cNvPr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 rot="1200000">
            <a:off x="4480560" y="5897880"/>
            <a:ext cx="384048" cy="341131"/>
          </a:xfrm>
          <a:prstGeom prst="rect">
            <a:avLst/>
          </a:prstGeom>
        </p:spPr>
      </p:pic>
      <p:pic>
        <p:nvPicPr>
          <p:cNvPr id="9" name="Paw print 8" descr="Huella">    </p:cNvPr>
          <p:cNvPicPr>
            <a:picLocks noChangeAspect="1"/>
          </p:cNvPicPr>
          <p:nvPr/>
        </p:nvPicPr>
        <p:blipFill>
          <a:blip r:embed="rId4">
            <a:alphaModFix amt="85000"/>
          </a:blip>
          <a:stretch>
            <a:fillRect/>
          </a:stretch>
        </p:blipFill>
        <p:spPr>
          <a:xfrm rot="2100000">
            <a:off x="5029200" y="5440680"/>
            <a:ext cx="384048" cy="341131"/>
          </a:xfrm>
          <a:prstGeom prst="rect">
            <a:avLst/>
          </a:prstGeom>
        </p:spPr>
      </p:pic>
      <p:pic>
        <p:nvPicPr>
          <p:cNvPr id="10" name="Paw print 9" descr="Huella">    </p:cNvPr>
          <p:cNvPicPr>
            <a:picLocks noChangeAspect="1"/>
          </p:cNvPicPr>
          <p:nvPr/>
        </p:nvPicPr>
        <p:blipFill>
          <a:blip r:embed="rId5">
            <a:alphaModFix amt="85000"/>
          </a:blip>
          <a:stretch>
            <a:fillRect/>
          </a:stretch>
        </p:blipFill>
        <p:spPr>
          <a:xfrm rot="3300000">
            <a:off x="5669280" y="5120640"/>
            <a:ext cx="384048" cy="341131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6" type="title" hasCustomPrompt="1"/>
          </p:nvPr>
        </p:nvSpPr>
        <p:spPr>
          <a:xfrm>
            <a:off x="548640" y="566928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Embajadores Westhill 2.0</a:t>
            </a:r>
            <a:endParaRPr lang="en-US" sz="3400" dirty="0"/>
          </a:p>
        </p:txBody>
      </p:sp>
      <p:sp>
        <p:nvSpPr>
          <p:cNvPr id="3" name="Program description 10"/>
          <p:cNvSpPr txBox="1"/>
          <p:nvPr/>
        </p:nvSpPr>
        <p:spPr>
          <a:xfrm>
            <a:off x="548640" y="160020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chemeClr val="tx1"/>
                </a:solidFill>
              </a:rPr>
              <a:t>El programa de Embajadores Westhill es una iniciativa para que nuestros estudiantes compartan su experiencia, representen a la Universidad y ayuden a más jóvenes a descubrir su camino profesional.</a:t>
            </a:r>
            <a:endParaRPr lang="en-US" sz="1800" dirty="0"/>
          </a:p>
        </p:txBody>
      </p:sp>
      <p:sp>
        <p:nvSpPr>
          <p:cNvPr id="4" name="Objective card 11"/>
          <p:cNvSpPr/>
          <p:nvPr/>
        </p:nvSpPr>
        <p:spPr>
          <a:xfrm>
            <a:off x="548640" y="3246120"/>
            <a:ext cx="6035040" cy="2788920"/>
          </a:xfrm>
          <a:prstGeom prst="roundRect">
            <a:avLst>
              <a:gd name="adj" fmla="val 4918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38100" dir="5400000">
              <a:srgbClr val="0E2A47">
                <a:alpha val="14000"/>
              </a:srgbClr>
            </a:outerShdw>
          </a:effectLst>
        </p:spPr>
      </p:sp>
      <p:pic>
        <p:nvPicPr>
          <p:cNvPr id="5" name="Watermark FaBullseye 1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2040" y="3429000"/>
            <a:ext cx="1508760" cy="1508760"/>
          </a:xfrm>
          <a:prstGeom prst="rect">
            <a:avLst/>
          </a:prstGeom>
        </p:spPr>
      </p:pic>
      <p:sp>
        <p:nvSpPr>
          <p:cNvPr id="6" name="Icon circle 13"/>
          <p:cNvSpPr/>
          <p:nvPr/>
        </p:nvSpPr>
        <p:spPr>
          <a:xfrm>
            <a:off x="914400" y="356616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7" name="Icon FaBullseye 14" descr="FaBullsey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5850" y="3737610"/>
            <a:ext cx="342900" cy="342900"/>
          </a:xfrm>
          <a:prstGeom prst="rect">
            <a:avLst/>
          </a:prstGeom>
        </p:spPr>
      </p:pic>
      <p:sp>
        <p:nvSpPr>
          <p:cNvPr id="8" name="Objective label 15"/>
          <p:cNvSpPr txBox="1"/>
          <p:nvPr/>
        </p:nvSpPr>
        <p:spPr>
          <a:xfrm>
            <a:off x="1783080" y="35661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2"/>
                </a:solidFill>
              </a:rPr>
              <a:t>OBJETIVO</a:t>
            </a:r>
            <a:endParaRPr lang="en-US" sz="1600" dirty="0"/>
          </a:p>
        </p:txBody>
      </p:sp>
      <p:sp>
        <p:nvSpPr>
          <p:cNvPr id="9" name="Objective text 16"/>
          <p:cNvSpPr txBox="1"/>
          <p:nvPr/>
        </p:nvSpPr>
        <p:spPr>
          <a:xfrm>
            <a:off x="914400" y="443484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chemeClr val="bg1"/>
                </a:solidFill>
              </a:rPr>
              <a:t>Generar más prospectos e inscritos, fortaleciendo el sentido de pertenencia de nuestros estudiantes y posicionando a Westhill a través de su voz auténtica.</a:t>
            </a:r>
            <a:endParaRPr lang="en-US" sz="1800" dirty="0"/>
          </a:p>
        </p:txBody>
      </p:sp>
      <p:sp>
        <p:nvSpPr>
          <p:cNvPr id="10" name="Why card 17"/>
          <p:cNvSpPr/>
          <p:nvPr/>
        </p:nvSpPr>
        <p:spPr>
          <a:xfrm>
            <a:off x="6995160" y="1600200"/>
            <a:ext cx="4645152" cy="4434840"/>
          </a:xfrm>
          <a:prstGeom prst="roundRect">
            <a:avLst>
              <a:gd name="adj" fmla="val 3093"/>
            </a:avLst>
          </a:prstGeom>
          <a:solidFill>
            <a:schemeClr val="bg2"/>
          </a:solidFill>
          <a:ln/>
        </p:spPr>
      </p:sp>
      <p:sp>
        <p:nvSpPr>
          <p:cNvPr id="11" name="Why title 18"/>
          <p:cNvSpPr txBox="1"/>
          <p:nvPr/>
        </p:nvSpPr>
        <p:spPr>
          <a:xfrm>
            <a:off x="7315200" y="178308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¿Por qué ser embajador?</a:t>
            </a:r>
            <a:endParaRPr lang="en-US" sz="2000" dirty="0"/>
          </a:p>
        </p:txBody>
      </p:sp>
      <p:sp>
        <p:nvSpPr>
          <p:cNvPr id="12" name="Icon circle 19"/>
          <p:cNvSpPr/>
          <p:nvPr/>
        </p:nvSpPr>
        <p:spPr>
          <a:xfrm>
            <a:off x="7315200" y="246888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con FaHandHoldingHeart 20" descr="FaHandHoldingHea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0930" y="2594610"/>
            <a:ext cx="251460" cy="251460"/>
          </a:xfrm>
          <a:prstGeom prst="rect">
            <a:avLst/>
          </a:prstGeom>
        </p:spPr>
      </p:pic>
      <p:sp>
        <p:nvSpPr>
          <p:cNvPr id="14" name="Why item 21"/>
          <p:cNvSpPr txBox="1"/>
          <p:nvPr/>
        </p:nvSpPr>
        <p:spPr>
          <a:xfrm>
            <a:off x="8001000" y="24688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Haces la diferencia en la vida de otros.</a:t>
            </a:r>
            <a:endParaRPr lang="en-US" sz="1500" dirty="0"/>
          </a:p>
        </p:txBody>
      </p:sp>
      <p:sp>
        <p:nvSpPr>
          <p:cNvPr id="15" name="Icon circle 22"/>
          <p:cNvSpPr/>
          <p:nvPr/>
        </p:nvSpPr>
        <p:spPr>
          <a:xfrm>
            <a:off x="7315200" y="317296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con FaBuildingColumns 23" descr="FaBuildingColumn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40930" y="3298698"/>
            <a:ext cx="251460" cy="251460"/>
          </a:xfrm>
          <a:prstGeom prst="rect">
            <a:avLst/>
          </a:prstGeom>
        </p:spPr>
      </p:pic>
      <p:sp>
        <p:nvSpPr>
          <p:cNvPr id="17" name="Why item 24"/>
          <p:cNvSpPr txBox="1"/>
          <p:nvPr/>
        </p:nvSpPr>
        <p:spPr>
          <a:xfrm>
            <a:off x="8001000" y="3172968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Fortalece tu universidad.</a:t>
            </a:r>
            <a:endParaRPr lang="en-US" sz="1500" dirty="0"/>
          </a:p>
        </p:txBody>
      </p:sp>
      <p:sp>
        <p:nvSpPr>
          <p:cNvPr id="18" name="Icon circle 25"/>
          <p:cNvSpPr/>
          <p:nvPr/>
        </p:nvSpPr>
        <p:spPr>
          <a:xfrm>
            <a:off x="7315200" y="3877056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9" name="Icon FaRankingStar 26" descr="FaRankingSta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40930" y="4002786"/>
            <a:ext cx="251460" cy="251460"/>
          </a:xfrm>
          <a:prstGeom prst="rect">
            <a:avLst/>
          </a:prstGeom>
        </p:spPr>
      </p:pic>
      <p:sp>
        <p:nvSpPr>
          <p:cNvPr id="20" name="Why item 27"/>
          <p:cNvSpPr txBox="1"/>
          <p:nvPr/>
        </p:nvSpPr>
        <p:spPr>
          <a:xfrm>
            <a:off x="8001000" y="3877056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Desarrollas habilidades de liderazgo.</a:t>
            </a:r>
            <a:endParaRPr lang="en-US" sz="1500" dirty="0"/>
          </a:p>
        </p:txBody>
      </p:sp>
      <p:sp>
        <p:nvSpPr>
          <p:cNvPr id="21" name="Icon circle 28"/>
          <p:cNvSpPr/>
          <p:nvPr/>
        </p:nvSpPr>
        <p:spPr>
          <a:xfrm>
            <a:off x="7315200" y="4581144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2" name="Icon FaGift 29" descr="FaGif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40930" y="4706874"/>
            <a:ext cx="251460" cy="251460"/>
          </a:xfrm>
          <a:prstGeom prst="rect">
            <a:avLst/>
          </a:prstGeom>
        </p:spPr>
      </p:pic>
      <p:sp>
        <p:nvSpPr>
          <p:cNvPr id="23" name="Why item 30"/>
          <p:cNvSpPr txBox="1"/>
          <p:nvPr/>
        </p:nvSpPr>
        <p:spPr>
          <a:xfrm>
            <a:off x="8001000" y="4581144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Obtienes incentivos y reconocimientos.</a:t>
            </a:r>
            <a:endParaRPr lang="en-US" sz="1500" dirty="0"/>
          </a:p>
        </p:txBody>
      </p:sp>
      <p:sp>
        <p:nvSpPr>
          <p:cNvPr id="24" name="Icon circle 31"/>
          <p:cNvSpPr/>
          <p:nvPr/>
        </p:nvSpPr>
        <p:spPr>
          <a:xfrm>
            <a:off x="7315200" y="528523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Icon FaStar 32" descr="FaSta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40930" y="5410962"/>
            <a:ext cx="251460" cy="251460"/>
          </a:xfrm>
          <a:prstGeom prst="rect">
            <a:avLst/>
          </a:prstGeom>
        </p:spPr>
      </p:pic>
      <p:sp>
        <p:nvSpPr>
          <p:cNvPr id="26" name="Why item 33"/>
          <p:cNvSpPr txBox="1"/>
          <p:nvPr/>
        </p:nvSpPr>
        <p:spPr>
          <a:xfrm>
            <a:off x="8001000" y="5285232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Vives experiencias únicas.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8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7" grpId="0" animBg="1"/>
      <p:bldP spid="18" grpId="0" animBg="1"/>
      <p:bldP spid="20" grpId="0" animBg="1"/>
      <p:bldP spid="21" grpId="0" animBg="1"/>
      <p:bldP spid="23" grpId="0" animBg="1"/>
      <p:bldP spid="24" grpId="0" animBg="1"/>
      <p:bldP spid="2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6" type="title" hasCustomPrompt="1"/>
          </p:nvPr>
        </p:nvSpPr>
        <p:spPr>
          <a:xfrm>
            <a:off x="548640" y="566928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basa en 3 perfiles</a:t>
            </a:r>
            <a:endParaRPr lang="en-US" sz="3400" dirty="0"/>
          </a:p>
        </p:txBody>
      </p:sp>
      <p:sp>
        <p:nvSpPr>
          <p:cNvPr id="3" name="Profile card 34"/>
          <p:cNvSpPr/>
          <p:nvPr/>
        </p:nvSpPr>
        <p:spPr>
          <a:xfrm>
            <a:off x="548640" y="1554480"/>
            <a:ext cx="3511296" cy="4526280"/>
          </a:xfrm>
          <a:prstGeom prst="roundRect">
            <a:avLst>
              <a:gd name="adj" fmla="val 3906"/>
            </a:avLst>
          </a:prstGeom>
          <a:solidFill>
            <a:schemeClr val="bg2"/>
          </a:solidFill>
          <a:ln/>
        </p:spPr>
      </p:sp>
      <p:sp>
        <p:nvSpPr>
          <p:cNvPr id="4" name="Icon circle 35"/>
          <p:cNvSpPr/>
          <p:nvPr/>
        </p:nvSpPr>
        <p:spPr>
          <a:xfrm>
            <a:off x="868680" y="187452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 FaShareNodes 36" descr="FaShareNod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990" y="2068830"/>
            <a:ext cx="388620" cy="388620"/>
          </a:xfrm>
          <a:prstGeom prst="rect">
            <a:avLst/>
          </a:prstGeom>
        </p:spPr>
      </p:pic>
      <p:sp>
        <p:nvSpPr>
          <p:cNvPr id="6" name="Profile kicker 37"/>
          <p:cNvSpPr txBox="1"/>
          <p:nvPr/>
        </p:nvSpPr>
        <p:spPr>
          <a:xfrm>
            <a:off x="868680" y="2816352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1"/>
                </a:solidFill>
              </a:rPr>
              <a:t>EMBAJADOR</a:t>
            </a:r>
            <a:endParaRPr lang="en-US" sz="1200" dirty="0"/>
          </a:p>
        </p:txBody>
      </p:sp>
      <p:sp>
        <p:nvSpPr>
          <p:cNvPr id="7" name="Profile name 38"/>
          <p:cNvSpPr txBox="1"/>
          <p:nvPr/>
        </p:nvSpPr>
        <p:spPr>
          <a:xfrm>
            <a:off x="868680" y="3090672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CONECTA</a:t>
            </a:r>
            <a:endParaRPr lang="en-US" sz="2800" dirty="0"/>
          </a:p>
        </p:txBody>
      </p:sp>
      <p:sp>
        <p:nvSpPr>
          <p:cNvPr id="8" name="Profile items 39"/>
          <p:cNvSpPr txBox="1"/>
          <p:nvPr/>
        </p:nvSpPr>
        <p:spPr>
          <a:xfrm>
            <a:off x="868680" y="3794760"/>
            <a:ext cx="2962656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</a:rPr>
              <a:t>Comparte Westhill con amigos, familiares y conocidos.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</a:rPr>
              <a:t>Invita a eventos.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</a:rPr>
              <a:t>Genera prospectos con tu código o enlace personal.</a:t>
            </a:r>
            <a:endParaRPr lang="en-US" sz="1400" dirty="0"/>
          </a:p>
        </p:txBody>
      </p:sp>
      <p:sp>
        <p:nvSpPr>
          <p:cNvPr id="9" name="Profile card 40"/>
          <p:cNvSpPr/>
          <p:nvPr/>
        </p:nvSpPr>
        <p:spPr>
          <a:xfrm>
            <a:off x="4361688" y="1554480"/>
            <a:ext cx="3511296" cy="4526280"/>
          </a:xfrm>
          <a:prstGeom prst="roundRect">
            <a:avLst>
              <a:gd name="adj" fmla="val 3906"/>
            </a:avLst>
          </a:prstGeom>
          <a:solidFill>
            <a:schemeClr val="bg2"/>
          </a:solidFill>
          <a:ln/>
        </p:spPr>
      </p:sp>
      <p:sp>
        <p:nvSpPr>
          <p:cNvPr id="10" name="Icon circle 41"/>
          <p:cNvSpPr/>
          <p:nvPr/>
        </p:nvSpPr>
        <p:spPr>
          <a:xfrm>
            <a:off x="4681728" y="187452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con FaUserGraduate 42" descr="FaUserGradua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6038" y="2068830"/>
            <a:ext cx="388620" cy="388620"/>
          </a:xfrm>
          <a:prstGeom prst="rect">
            <a:avLst/>
          </a:prstGeom>
        </p:spPr>
      </p:pic>
      <p:sp>
        <p:nvSpPr>
          <p:cNvPr id="12" name="Profile kicker 43"/>
          <p:cNvSpPr txBox="1"/>
          <p:nvPr/>
        </p:nvSpPr>
        <p:spPr>
          <a:xfrm>
            <a:off x="4681728" y="2816352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1"/>
                </a:solidFill>
              </a:rPr>
              <a:t>EMBAJADOR</a:t>
            </a:r>
            <a:endParaRPr lang="en-US" sz="1200" dirty="0"/>
          </a:p>
        </p:txBody>
      </p:sp>
      <p:sp>
        <p:nvSpPr>
          <p:cNvPr id="13" name="Profile name 44"/>
          <p:cNvSpPr txBox="1"/>
          <p:nvPr/>
        </p:nvSpPr>
        <p:spPr>
          <a:xfrm>
            <a:off x="4681728" y="3090672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EXPERIENCIA</a:t>
            </a:r>
            <a:endParaRPr lang="en-US" sz="2800" dirty="0"/>
          </a:p>
        </p:txBody>
      </p:sp>
      <p:sp>
        <p:nvSpPr>
          <p:cNvPr id="14" name="Profile items 45"/>
          <p:cNvSpPr txBox="1"/>
          <p:nvPr/>
        </p:nvSpPr>
        <p:spPr>
          <a:xfrm>
            <a:off x="4681728" y="3794760"/>
            <a:ext cx="2962656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</a:rPr>
              <a:t>Participa en eventos, ferias y webinars.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</a:rPr>
              <a:t>Comparte tu experiencia como estudiante.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</a:rPr>
              <a:t>Graba testimonios y contenido.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</a:rPr>
              <a:t>Acompaña a prospectos en visitas.</a:t>
            </a:r>
            <a:endParaRPr lang="en-US" sz="1400" dirty="0"/>
          </a:p>
        </p:txBody>
      </p:sp>
      <p:sp>
        <p:nvSpPr>
          <p:cNvPr id="15" name="Profile card 46"/>
          <p:cNvSpPr/>
          <p:nvPr/>
        </p:nvSpPr>
        <p:spPr>
          <a:xfrm>
            <a:off x="8174736" y="1554480"/>
            <a:ext cx="3511296" cy="4526280"/>
          </a:xfrm>
          <a:prstGeom prst="roundRect">
            <a:avLst>
              <a:gd name="adj" fmla="val 3906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38100" dir="5400000">
              <a:srgbClr val="0E2A47">
                <a:alpha val="14000"/>
              </a:srgbClr>
            </a:outerShdw>
          </a:effectLst>
        </p:spPr>
      </p:sp>
      <p:pic>
        <p:nvPicPr>
          <p:cNvPr id="16" name="Watermark FaCrown 4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94392" y="1783080"/>
            <a:ext cx="1463040" cy="1463040"/>
          </a:xfrm>
          <a:prstGeom prst="rect">
            <a:avLst/>
          </a:prstGeom>
        </p:spPr>
      </p:pic>
      <p:sp>
        <p:nvSpPr>
          <p:cNvPr id="17" name="Icon circle 48"/>
          <p:cNvSpPr/>
          <p:nvPr/>
        </p:nvSpPr>
        <p:spPr>
          <a:xfrm>
            <a:off x="8494776" y="1874520"/>
            <a:ext cx="777240" cy="7772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8" name="Icon FaCrown 49" descr="FaC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9086" y="2068830"/>
            <a:ext cx="388620" cy="388620"/>
          </a:xfrm>
          <a:prstGeom prst="rect">
            <a:avLst/>
          </a:prstGeom>
        </p:spPr>
      </p:pic>
      <p:sp>
        <p:nvSpPr>
          <p:cNvPr id="19" name="Profile kicker 50"/>
          <p:cNvSpPr txBox="1"/>
          <p:nvPr/>
        </p:nvSpPr>
        <p:spPr>
          <a:xfrm>
            <a:off x="8494776" y="2816352"/>
            <a:ext cx="2871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2"/>
                </a:solidFill>
              </a:rPr>
              <a:t>EMBAJADOR</a:t>
            </a:r>
            <a:endParaRPr lang="en-US" sz="1200" dirty="0"/>
          </a:p>
        </p:txBody>
      </p:sp>
      <p:sp>
        <p:nvSpPr>
          <p:cNvPr id="20" name="Profile name 51"/>
          <p:cNvSpPr txBox="1"/>
          <p:nvPr/>
        </p:nvSpPr>
        <p:spPr>
          <a:xfrm>
            <a:off x="8494776" y="3090672"/>
            <a:ext cx="28712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LÍDER</a:t>
            </a:r>
            <a:endParaRPr lang="en-US" sz="2800" dirty="0"/>
          </a:p>
        </p:txBody>
      </p:sp>
      <p:sp>
        <p:nvSpPr>
          <p:cNvPr id="21" name="Profile items 52"/>
          <p:cNvSpPr txBox="1"/>
          <p:nvPr/>
        </p:nvSpPr>
        <p:spPr>
          <a:xfrm>
            <a:off x="8494776" y="3794760"/>
            <a:ext cx="2962656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</a:rPr>
              <a:t>Es un alumno destacado que representa a Westhill.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</a:rPr>
              <a:t>Participa en campañas institucionales.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</a:rPr>
              <a:t>Apoya en eventos de atracción.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</a:rPr>
              <a:t>Puede ser parte de videos y material de promoción.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7" grpId="0" animBg="1"/>
      <p:bldP spid="19" grpId="0" animBg="1"/>
      <p:bldP spid="20" grpId="0" animBg="1"/>
      <p:bldP spid="2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6" type="title" hasCustomPrompt="1"/>
          </p:nvPr>
        </p:nvSpPr>
        <p:spPr>
          <a:xfrm>
            <a:off x="548640" y="566928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¿Cómo funciona?</a:t>
            </a:r>
            <a:endParaRPr lang="en-US" sz="3400" dirty="0"/>
          </a:p>
        </p:txBody>
      </p:sp>
      <p:sp>
        <p:nvSpPr>
          <p:cNvPr id="3" name="Step card 53"/>
          <p:cNvSpPr/>
          <p:nvPr/>
        </p:nvSpPr>
        <p:spPr>
          <a:xfrm>
            <a:off x="548640" y="1783080"/>
            <a:ext cx="2514600" cy="393192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4" name="Step number 54"/>
          <p:cNvSpPr txBox="1"/>
          <p:nvPr/>
        </p:nvSpPr>
        <p:spPr>
          <a:xfrm>
            <a:off x="822960" y="2011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600" dirty="0"/>
          </a:p>
        </p:txBody>
      </p:sp>
      <p:sp>
        <p:nvSpPr>
          <p:cNvPr id="5" name="Icon circle 55"/>
          <p:cNvSpPr/>
          <p:nvPr/>
        </p:nvSpPr>
        <p:spPr>
          <a:xfrm>
            <a:off x="2011680" y="201168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 FaQrcode 56" descr="FaQr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05990" y="2205990"/>
            <a:ext cx="388620" cy="388620"/>
          </a:xfrm>
          <a:prstGeom prst="rect">
            <a:avLst/>
          </a:prstGeom>
        </p:spPr>
      </p:pic>
      <p:sp>
        <p:nvSpPr>
          <p:cNvPr id="7" name="Step head 57"/>
          <p:cNvSpPr txBox="1"/>
          <p:nvPr/>
        </p:nvSpPr>
        <p:spPr>
          <a:xfrm>
            <a:off x="822960" y="320040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Comparte</a:t>
            </a:r>
            <a:endParaRPr lang="en-US" sz="2200" dirty="0"/>
          </a:p>
        </p:txBody>
      </p:sp>
      <p:sp>
        <p:nvSpPr>
          <p:cNvPr id="8" name="Step body 58"/>
          <p:cNvSpPr txBox="1"/>
          <p:nvPr/>
        </p:nvSpPr>
        <p:spPr>
          <a:xfrm>
            <a:off x="822960" y="4114800"/>
            <a:ext cx="1965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QR personalizado</a:t>
            </a:r>
            <a:endParaRPr lang="en-US" sz="1700" dirty="0"/>
          </a:p>
        </p:txBody>
      </p:sp>
      <p:sp>
        <p:nvSpPr>
          <p:cNvPr id="9" name="Icon circle 59"/>
          <p:cNvSpPr/>
          <p:nvPr/>
        </p:nvSpPr>
        <p:spPr>
          <a:xfrm>
            <a:off x="3022092" y="3547872"/>
            <a:ext cx="402336" cy="402336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Icon FaChevronRight 60" descr="FaChevronRigh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2734" y="3658514"/>
            <a:ext cx="181051" cy="181051"/>
          </a:xfrm>
          <a:prstGeom prst="rect">
            <a:avLst/>
          </a:prstGeom>
        </p:spPr>
      </p:pic>
      <p:sp>
        <p:nvSpPr>
          <p:cNvPr id="11" name="Step card 61"/>
          <p:cNvSpPr/>
          <p:nvPr/>
        </p:nvSpPr>
        <p:spPr>
          <a:xfrm>
            <a:off x="3383280" y="1783080"/>
            <a:ext cx="2514600" cy="393192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2" name="Step number 62"/>
          <p:cNvSpPr txBox="1"/>
          <p:nvPr/>
        </p:nvSpPr>
        <p:spPr>
          <a:xfrm>
            <a:off x="3657600" y="2011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600" dirty="0"/>
          </a:p>
        </p:txBody>
      </p:sp>
      <p:sp>
        <p:nvSpPr>
          <p:cNvPr id="13" name="Icon circle 63"/>
          <p:cNvSpPr/>
          <p:nvPr/>
        </p:nvSpPr>
        <p:spPr>
          <a:xfrm>
            <a:off x="4846320" y="201168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con FaCalendarCheck 64" descr="FaCalendar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0630" y="2205990"/>
            <a:ext cx="388620" cy="388620"/>
          </a:xfrm>
          <a:prstGeom prst="rect">
            <a:avLst/>
          </a:prstGeom>
        </p:spPr>
      </p:pic>
      <p:sp>
        <p:nvSpPr>
          <p:cNvPr id="15" name="Step head 65"/>
          <p:cNvSpPr txBox="1"/>
          <p:nvPr/>
        </p:nvSpPr>
        <p:spPr>
          <a:xfrm>
            <a:off x="3657600" y="320040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Tus referidos</a:t>
            </a:r>
            <a:endParaRPr lang="en-US" sz="2200" dirty="0"/>
          </a:p>
        </p:txBody>
      </p:sp>
      <p:sp>
        <p:nvSpPr>
          <p:cNvPr id="16" name="Step body 66"/>
          <p:cNvSpPr txBox="1"/>
          <p:nvPr/>
        </p:nvSpPr>
        <p:spPr>
          <a:xfrm>
            <a:off x="3657600" y="4114800"/>
            <a:ext cx="1965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Agendan su visita</a:t>
            </a:r>
            <a:endParaRPr lang="en-US" sz="1700" dirty="0"/>
          </a:p>
        </p:txBody>
      </p:sp>
      <p:sp>
        <p:nvSpPr>
          <p:cNvPr id="17" name="Icon circle 67"/>
          <p:cNvSpPr/>
          <p:nvPr/>
        </p:nvSpPr>
        <p:spPr>
          <a:xfrm>
            <a:off x="5856732" y="3547872"/>
            <a:ext cx="402336" cy="402336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8" name="Icon FaChevronRight 68" descr="FaChevronR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7374" y="3658514"/>
            <a:ext cx="181051" cy="181051"/>
          </a:xfrm>
          <a:prstGeom prst="rect">
            <a:avLst/>
          </a:prstGeom>
        </p:spPr>
      </p:pic>
      <p:sp>
        <p:nvSpPr>
          <p:cNvPr id="19" name="Step card 69"/>
          <p:cNvSpPr/>
          <p:nvPr/>
        </p:nvSpPr>
        <p:spPr>
          <a:xfrm>
            <a:off x="6217920" y="1783080"/>
            <a:ext cx="2514600" cy="3931920"/>
          </a:xfrm>
          <a:prstGeom prst="roundRect">
            <a:avLst>
              <a:gd name="adj" fmla="val 545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38100" dir="5400000">
              <a:srgbClr val="0E2A47">
                <a:alpha val="14000"/>
              </a:srgbClr>
            </a:outerShdw>
          </a:effectLst>
        </p:spPr>
      </p:sp>
      <p:sp>
        <p:nvSpPr>
          <p:cNvPr id="20" name="Step number 70"/>
          <p:cNvSpPr txBox="1"/>
          <p:nvPr/>
        </p:nvSpPr>
        <p:spPr>
          <a:xfrm>
            <a:off x="6492240" y="2011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600" dirty="0"/>
          </a:p>
        </p:txBody>
      </p:sp>
      <p:sp>
        <p:nvSpPr>
          <p:cNvPr id="21" name="Icon circle 71"/>
          <p:cNvSpPr/>
          <p:nvPr/>
        </p:nvSpPr>
        <p:spPr>
          <a:xfrm>
            <a:off x="7680960" y="2011680"/>
            <a:ext cx="777240" cy="7772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2" name="Icon FaMoneyBillWave 72" descr="FaMoneyBillWav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75270" y="2205990"/>
            <a:ext cx="388620" cy="388620"/>
          </a:xfrm>
          <a:prstGeom prst="rect">
            <a:avLst/>
          </a:prstGeom>
        </p:spPr>
      </p:pic>
      <p:sp>
        <p:nvSpPr>
          <p:cNvPr id="23" name="Step head 73"/>
          <p:cNvSpPr txBox="1"/>
          <p:nvPr/>
        </p:nvSpPr>
        <p:spPr>
          <a:xfrm>
            <a:off x="6492240" y="320040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se inscribe</a:t>
            </a:r>
            <a:endParaRPr lang="en-US" sz="2200" dirty="0"/>
          </a:p>
        </p:txBody>
      </p:sp>
      <p:pic>
        <p:nvPicPr>
          <p:cNvPr id="24" name="Watermark FaMoneyBillWave 7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2360" y="4572000"/>
            <a:ext cx="1005840" cy="1005840"/>
          </a:xfrm>
          <a:prstGeom prst="rect">
            <a:avLst/>
          </a:prstGeom>
        </p:spPr>
      </p:pic>
      <p:sp>
        <p:nvSpPr>
          <p:cNvPr id="25" name="Step body 75"/>
          <p:cNvSpPr txBox="1"/>
          <p:nvPr/>
        </p:nvSpPr>
        <p:spPr>
          <a:xfrm>
            <a:off x="6492240" y="4114800"/>
            <a:ext cx="1965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Recibes un Bono económico</a:t>
            </a:r>
            <a:endParaRPr lang="en-US" sz="1700" dirty="0"/>
          </a:p>
        </p:txBody>
      </p:sp>
      <p:sp>
        <p:nvSpPr>
          <p:cNvPr id="26" name="Icon circle 76"/>
          <p:cNvSpPr/>
          <p:nvPr/>
        </p:nvSpPr>
        <p:spPr>
          <a:xfrm>
            <a:off x="8691372" y="3547872"/>
            <a:ext cx="402336" cy="402336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7" name="Icon FaChevronRight 77" descr="FaChevronRigh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02014" y="3658514"/>
            <a:ext cx="181051" cy="181051"/>
          </a:xfrm>
          <a:prstGeom prst="rect">
            <a:avLst/>
          </a:prstGeom>
        </p:spPr>
      </p:pic>
      <p:sp>
        <p:nvSpPr>
          <p:cNvPr id="28" name="Step card 78"/>
          <p:cNvSpPr/>
          <p:nvPr/>
        </p:nvSpPr>
        <p:spPr>
          <a:xfrm>
            <a:off x="9052560" y="1783080"/>
            <a:ext cx="2514600" cy="393192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9" name="Step number 79"/>
          <p:cNvSpPr txBox="1"/>
          <p:nvPr/>
        </p:nvSpPr>
        <p:spPr>
          <a:xfrm>
            <a:off x="9326880" y="20116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600" dirty="0"/>
          </a:p>
        </p:txBody>
      </p:sp>
      <p:sp>
        <p:nvSpPr>
          <p:cNvPr id="30" name="Icon circle 80"/>
          <p:cNvSpPr/>
          <p:nvPr/>
        </p:nvSpPr>
        <p:spPr>
          <a:xfrm>
            <a:off x="10515600" y="201168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1" name="Icon FaTrophy 81" descr="FaTrophy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09910" y="2205990"/>
            <a:ext cx="388620" cy="388620"/>
          </a:xfrm>
          <a:prstGeom prst="rect">
            <a:avLst/>
          </a:prstGeom>
        </p:spPr>
      </p:pic>
      <p:sp>
        <p:nvSpPr>
          <p:cNvPr id="32" name="Step head 82"/>
          <p:cNvSpPr txBox="1"/>
          <p:nvPr/>
        </p:nvSpPr>
        <p:spPr>
          <a:xfrm>
            <a:off x="9326880" y="3200400"/>
            <a:ext cx="1965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Acumulas Puntos.</a:t>
            </a:r>
            <a:endParaRPr lang="en-US" sz="2200" dirty="0"/>
          </a:p>
        </p:txBody>
      </p:sp>
      <p:sp>
        <p:nvSpPr>
          <p:cNvPr id="33" name="Step body 83"/>
          <p:cNvSpPr txBox="1"/>
          <p:nvPr/>
        </p:nvSpPr>
        <p:spPr>
          <a:xfrm>
            <a:off x="9326880" y="4114800"/>
            <a:ext cx="1965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chemeClr val="tx1"/>
                </a:solidFill>
              </a:rPr>
              <a:t>Subes de nivel</a:t>
            </a:r>
            <a:endParaRPr lang="en-US" sz="1700" dirty="0"/>
          </a:p>
          <a:p>
            <a:pPr marL="203200" indent="-2032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chemeClr val="tx1"/>
                </a:solidFill>
              </a:rPr>
              <a:t>Beneficios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6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1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6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6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6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1" dur="6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2" dur="6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6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6" dur="6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7" dur="6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6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1" dur="6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2" dur="6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6" dur="6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7" dur="6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7" grpId="0" animBg="1"/>
      <p:bldP spid="8" grpId="0" animBg="1"/>
      <p:bldP spid="9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  <p:bldP spid="23" grpId="0" animBg="1"/>
      <p:bldP spid="25" grpId="0" animBg="1"/>
      <p:bldP spid="26" grpId="0" animBg="1"/>
      <p:bldP spid="28" grpId="0" animBg="1"/>
      <p:bldP spid="29" grpId="0" animBg="1"/>
      <p:bldP spid="30" grpId="0" animBg="1"/>
      <p:bldP spid="32" grpId="0" animBg="1"/>
      <p:bldP spid="3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6" type="title" hasCustomPrompt="1"/>
          </p:nvPr>
        </p:nvSpPr>
        <p:spPr>
          <a:xfrm>
            <a:off x="548640" y="566928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de puntos</a:t>
            </a:r>
            <a:endParaRPr lang="en-US" sz="3400" dirty="0"/>
          </a:p>
        </p:txBody>
      </p:sp>
      <p:graphicFrame>
        <p:nvGraphicFramePr>
          <p:cNvPr id="6" name="Points table 8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667512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155448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Actividades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Puntos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Registrar un referido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Referido asiste a eventos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Referido agenda entrevista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Referido inicia admisión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Referido se inscribe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tx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Participar en eventos promocionales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Participar en ferias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Grabar testimonios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Invitar a 5 prospectos a un evento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Bonus card 85"/>
          <p:cNvSpPr/>
          <p:nvPr/>
        </p:nvSpPr>
        <p:spPr>
          <a:xfrm>
            <a:off x="7635240" y="1554480"/>
            <a:ext cx="4007815" cy="4297680"/>
          </a:xfrm>
          <a:prstGeom prst="roundRect">
            <a:avLst>
              <a:gd name="adj" fmla="val 3422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38100" dir="5400000">
              <a:srgbClr val="0E2A47">
                <a:alpha val="14000"/>
              </a:srgbClr>
            </a:outerShdw>
          </a:effectLst>
        </p:spPr>
      </p:sp>
      <p:sp>
        <p:nvSpPr>
          <p:cNvPr id="5" name="Icon circle 86"/>
          <p:cNvSpPr/>
          <p:nvPr/>
        </p:nvSpPr>
        <p:spPr>
          <a:xfrm>
            <a:off x="7955280" y="178308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Icon FaMoneyBillWave 87" descr="FaMoneyBillWa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5300" y="1943100"/>
            <a:ext cx="320040" cy="320040"/>
          </a:xfrm>
          <a:prstGeom prst="rect">
            <a:avLst/>
          </a:prstGeom>
        </p:spPr>
      </p:pic>
      <p:sp>
        <p:nvSpPr>
          <p:cNvPr id="7" name="Bonus label 88"/>
          <p:cNvSpPr txBox="1"/>
          <p:nvPr/>
        </p:nvSpPr>
        <p:spPr>
          <a:xfrm>
            <a:off x="8732520" y="1783080"/>
            <a:ext cx="2727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00" kern="0" dirty="0">
                <a:solidFill>
                  <a:schemeClr val="accent2"/>
                </a:solidFill>
              </a:rPr>
              <a:t>BONO ECONÓMICO</a:t>
            </a:r>
            <a:endParaRPr lang="en-US" sz="1700" dirty="0"/>
          </a:p>
        </p:txBody>
      </p:sp>
      <p:sp>
        <p:nvSpPr>
          <p:cNvPr id="8" name="Bonus amount 89"/>
          <p:cNvSpPr txBox="1"/>
          <p:nvPr/>
        </p:nvSpPr>
        <p:spPr>
          <a:xfrm>
            <a:off x="7955280" y="26974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$2,000</a:t>
            </a:r>
            <a:endParaRPr lang="en-US" sz="3200" dirty="0"/>
          </a:p>
        </p:txBody>
      </p:sp>
      <p:sp>
        <p:nvSpPr>
          <p:cNvPr id="9" name="Bonus label 90"/>
          <p:cNvSpPr txBox="1"/>
          <p:nvPr/>
        </p:nvSpPr>
        <p:spPr>
          <a:xfrm>
            <a:off x="9829800" y="269748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1 invitado inscrito</a:t>
            </a:r>
            <a:endParaRPr lang="en-US" sz="1500" dirty="0"/>
          </a:p>
        </p:txBody>
      </p:sp>
      <p:sp>
        <p:nvSpPr>
          <p:cNvPr id="10" name="Divider 91"/>
          <p:cNvSpPr/>
          <p:nvPr/>
        </p:nvSpPr>
        <p:spPr>
          <a:xfrm>
            <a:off x="7955280" y="3474720"/>
            <a:ext cx="3367735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11" name="Bonus amount 92"/>
          <p:cNvSpPr txBox="1"/>
          <p:nvPr/>
        </p:nvSpPr>
        <p:spPr>
          <a:xfrm>
            <a:off x="7955280" y="37033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$3,500</a:t>
            </a:r>
            <a:endParaRPr lang="en-US" sz="3200" dirty="0"/>
          </a:p>
        </p:txBody>
      </p:sp>
      <p:sp>
        <p:nvSpPr>
          <p:cNvPr id="12" name="Bonus label 93"/>
          <p:cNvSpPr txBox="1"/>
          <p:nvPr/>
        </p:nvSpPr>
        <p:spPr>
          <a:xfrm>
            <a:off x="9829800" y="370332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2 invitados inscritos</a:t>
            </a:r>
            <a:endParaRPr lang="en-US" sz="1500" dirty="0"/>
          </a:p>
        </p:txBody>
      </p:sp>
      <p:sp>
        <p:nvSpPr>
          <p:cNvPr id="13" name="Divider 94"/>
          <p:cNvSpPr/>
          <p:nvPr/>
        </p:nvSpPr>
        <p:spPr>
          <a:xfrm>
            <a:off x="7955280" y="4480560"/>
            <a:ext cx="3367735" cy="0"/>
          </a:xfrm>
          <a:prstGeom prst="line">
            <a:avLst/>
          </a:prstGeom>
          <a:noFill/>
          <a:ln w="12700">
            <a:solidFill>
              <a:schemeClr val="accent4"/>
            </a:solidFill>
            <a:prstDash val="solid"/>
          </a:ln>
        </p:spPr>
      </p:sp>
      <p:sp>
        <p:nvSpPr>
          <p:cNvPr id="14" name="Bonus amount 95"/>
          <p:cNvSpPr txBox="1"/>
          <p:nvPr/>
        </p:nvSpPr>
        <p:spPr>
          <a:xfrm>
            <a:off x="7955280" y="47091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$5,000</a:t>
            </a:r>
            <a:endParaRPr lang="en-US" sz="3200" dirty="0"/>
          </a:p>
        </p:txBody>
      </p:sp>
      <p:sp>
        <p:nvSpPr>
          <p:cNvPr id="15" name="Bonus label 96"/>
          <p:cNvSpPr txBox="1"/>
          <p:nvPr/>
        </p:nvSpPr>
        <p:spPr>
          <a:xfrm>
            <a:off x="9829800" y="470916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3 invitados inscritos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6" type="title" hasCustomPrompt="1"/>
          </p:nvPr>
        </p:nvSpPr>
        <p:spPr>
          <a:xfrm>
            <a:off x="548640" y="566928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recorrido del embajador</a:t>
            </a:r>
            <a:endParaRPr lang="en-US" sz="3400" dirty="0"/>
          </a:p>
        </p:txBody>
      </p:sp>
      <p:sp>
        <p:nvSpPr>
          <p:cNvPr id="3" name="Subtitle 97"/>
          <p:cNvSpPr txBox="1"/>
          <p:nvPr/>
        </p:nvSpPr>
        <p:spPr>
          <a:xfrm>
            <a:off x="548640" y="132588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El verdadero valor del programa es el siguiente recorrido:</a:t>
            </a:r>
            <a:endParaRPr lang="en-US" sz="1800" dirty="0"/>
          </a:p>
        </p:txBody>
      </p:sp>
      <p:pic>
        <p:nvPicPr>
          <p:cNvPr id="4" name="Paw print 98" descr="Huella">    </p:cNvPr>
          <p:cNvPicPr>
            <a:picLocks noChangeAspect="1"/>
          </p:cNvPicPr>
          <p:nvPr/>
        </p:nvPicPr>
        <p:blipFill>
          <a:blip r:embed="rId1">
            <a:alphaModFix amt="70000"/>
          </a:blip>
          <a:stretch>
            <a:fillRect/>
          </a:stretch>
        </p:blipFill>
        <p:spPr>
          <a:xfrm rot="9000000">
            <a:off x="1883664" y="3867912"/>
            <a:ext cx="347472" cy="308643"/>
          </a:xfrm>
          <a:prstGeom prst="rect">
            <a:avLst/>
          </a:prstGeom>
        </p:spPr>
      </p:pic>
      <p:pic>
        <p:nvPicPr>
          <p:cNvPr id="5" name="Paw print 99" descr="Huella">    </p:cNvPr>
          <p:cNvPicPr>
            <a:picLocks noChangeAspect="1"/>
          </p:cNvPicPr>
          <p:nvPr/>
        </p:nvPicPr>
        <p:blipFill>
          <a:blip r:embed="rId2">
            <a:alphaModFix amt="70000"/>
          </a:blip>
          <a:stretch>
            <a:fillRect/>
          </a:stretch>
        </p:blipFill>
        <p:spPr>
          <a:xfrm rot="1800000">
            <a:off x="3529584" y="3867912"/>
            <a:ext cx="347472" cy="308643"/>
          </a:xfrm>
          <a:prstGeom prst="rect">
            <a:avLst/>
          </a:prstGeom>
        </p:spPr>
      </p:pic>
      <p:pic>
        <p:nvPicPr>
          <p:cNvPr id="6" name="Paw print 100" descr="Huella">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 rot="9000000">
            <a:off x="5175504" y="3867912"/>
            <a:ext cx="347472" cy="308643"/>
          </a:xfrm>
          <a:prstGeom prst="rect">
            <a:avLst/>
          </a:prstGeom>
        </p:spPr>
      </p:pic>
      <p:pic>
        <p:nvPicPr>
          <p:cNvPr id="7" name="Paw print 101" descr="Huella">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 rot="1800000">
            <a:off x="6821424" y="3867912"/>
            <a:ext cx="347472" cy="308643"/>
          </a:xfrm>
          <a:prstGeom prst="rect">
            <a:avLst/>
          </a:prstGeom>
        </p:spPr>
      </p:pic>
      <p:pic>
        <p:nvPicPr>
          <p:cNvPr id="8" name="Paw print 102" descr="Huella">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 rot="9000000">
            <a:off x="8467344" y="3867912"/>
            <a:ext cx="347472" cy="308643"/>
          </a:xfrm>
          <a:prstGeom prst="rect">
            <a:avLst/>
          </a:prstGeom>
        </p:spPr>
      </p:pic>
      <p:pic>
        <p:nvPicPr>
          <p:cNvPr id="9" name="Paw print 103" descr="Huella">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 rot="1800000">
            <a:off x="10113264" y="3867912"/>
            <a:ext cx="347472" cy="308643"/>
          </a:xfrm>
          <a:prstGeom prst="rect">
            <a:avLst/>
          </a:prstGeom>
        </p:spPr>
      </p:pic>
      <p:sp>
        <p:nvSpPr>
          <p:cNvPr id="10" name="Journey node 104"/>
          <p:cNvSpPr/>
          <p:nvPr/>
        </p:nvSpPr>
        <p:spPr>
          <a:xfrm>
            <a:off x="594360" y="2560320"/>
            <a:ext cx="1280160" cy="1280160"/>
          </a:xfrm>
          <a:prstGeom prst="ellipse">
            <a:avLst/>
          </a:prstGeom>
          <a:solidFill>
            <a:schemeClr val="tx2"/>
          </a:solidFill>
          <a:ln w="317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127000" dist="38100" dir="5400000">
              <a:srgbClr val="0E2A47">
                <a:alpha val="14000"/>
              </a:srgbClr>
            </a:outerShdw>
          </a:effectLst>
        </p:spPr>
      </p:sp>
      <p:pic>
        <p:nvPicPr>
          <p:cNvPr id="11" name="Journey icon 105" descr="Alumno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6404" y="2912364"/>
            <a:ext cx="576072" cy="576072"/>
          </a:xfrm>
          <a:prstGeom prst="rect">
            <a:avLst/>
          </a:prstGeom>
        </p:spPr>
      </p:pic>
      <p:sp>
        <p:nvSpPr>
          <p:cNvPr id="12" name="Journey label 106"/>
          <p:cNvSpPr txBox="1"/>
          <p:nvPr/>
        </p:nvSpPr>
        <p:spPr>
          <a:xfrm>
            <a:off x="365760" y="208483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Alumno</a:t>
            </a:r>
            <a:endParaRPr lang="en-US" sz="1600" dirty="0"/>
          </a:p>
        </p:txBody>
      </p:sp>
      <p:sp>
        <p:nvSpPr>
          <p:cNvPr id="13" name="Journey step 107"/>
          <p:cNvSpPr txBox="1"/>
          <p:nvPr/>
        </p:nvSpPr>
        <p:spPr>
          <a:xfrm>
            <a:off x="1527048" y="35295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Journey node 108"/>
          <p:cNvSpPr/>
          <p:nvPr/>
        </p:nvSpPr>
        <p:spPr>
          <a:xfrm>
            <a:off x="2240280" y="4206240"/>
            <a:ext cx="1280160" cy="1280160"/>
          </a:xfrm>
          <a:prstGeom prst="ellipse">
            <a:avLst/>
          </a:prstGeom>
          <a:solidFill>
            <a:schemeClr val="bg1"/>
          </a:solidFill>
          <a:ln w="317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127000" dist="38100" dir="5400000">
              <a:srgbClr val="0E2A47">
                <a:alpha val="14000"/>
              </a:srgbClr>
            </a:outerShdw>
          </a:effectLst>
        </p:spPr>
      </p:sp>
      <p:pic>
        <p:nvPicPr>
          <p:cNvPr id="15" name="Journey icon 109" descr="Compar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92324" y="4558284"/>
            <a:ext cx="576072" cy="576072"/>
          </a:xfrm>
          <a:prstGeom prst="rect">
            <a:avLst/>
          </a:prstGeom>
        </p:spPr>
      </p:pic>
      <p:sp>
        <p:nvSpPr>
          <p:cNvPr id="16" name="Journey label 110"/>
          <p:cNvSpPr txBox="1"/>
          <p:nvPr/>
        </p:nvSpPr>
        <p:spPr>
          <a:xfrm>
            <a:off x="2011680" y="559612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Comparte</a:t>
            </a:r>
            <a:endParaRPr lang="en-US" sz="1600" dirty="0"/>
          </a:p>
        </p:txBody>
      </p:sp>
      <p:sp>
        <p:nvSpPr>
          <p:cNvPr id="17" name="Journey step 111"/>
          <p:cNvSpPr txBox="1"/>
          <p:nvPr/>
        </p:nvSpPr>
        <p:spPr>
          <a:xfrm>
            <a:off x="3172968" y="413308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8" name="Journey node 112"/>
          <p:cNvSpPr/>
          <p:nvPr/>
        </p:nvSpPr>
        <p:spPr>
          <a:xfrm>
            <a:off x="3886200" y="2560320"/>
            <a:ext cx="1280160" cy="1280160"/>
          </a:xfrm>
          <a:prstGeom prst="ellipse">
            <a:avLst/>
          </a:prstGeom>
          <a:solidFill>
            <a:schemeClr val="bg1"/>
          </a:solidFill>
          <a:ln w="317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127000" dist="38100" dir="5400000">
              <a:srgbClr val="0E2A47">
                <a:alpha val="14000"/>
              </a:srgbClr>
            </a:outerShdw>
          </a:effectLst>
        </p:spPr>
      </p:sp>
      <p:pic>
        <p:nvPicPr>
          <p:cNvPr id="19" name="Journey icon 113" descr="Prospecto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38244" y="2912364"/>
            <a:ext cx="576072" cy="576072"/>
          </a:xfrm>
          <a:prstGeom prst="rect">
            <a:avLst/>
          </a:prstGeom>
        </p:spPr>
      </p:pic>
      <p:sp>
        <p:nvSpPr>
          <p:cNvPr id="20" name="Journey label 114"/>
          <p:cNvSpPr txBox="1"/>
          <p:nvPr/>
        </p:nvSpPr>
        <p:spPr>
          <a:xfrm>
            <a:off x="3657600" y="208483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Prospectos</a:t>
            </a:r>
            <a:endParaRPr lang="en-US" sz="1600" dirty="0"/>
          </a:p>
        </p:txBody>
      </p:sp>
      <p:sp>
        <p:nvSpPr>
          <p:cNvPr id="21" name="Journey step 115"/>
          <p:cNvSpPr txBox="1"/>
          <p:nvPr/>
        </p:nvSpPr>
        <p:spPr>
          <a:xfrm>
            <a:off x="4818888" y="35295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2" name="Journey node 116"/>
          <p:cNvSpPr/>
          <p:nvPr/>
        </p:nvSpPr>
        <p:spPr>
          <a:xfrm>
            <a:off x="5532120" y="4206240"/>
            <a:ext cx="1280160" cy="1280160"/>
          </a:xfrm>
          <a:prstGeom prst="ellipse">
            <a:avLst/>
          </a:prstGeom>
          <a:solidFill>
            <a:schemeClr val="bg1"/>
          </a:solidFill>
          <a:ln w="317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127000" dist="38100" dir="5400000">
              <a:srgbClr val="0E2A47">
                <a:alpha val="14000"/>
              </a:srgbClr>
            </a:outerShdw>
          </a:effectLst>
        </p:spPr>
      </p:sp>
      <p:pic>
        <p:nvPicPr>
          <p:cNvPr id="23" name="Journey icon 117" descr="Evento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84164" y="4558284"/>
            <a:ext cx="576072" cy="576072"/>
          </a:xfrm>
          <a:prstGeom prst="rect">
            <a:avLst/>
          </a:prstGeom>
        </p:spPr>
      </p:pic>
      <p:sp>
        <p:nvSpPr>
          <p:cNvPr id="24" name="Journey label 118"/>
          <p:cNvSpPr txBox="1"/>
          <p:nvPr/>
        </p:nvSpPr>
        <p:spPr>
          <a:xfrm>
            <a:off x="5303520" y="559612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Eventos</a:t>
            </a:r>
            <a:endParaRPr lang="en-US" sz="1600" dirty="0"/>
          </a:p>
        </p:txBody>
      </p:sp>
      <p:sp>
        <p:nvSpPr>
          <p:cNvPr id="25" name="Journey step 119"/>
          <p:cNvSpPr txBox="1"/>
          <p:nvPr/>
        </p:nvSpPr>
        <p:spPr>
          <a:xfrm>
            <a:off x="6464808" y="413308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6" name="Journey node 120"/>
          <p:cNvSpPr/>
          <p:nvPr/>
        </p:nvSpPr>
        <p:spPr>
          <a:xfrm>
            <a:off x="7178040" y="2560320"/>
            <a:ext cx="1280160" cy="1280160"/>
          </a:xfrm>
          <a:prstGeom prst="ellipse">
            <a:avLst/>
          </a:prstGeom>
          <a:solidFill>
            <a:schemeClr val="bg1"/>
          </a:solidFill>
          <a:ln w="317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127000" dist="38100" dir="5400000">
              <a:srgbClr val="0E2A47">
                <a:alpha val="14000"/>
              </a:srgbClr>
            </a:outerShdw>
          </a:effectLst>
        </p:spPr>
      </p:sp>
      <p:pic>
        <p:nvPicPr>
          <p:cNvPr id="27" name="Journey icon 121" descr="Asesor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30084" y="2912364"/>
            <a:ext cx="576072" cy="576072"/>
          </a:xfrm>
          <a:prstGeom prst="rect">
            <a:avLst/>
          </a:prstGeom>
        </p:spPr>
      </p:pic>
      <p:sp>
        <p:nvSpPr>
          <p:cNvPr id="28" name="Journey label 122"/>
          <p:cNvSpPr txBox="1"/>
          <p:nvPr/>
        </p:nvSpPr>
        <p:spPr>
          <a:xfrm>
            <a:off x="6949440" y="208483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Asesor</a:t>
            </a:r>
            <a:endParaRPr lang="en-US" sz="1600" dirty="0"/>
          </a:p>
        </p:txBody>
      </p:sp>
      <p:sp>
        <p:nvSpPr>
          <p:cNvPr id="29" name="Journey step 123"/>
          <p:cNvSpPr txBox="1"/>
          <p:nvPr/>
        </p:nvSpPr>
        <p:spPr>
          <a:xfrm>
            <a:off x="8110728" y="35295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30" name="Journey node 124"/>
          <p:cNvSpPr/>
          <p:nvPr/>
        </p:nvSpPr>
        <p:spPr>
          <a:xfrm>
            <a:off x="8823960" y="4206240"/>
            <a:ext cx="1280160" cy="1280160"/>
          </a:xfrm>
          <a:prstGeom prst="ellipse">
            <a:avLst/>
          </a:prstGeom>
          <a:solidFill>
            <a:schemeClr val="bg1"/>
          </a:solidFill>
          <a:ln w="31750">
            <a:solidFill>
              <a:schemeClr val="accent1"/>
            </a:solidFill>
            <a:prstDash val="solid"/>
          </a:ln>
          <a:effectLst>
            <a:outerShdw sx="100000" sy="100000" kx="0" ky="0" algn="bl" rotWithShape="0" blurRad="127000" dist="38100" dir="5400000">
              <a:srgbClr val="0E2A47">
                <a:alpha val="14000"/>
              </a:srgbClr>
            </a:outerShdw>
          </a:effectLst>
        </p:spPr>
      </p:sp>
      <p:pic>
        <p:nvPicPr>
          <p:cNvPr id="31" name="Journey icon 125" descr="Inscripción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76004" y="4558284"/>
            <a:ext cx="576072" cy="576072"/>
          </a:xfrm>
          <a:prstGeom prst="rect">
            <a:avLst/>
          </a:prstGeom>
        </p:spPr>
      </p:pic>
      <p:sp>
        <p:nvSpPr>
          <p:cNvPr id="32" name="Journey label 126"/>
          <p:cNvSpPr txBox="1"/>
          <p:nvPr/>
        </p:nvSpPr>
        <p:spPr>
          <a:xfrm>
            <a:off x="8595360" y="5596128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Inscripción</a:t>
            </a:r>
            <a:endParaRPr lang="en-US" sz="1600" dirty="0"/>
          </a:p>
        </p:txBody>
      </p:sp>
      <p:sp>
        <p:nvSpPr>
          <p:cNvPr id="33" name="Journey step 127"/>
          <p:cNvSpPr txBox="1"/>
          <p:nvPr/>
        </p:nvSpPr>
        <p:spPr>
          <a:xfrm>
            <a:off x="9756648" y="413308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4" name="Journey node 128"/>
          <p:cNvSpPr/>
          <p:nvPr/>
        </p:nvSpPr>
        <p:spPr>
          <a:xfrm>
            <a:off x="10469880" y="2560320"/>
            <a:ext cx="1280160" cy="1280160"/>
          </a:xfrm>
          <a:prstGeom prst="ellipse">
            <a:avLst/>
          </a:prstGeom>
          <a:solidFill>
            <a:schemeClr val="accent2"/>
          </a:solidFill>
          <a:ln w="31750">
            <a:solidFill>
              <a:schemeClr val="accent2"/>
            </a:solidFill>
            <a:prstDash val="solid"/>
          </a:ln>
          <a:effectLst>
            <a:outerShdw sx="100000" sy="100000" kx="0" ky="0" algn="bl" rotWithShape="0" blurRad="127000" dist="38100" dir="5400000">
              <a:srgbClr val="0E2A47">
                <a:alpha val="14000"/>
              </a:srgbClr>
            </a:outerShdw>
          </a:effectLst>
        </p:spPr>
      </p:sp>
      <p:pic>
        <p:nvPicPr>
          <p:cNvPr id="35" name="Journey icon 129" descr="Recompensa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821924" y="2912364"/>
            <a:ext cx="576072" cy="576072"/>
          </a:xfrm>
          <a:prstGeom prst="rect">
            <a:avLst/>
          </a:prstGeom>
        </p:spPr>
      </p:pic>
      <p:sp>
        <p:nvSpPr>
          <p:cNvPr id="36" name="Journey label 130"/>
          <p:cNvSpPr txBox="1"/>
          <p:nvPr/>
        </p:nvSpPr>
        <p:spPr>
          <a:xfrm>
            <a:off x="10241280" y="2084832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Recompensa</a:t>
            </a:r>
            <a:endParaRPr lang="en-US" sz="1600" dirty="0"/>
          </a:p>
        </p:txBody>
      </p:sp>
      <p:sp>
        <p:nvSpPr>
          <p:cNvPr id="37" name="Journey step 131"/>
          <p:cNvSpPr txBox="1"/>
          <p:nvPr/>
        </p:nvSpPr>
        <p:spPr>
          <a:xfrm>
            <a:off x="11402568" y="352958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6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1" dur="6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6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6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6" dur="6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6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6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1" dur="6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2" dur="6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6" dur="6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7" dur="6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42" presetClass="entr" presetSubtype="0" fill="hold" grpId="0" nodeType="withEffect">
                                  <p:stCondLst>
                                    <p:cond delay="198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42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6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6" dur="65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7" dur="65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8" presetID="42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6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1" dur="65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2" dur="65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3" presetID="42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6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6" dur="65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7" dur="65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8" presetID="42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6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1" dur="65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2" dur="65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4" grpId="0" animBg="1"/>
      <p:bldP spid="25" grpId="0" animBg="1"/>
      <p:bldP spid="26" grpId="0" animBg="1"/>
      <p:bldP spid="28" grpId="0" animBg="1"/>
      <p:bldP spid="29" grpId="0" animBg="1"/>
      <p:bldP spid="30" grpId="0" animBg="1"/>
      <p:bldP spid="32" grpId="0" animBg="1"/>
      <p:bldP spid="33" grpId="0" animBg="1"/>
      <p:bldP spid="34" grpId="0" animBg="1"/>
      <p:bldP spid="36" grpId="0" animBg="1"/>
      <p:bldP spid="3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6" type="title" hasCustomPrompt="1"/>
          </p:nvPr>
        </p:nvSpPr>
        <p:spPr>
          <a:xfrm>
            <a:off x="548640" y="566928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Niveles de embajador</a:t>
            </a:r>
            <a:endParaRPr lang="en-US" sz="3400" dirty="0"/>
          </a:p>
        </p:txBody>
      </p:sp>
      <p:sp>
        <p:nvSpPr>
          <p:cNvPr id="3" name="Level card 132"/>
          <p:cNvSpPr/>
          <p:nvPr/>
        </p:nvSpPr>
        <p:spPr>
          <a:xfrm>
            <a:off x="548640" y="3017520"/>
            <a:ext cx="3511296" cy="301752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/>
        </p:spPr>
      </p:sp>
      <p:sp>
        <p:nvSpPr>
          <p:cNvPr id="4" name="Icon circle 133"/>
          <p:cNvSpPr/>
          <p:nvPr/>
        </p:nvSpPr>
        <p:spPr>
          <a:xfrm>
            <a:off x="822960" y="32918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 FaSeedling 134" descr="FaSeedl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3451860"/>
            <a:ext cx="320040" cy="320040"/>
          </a:xfrm>
          <a:prstGeom prst="rect">
            <a:avLst/>
          </a:prstGeom>
        </p:spPr>
      </p:pic>
      <p:sp>
        <p:nvSpPr>
          <p:cNvPr id="6" name="Level points 135"/>
          <p:cNvSpPr txBox="1"/>
          <p:nvPr/>
        </p:nvSpPr>
        <p:spPr>
          <a:xfrm>
            <a:off x="1600200" y="3264408"/>
            <a:ext cx="227685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pPr algn="r" indent="0" marL="0">
              <a:buNone/>
            </a:pPr>
            <a:r>
              <a:rPr lang="en-US" sz="1500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puntos</a:t>
            </a:r>
            <a:endParaRPr lang="en-US" sz="3400" dirty="0"/>
          </a:p>
        </p:txBody>
      </p:sp>
      <p:sp>
        <p:nvSpPr>
          <p:cNvPr id="7" name="Level name 136"/>
          <p:cNvSpPr txBox="1"/>
          <p:nvPr/>
        </p:nvSpPr>
        <p:spPr>
          <a:xfrm>
            <a:off x="822960" y="4069080"/>
            <a:ext cx="29626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EMBAJADOR </a:t>
            </a:r>
            <a:endParaRPr lang="en-US" sz="1300" dirty="0"/>
          </a:p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JUNIOR</a:t>
            </a:r>
            <a:endParaRPr lang="en-US" sz="1300" dirty="0"/>
          </a:p>
        </p:txBody>
      </p:sp>
      <p:sp>
        <p:nvSpPr>
          <p:cNvPr id="8" name="Level items 137"/>
          <p:cNvSpPr txBox="1"/>
          <p:nvPr/>
        </p:nvSpPr>
        <p:spPr>
          <a:xfrm>
            <a:off x="822960" y="4937760"/>
            <a:ext cx="305409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</a:rPr>
              <a:t>Credencial digital.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</a:rPr>
              <a:t>Reconocimiento.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</a:rPr>
              <a:t>Acceso a actividades especiales.</a:t>
            </a:r>
            <a:endParaRPr lang="en-US" sz="1400" dirty="0"/>
          </a:p>
        </p:txBody>
      </p:sp>
      <p:sp>
        <p:nvSpPr>
          <p:cNvPr id="9" name="Level card 138"/>
          <p:cNvSpPr/>
          <p:nvPr/>
        </p:nvSpPr>
        <p:spPr>
          <a:xfrm>
            <a:off x="4361688" y="2286000"/>
            <a:ext cx="3511296" cy="3749040"/>
          </a:xfrm>
          <a:prstGeom prst="roundRect">
            <a:avLst>
              <a:gd name="adj" fmla="val 3906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127000" dist="38100" dir="5400000">
              <a:srgbClr val="0E2A47">
                <a:alpha val="14000"/>
              </a:srgbClr>
            </a:outerShdw>
          </a:effectLst>
        </p:spPr>
      </p:sp>
      <p:pic>
        <p:nvPicPr>
          <p:cNvPr id="10" name="Watermark FaMedal 13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4526280"/>
            <a:ext cx="1280160" cy="1280160"/>
          </a:xfrm>
          <a:prstGeom prst="rect">
            <a:avLst/>
          </a:prstGeom>
        </p:spPr>
      </p:pic>
      <p:sp>
        <p:nvSpPr>
          <p:cNvPr id="11" name="Icon circle 140"/>
          <p:cNvSpPr/>
          <p:nvPr/>
        </p:nvSpPr>
        <p:spPr>
          <a:xfrm>
            <a:off x="4636008" y="2560320"/>
            <a:ext cx="640080" cy="64008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12" name="Icon FaMedal 141" descr="Fa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6028" y="2720340"/>
            <a:ext cx="320040" cy="320040"/>
          </a:xfrm>
          <a:prstGeom prst="rect">
            <a:avLst/>
          </a:prstGeom>
        </p:spPr>
      </p:pic>
      <p:sp>
        <p:nvSpPr>
          <p:cNvPr id="13" name="Level points 142"/>
          <p:cNvSpPr txBox="1"/>
          <p:nvPr/>
        </p:nvSpPr>
        <p:spPr>
          <a:xfrm>
            <a:off x="5413248" y="2532888"/>
            <a:ext cx="227685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250</a:t>
            </a:r>
            <a:pPr algn="r"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puntos</a:t>
            </a:r>
            <a:endParaRPr lang="en-US" sz="3400" dirty="0"/>
          </a:p>
        </p:txBody>
      </p:sp>
      <p:sp>
        <p:nvSpPr>
          <p:cNvPr id="14" name="Level name 143"/>
          <p:cNvSpPr txBox="1"/>
          <p:nvPr/>
        </p:nvSpPr>
        <p:spPr>
          <a:xfrm>
            <a:off x="4636008" y="3337560"/>
            <a:ext cx="29626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bg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EMBAJADOR </a:t>
            </a:r>
            <a:endParaRPr lang="en-US" sz="1300" dirty="0"/>
          </a:p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</a:t>
            </a:r>
            <a:endParaRPr lang="en-US" sz="1300" dirty="0"/>
          </a:p>
        </p:txBody>
      </p:sp>
      <p:sp>
        <p:nvSpPr>
          <p:cNvPr id="15" name="Level items 144"/>
          <p:cNvSpPr txBox="1"/>
          <p:nvPr/>
        </p:nvSpPr>
        <p:spPr>
          <a:xfrm>
            <a:off x="4636008" y="4206240"/>
            <a:ext cx="305409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</a:rPr>
              <a:t>Todo lo anterior.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</a:rPr>
              <a:t>Reconocimiento.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</a:rPr>
              <a:t>Acceso a actividades especiales.</a:t>
            </a:r>
            <a:endParaRPr lang="en-US" sz="1400" dirty="0"/>
          </a:p>
        </p:txBody>
      </p:sp>
      <p:sp>
        <p:nvSpPr>
          <p:cNvPr id="16" name="Level card 145"/>
          <p:cNvSpPr/>
          <p:nvPr/>
        </p:nvSpPr>
        <p:spPr>
          <a:xfrm>
            <a:off x="8174736" y="1554480"/>
            <a:ext cx="3511296" cy="4480560"/>
          </a:xfrm>
          <a:prstGeom prst="roundRect">
            <a:avLst>
              <a:gd name="adj" fmla="val 3906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38100" dir="5400000">
              <a:srgbClr val="0E2A47">
                <a:alpha val="14000"/>
              </a:srgbClr>
            </a:outerShdw>
          </a:effectLst>
        </p:spPr>
      </p:sp>
      <p:pic>
        <p:nvPicPr>
          <p:cNvPr id="17" name="Watermark FaCrown 146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7272" y="4526280"/>
            <a:ext cx="1280160" cy="1280160"/>
          </a:xfrm>
          <a:prstGeom prst="rect">
            <a:avLst/>
          </a:prstGeom>
        </p:spPr>
      </p:pic>
      <p:sp>
        <p:nvSpPr>
          <p:cNvPr id="18" name="Icon circle 147"/>
          <p:cNvSpPr/>
          <p:nvPr/>
        </p:nvSpPr>
        <p:spPr>
          <a:xfrm>
            <a:off x="8449056" y="182880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9" name="Icon FaCrown 148" descr="FaCrow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09076" y="1988820"/>
            <a:ext cx="320040" cy="320040"/>
          </a:xfrm>
          <a:prstGeom prst="rect">
            <a:avLst/>
          </a:prstGeom>
        </p:spPr>
      </p:pic>
      <p:sp>
        <p:nvSpPr>
          <p:cNvPr id="20" name="Level points 149"/>
          <p:cNvSpPr txBox="1"/>
          <p:nvPr/>
        </p:nvSpPr>
        <p:spPr>
          <a:xfrm>
            <a:off x="9226296" y="1801368"/>
            <a:ext cx="227685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</a:t>
            </a:r>
            <a:pPr algn="r" indent="0" marL="0">
              <a:buNone/>
            </a:pPr>
            <a:r>
              <a:rPr lang="en-US" sz="150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puntos</a:t>
            </a:r>
            <a:endParaRPr lang="en-US" sz="3400" dirty="0"/>
          </a:p>
        </p:txBody>
      </p:sp>
      <p:sp>
        <p:nvSpPr>
          <p:cNvPr id="21" name="Level name 150"/>
          <p:cNvSpPr txBox="1"/>
          <p:nvPr/>
        </p:nvSpPr>
        <p:spPr>
          <a:xfrm>
            <a:off x="8449056" y="2606040"/>
            <a:ext cx="29626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EMBAJADOR </a:t>
            </a:r>
            <a:endParaRPr lang="en-US" sz="1300" dirty="0"/>
          </a:p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ÉLITE</a:t>
            </a:r>
            <a:endParaRPr lang="en-US" sz="1300" dirty="0"/>
          </a:p>
        </p:txBody>
      </p:sp>
      <p:sp>
        <p:nvSpPr>
          <p:cNvPr id="22" name="Level items 151"/>
          <p:cNvSpPr txBox="1"/>
          <p:nvPr/>
        </p:nvSpPr>
        <p:spPr>
          <a:xfrm>
            <a:off x="8449056" y="3474720"/>
            <a:ext cx="305409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</a:rPr>
              <a:t>Todo lo anterior.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</a:rPr>
              <a:t>Experiencias especiales con autoridades.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</a:rPr>
              <a:t>Participación en campañas institucionales.</a:t>
            </a:r>
            <a:endParaRPr lang="en-US" sz="1400" dirty="0"/>
          </a:p>
          <a:p>
            <a:pPr marL="203200" indent="-2032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</a:rPr>
              <a:t>Reconocimiento como embajador del semestre.</a:t>
            </a:r>
            <a:endParaRPr lang="en-US" sz="1400" dirty="0"/>
          </a:p>
        </p:txBody>
      </p:sp>
      <p:pic>
        <p:nvPicPr>
          <p:cNvPr id="23" name="Paw print 152" descr="Huella">    </p:cNvPr>
          <p:cNvPicPr>
            <a:picLocks noChangeAspect="1"/>
          </p:cNvPicPr>
          <p:nvPr/>
        </p:nvPicPr>
        <p:blipFill>
          <a:blip r:embed="rId6">
            <a:alphaModFix amt="55000"/>
          </a:blip>
          <a:stretch>
            <a:fillRect/>
          </a:stretch>
        </p:blipFill>
        <p:spPr>
          <a:xfrm rot="3000000">
            <a:off x="914400" y="2514600"/>
            <a:ext cx="384048" cy="341131"/>
          </a:xfrm>
          <a:prstGeom prst="rect">
            <a:avLst/>
          </a:prstGeom>
        </p:spPr>
      </p:pic>
      <p:pic>
        <p:nvPicPr>
          <p:cNvPr id="24" name="Paw print 153" descr="Huella">    </p:cNvPr>
          <p:cNvPicPr>
            <a:picLocks noChangeAspect="1"/>
          </p:cNvPicPr>
          <p:nvPr/>
        </p:nvPicPr>
        <p:blipFill>
          <a:blip r:embed="rId7">
            <a:alphaModFix amt="55000"/>
          </a:blip>
          <a:stretch>
            <a:fillRect/>
          </a:stretch>
        </p:blipFill>
        <p:spPr>
          <a:xfrm rot="3000000">
            <a:off x="1737360" y="2103120"/>
            <a:ext cx="384048" cy="341131"/>
          </a:xfrm>
          <a:prstGeom prst="rect">
            <a:avLst/>
          </a:prstGeom>
        </p:spPr>
      </p:pic>
      <p:pic>
        <p:nvPicPr>
          <p:cNvPr id="25" name="Paw print 154" descr="Huella">    </p:cNvPr>
          <p:cNvPicPr>
            <a:picLocks noChangeAspect="1"/>
          </p:cNvPicPr>
          <p:nvPr/>
        </p:nvPicPr>
        <p:blipFill>
          <a:blip r:embed="rId8">
            <a:alphaModFix amt="55000"/>
          </a:blip>
          <a:stretch>
            <a:fillRect/>
          </a:stretch>
        </p:blipFill>
        <p:spPr>
          <a:xfrm rot="3000000">
            <a:off x="2560320" y="1691640"/>
            <a:ext cx="384048" cy="341131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8" grpId="0" animBg="1"/>
      <p:bldP spid="9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20" grpId="0" animBg="1"/>
      <p:bldP spid="21" grpId="0" animBg="1"/>
      <p:bldP spid="2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6" type="title" hasCustomPrompt="1"/>
          </p:nvPr>
        </p:nvSpPr>
        <p:spPr>
          <a:xfrm>
            <a:off x="548640" y="566928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 del embajador</a:t>
            </a:r>
            <a:endParaRPr lang="en-US" sz="3400" dirty="0"/>
          </a:p>
        </p:txBody>
      </p:sp>
      <p:sp>
        <p:nvSpPr>
          <p:cNvPr id="3" name="Subtitle 155"/>
          <p:cNvSpPr txBox="1"/>
          <p:nvPr/>
        </p:nvSpPr>
        <p:spPr>
          <a:xfrm>
            <a:off x="548640" y="132588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Te damos todas las herramientas para compartir Westhill de forma fácil y auténtica</a:t>
            </a:r>
            <a:endParaRPr lang="en-US" sz="1800" dirty="0"/>
          </a:p>
        </p:txBody>
      </p:sp>
      <p:sp>
        <p:nvSpPr>
          <p:cNvPr id="4" name="Kit tile 156"/>
          <p:cNvSpPr/>
          <p:nvPr/>
        </p:nvSpPr>
        <p:spPr>
          <a:xfrm>
            <a:off x="548640" y="2057400"/>
            <a:ext cx="2606040" cy="192024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38100" dir="5400000">
              <a:srgbClr val="0E2A47">
                <a:alpha val="14000"/>
              </a:srgbClr>
            </a:outerShdw>
          </a:effectLst>
        </p:spPr>
      </p:sp>
      <p:pic>
        <p:nvPicPr>
          <p:cNvPr id="5" name="Watermark FaQrcode 15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7400" y="2240280"/>
            <a:ext cx="914400" cy="914400"/>
          </a:xfrm>
          <a:prstGeom prst="rect">
            <a:avLst/>
          </a:prstGeom>
        </p:spPr>
      </p:pic>
      <p:sp>
        <p:nvSpPr>
          <p:cNvPr id="6" name="Icon circle 158"/>
          <p:cNvSpPr/>
          <p:nvPr/>
        </p:nvSpPr>
        <p:spPr>
          <a:xfrm>
            <a:off x="822960" y="233172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7" name="Icon FaQrcode 159" descr="FaQrc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4410" y="2503170"/>
            <a:ext cx="342900" cy="342900"/>
          </a:xfrm>
          <a:prstGeom prst="rect">
            <a:avLst/>
          </a:prstGeom>
        </p:spPr>
      </p:pic>
      <p:sp>
        <p:nvSpPr>
          <p:cNvPr id="8" name="Kit label 160"/>
          <p:cNvSpPr txBox="1"/>
          <p:nvPr/>
        </p:nvSpPr>
        <p:spPr>
          <a:xfrm>
            <a:off x="822960" y="315468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Código QR personalizado.</a:t>
            </a:r>
            <a:endParaRPr lang="en-US" sz="1600" dirty="0"/>
          </a:p>
        </p:txBody>
      </p:sp>
      <p:sp>
        <p:nvSpPr>
          <p:cNvPr id="9" name="Kit tile 161"/>
          <p:cNvSpPr/>
          <p:nvPr/>
        </p:nvSpPr>
        <p:spPr>
          <a:xfrm>
            <a:off x="3401568" y="2057400"/>
            <a:ext cx="260604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0" name="Icon circle 162"/>
          <p:cNvSpPr/>
          <p:nvPr/>
        </p:nvSpPr>
        <p:spPr>
          <a:xfrm>
            <a:off x="3675888" y="23317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con FaWhatsapp 163" descr="FaWhatsap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7338" y="2503170"/>
            <a:ext cx="342900" cy="342900"/>
          </a:xfrm>
          <a:prstGeom prst="rect">
            <a:avLst/>
          </a:prstGeom>
        </p:spPr>
      </p:pic>
      <p:sp>
        <p:nvSpPr>
          <p:cNvPr id="12" name="Kit label 164"/>
          <p:cNvSpPr txBox="1"/>
          <p:nvPr/>
        </p:nvSpPr>
        <p:spPr>
          <a:xfrm>
            <a:off x="3675888" y="315468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Imágenes para WhatsApp</a:t>
            </a:r>
            <a:endParaRPr lang="en-US" sz="1600" dirty="0"/>
          </a:p>
        </p:txBody>
      </p:sp>
      <p:sp>
        <p:nvSpPr>
          <p:cNvPr id="13" name="Kit tile 165"/>
          <p:cNvSpPr/>
          <p:nvPr/>
        </p:nvSpPr>
        <p:spPr>
          <a:xfrm>
            <a:off x="6254496" y="2057400"/>
            <a:ext cx="260604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4" name="Icon circle 166"/>
          <p:cNvSpPr/>
          <p:nvPr/>
        </p:nvSpPr>
        <p:spPr>
          <a:xfrm>
            <a:off x="6528816" y="23317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con FaInstagram 167" descr="FaInstagra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0266" y="2503170"/>
            <a:ext cx="342900" cy="342900"/>
          </a:xfrm>
          <a:prstGeom prst="rect">
            <a:avLst/>
          </a:prstGeom>
        </p:spPr>
      </p:pic>
      <p:sp>
        <p:nvSpPr>
          <p:cNvPr id="16" name="Kit label 168"/>
          <p:cNvSpPr txBox="1"/>
          <p:nvPr/>
        </p:nvSpPr>
        <p:spPr>
          <a:xfrm>
            <a:off x="6528816" y="315468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Historias de Instagram</a:t>
            </a:r>
            <a:endParaRPr lang="en-US" sz="1600" dirty="0"/>
          </a:p>
        </p:txBody>
      </p:sp>
      <p:sp>
        <p:nvSpPr>
          <p:cNvPr id="17" name="Kit tile 169"/>
          <p:cNvSpPr/>
          <p:nvPr/>
        </p:nvSpPr>
        <p:spPr>
          <a:xfrm>
            <a:off x="9107424" y="2057400"/>
            <a:ext cx="260604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8" name="Icon circle 170"/>
          <p:cNvSpPr/>
          <p:nvPr/>
        </p:nvSpPr>
        <p:spPr>
          <a:xfrm>
            <a:off x="9381744" y="23317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9" name="Icon FaVideo 171" descr="FaVide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53194" y="2503170"/>
            <a:ext cx="342900" cy="342900"/>
          </a:xfrm>
          <a:prstGeom prst="rect">
            <a:avLst/>
          </a:prstGeom>
        </p:spPr>
      </p:pic>
      <p:sp>
        <p:nvSpPr>
          <p:cNvPr id="20" name="Kit label 172"/>
          <p:cNvSpPr txBox="1"/>
          <p:nvPr/>
        </p:nvSpPr>
        <p:spPr>
          <a:xfrm>
            <a:off x="9381744" y="3154680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Videos cortos</a:t>
            </a:r>
            <a:endParaRPr lang="en-US" sz="1600" dirty="0"/>
          </a:p>
        </p:txBody>
      </p:sp>
      <p:sp>
        <p:nvSpPr>
          <p:cNvPr id="21" name="Kit tile 173"/>
          <p:cNvSpPr/>
          <p:nvPr/>
        </p:nvSpPr>
        <p:spPr>
          <a:xfrm>
            <a:off x="548640" y="4224528"/>
            <a:ext cx="260604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22" name="Icon circle 174"/>
          <p:cNvSpPr/>
          <p:nvPr/>
        </p:nvSpPr>
        <p:spPr>
          <a:xfrm>
            <a:off x="822960" y="4498848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3" name="Icon FaEnvelopeOpenText 175" descr="FaEnvelopeOpenTex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4410" y="4670298"/>
            <a:ext cx="342900" cy="342900"/>
          </a:xfrm>
          <a:prstGeom prst="rect">
            <a:avLst/>
          </a:prstGeom>
        </p:spPr>
      </p:pic>
      <p:sp>
        <p:nvSpPr>
          <p:cNvPr id="24" name="Kit label 176"/>
          <p:cNvSpPr txBox="1"/>
          <p:nvPr/>
        </p:nvSpPr>
        <p:spPr>
          <a:xfrm>
            <a:off x="822960" y="5321808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Invitaciones a eventos</a:t>
            </a:r>
            <a:endParaRPr lang="en-US" sz="1600" dirty="0"/>
          </a:p>
        </p:txBody>
      </p:sp>
      <p:sp>
        <p:nvSpPr>
          <p:cNvPr id="25" name="Kit tile 177"/>
          <p:cNvSpPr/>
          <p:nvPr/>
        </p:nvSpPr>
        <p:spPr>
          <a:xfrm>
            <a:off x="3401568" y="4224528"/>
            <a:ext cx="260604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26" name="Icon circle 178"/>
          <p:cNvSpPr/>
          <p:nvPr/>
        </p:nvSpPr>
        <p:spPr>
          <a:xfrm>
            <a:off x="3675888" y="4498848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7" name="Icon FaBookOpen 179" descr="FaBookOpe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7338" y="4670298"/>
            <a:ext cx="342900" cy="342900"/>
          </a:xfrm>
          <a:prstGeom prst="rect">
            <a:avLst/>
          </a:prstGeom>
        </p:spPr>
      </p:pic>
      <p:sp>
        <p:nvSpPr>
          <p:cNvPr id="28" name="Kit label 180"/>
          <p:cNvSpPr txBox="1"/>
          <p:nvPr/>
        </p:nvSpPr>
        <p:spPr>
          <a:xfrm>
            <a:off x="3675888" y="5321808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Información de las licenciaturas</a:t>
            </a:r>
            <a:endParaRPr lang="en-US" sz="1600" dirty="0"/>
          </a:p>
        </p:txBody>
      </p:sp>
      <p:sp>
        <p:nvSpPr>
          <p:cNvPr id="29" name="Kit tile 181"/>
          <p:cNvSpPr/>
          <p:nvPr/>
        </p:nvSpPr>
        <p:spPr>
          <a:xfrm>
            <a:off x="6254496" y="4224528"/>
            <a:ext cx="260604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30" name="Icon circle 182"/>
          <p:cNvSpPr/>
          <p:nvPr/>
        </p:nvSpPr>
        <p:spPr>
          <a:xfrm>
            <a:off x="6528816" y="4498848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1" name="Icon FaCommentDots 183" descr="FaCommentDot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00266" y="4670298"/>
            <a:ext cx="342900" cy="342900"/>
          </a:xfrm>
          <a:prstGeom prst="rect">
            <a:avLst/>
          </a:prstGeom>
        </p:spPr>
      </p:pic>
      <p:sp>
        <p:nvSpPr>
          <p:cNvPr id="32" name="Kit label 184"/>
          <p:cNvSpPr txBox="1"/>
          <p:nvPr/>
        </p:nvSpPr>
        <p:spPr>
          <a:xfrm>
            <a:off x="6528816" y="5321808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Mensajes sugeridos</a:t>
            </a:r>
            <a:endParaRPr lang="en-US" sz="1600" dirty="0"/>
          </a:p>
        </p:txBody>
      </p:sp>
      <p:sp>
        <p:nvSpPr>
          <p:cNvPr id="33" name="Kit tile 185"/>
          <p:cNvSpPr/>
          <p:nvPr/>
        </p:nvSpPr>
        <p:spPr>
          <a:xfrm>
            <a:off x="9107424" y="4224528"/>
            <a:ext cx="2606040" cy="192024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34" name="Icon circle 186"/>
          <p:cNvSpPr/>
          <p:nvPr/>
        </p:nvSpPr>
        <p:spPr>
          <a:xfrm>
            <a:off x="9381744" y="4498848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5" name="Icon FaCalendarDays 187" descr="FaCalendarDay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53194" y="4670298"/>
            <a:ext cx="342900" cy="342900"/>
          </a:xfrm>
          <a:prstGeom prst="rect">
            <a:avLst/>
          </a:prstGeom>
        </p:spPr>
      </p:pic>
      <p:sp>
        <p:nvSpPr>
          <p:cNvPr id="36" name="Kit label 188"/>
          <p:cNvSpPr txBox="1"/>
          <p:nvPr/>
        </p:nvSpPr>
        <p:spPr>
          <a:xfrm>
            <a:off x="9381744" y="5321808"/>
            <a:ext cx="2148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Calendarios de eventos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6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6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1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6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6" dur="6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6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6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1" dur="6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2" dur="6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6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6" dur="6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7" dur="6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1" dur="6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2" dur="6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6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6" dur="65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7" dur="65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6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1" dur="65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2" dur="65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6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6" dur="65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7" dur="65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8" grpId="0" animBg="1"/>
      <p:bldP spid="9" grpId="0" animBg="1"/>
      <p:bldP spid="10" grpId="0" animBg="1"/>
      <p:bldP spid="12" grpId="0" animBg="1"/>
      <p:bldP spid="13" grpId="0" animBg="1"/>
      <p:bldP spid="14" grpId="0" animBg="1"/>
      <p:bldP spid="16" grpId="0" animBg="1"/>
      <p:bldP spid="17" grpId="0" animBg="1"/>
      <p:bldP spid="18" grpId="0" animBg="1"/>
      <p:bldP spid="20" grpId="0" animBg="1"/>
      <p:bldP spid="21" grpId="0" animBg="1"/>
      <p:bldP spid="22" grpId="0" animBg="1"/>
      <p:bldP spid="24" grpId="0" animBg="1"/>
      <p:bldP spid="25" grpId="0" animBg="1"/>
      <p:bldP spid="26" grpId="0" animBg="1"/>
      <p:bldP spid="28" grpId="0" animBg="1"/>
      <p:bldP spid="29" grpId="0" animBg="1"/>
      <p:bldP spid="30" grpId="0" animBg="1"/>
      <p:bldP spid="32" grpId="0" animBg="1"/>
      <p:bldP spid="33" grpId="0" animBg="1"/>
      <p:bldP spid="34" grpId="0" animBg="1"/>
      <p:bldP spid="3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6" type="title" hasCustomPrompt="1"/>
          </p:nvPr>
        </p:nvSpPr>
        <p:spPr>
          <a:xfrm>
            <a:off x="548640" y="566928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Reconocimientos</a:t>
            </a:r>
            <a:endParaRPr lang="en-US" sz="3400" dirty="0"/>
          </a:p>
        </p:txBody>
      </p:sp>
      <p:sp>
        <p:nvSpPr>
          <p:cNvPr id="3" name="Recognition card 189"/>
          <p:cNvSpPr/>
          <p:nvPr/>
        </p:nvSpPr>
        <p:spPr>
          <a:xfrm>
            <a:off x="548640" y="1554480"/>
            <a:ext cx="5396332" cy="4480560"/>
          </a:xfrm>
          <a:prstGeom prst="roundRect">
            <a:avLst>
              <a:gd name="adj" fmla="val 3061"/>
            </a:avLst>
          </a:prstGeom>
          <a:solidFill>
            <a:schemeClr val="bg2"/>
          </a:solidFill>
          <a:ln/>
        </p:spPr>
      </p:sp>
      <p:sp>
        <p:nvSpPr>
          <p:cNvPr id="4" name="Icon circle 190"/>
          <p:cNvSpPr/>
          <p:nvPr/>
        </p:nvSpPr>
        <p:spPr>
          <a:xfrm>
            <a:off x="960120" y="1965960"/>
            <a:ext cx="1051560" cy="10515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 FaStar 191" descr="FaSta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3010" y="2228850"/>
            <a:ext cx="525780" cy="525780"/>
          </a:xfrm>
          <a:prstGeom prst="rect">
            <a:avLst/>
          </a:prstGeom>
        </p:spPr>
      </p:pic>
      <p:sp>
        <p:nvSpPr>
          <p:cNvPr id="6" name="Recognition title 192"/>
          <p:cNvSpPr txBox="1"/>
          <p:nvPr/>
        </p:nvSpPr>
        <p:spPr>
          <a:xfrm>
            <a:off x="2240280" y="1965960"/>
            <a:ext cx="33846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EMBAJADOR</a:t>
            </a:r>
            <a:endParaRPr lang="en-US" sz="1400" dirty="0"/>
          </a:p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MES</a:t>
            </a:r>
            <a:endParaRPr lang="en-US" sz="1400" dirty="0"/>
          </a:p>
        </p:txBody>
      </p:sp>
      <p:sp>
        <p:nvSpPr>
          <p:cNvPr id="7" name="Icon circle 193"/>
          <p:cNvSpPr/>
          <p:nvPr/>
        </p:nvSpPr>
        <p:spPr>
          <a:xfrm>
            <a:off x="960120" y="3429000"/>
            <a:ext cx="548640" cy="54864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8" name="Icon FaBullhorn 194" descr="FaBullhor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3566160"/>
            <a:ext cx="274320" cy="274320"/>
          </a:xfrm>
          <a:prstGeom prst="rect">
            <a:avLst/>
          </a:prstGeom>
        </p:spPr>
      </p:pic>
      <p:sp>
        <p:nvSpPr>
          <p:cNvPr id="9" name="Recognition item 195"/>
          <p:cNvSpPr txBox="1"/>
          <p:nvPr/>
        </p:nvSpPr>
        <p:spPr>
          <a:xfrm>
            <a:off x="1691640" y="3383280"/>
            <a:ext cx="39332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Reconocimiento en redes institucionales.</a:t>
            </a:r>
            <a:endParaRPr lang="en-US" sz="1600" dirty="0"/>
          </a:p>
        </p:txBody>
      </p:sp>
      <p:sp>
        <p:nvSpPr>
          <p:cNvPr id="10" name="Icon circle 196"/>
          <p:cNvSpPr/>
          <p:nvPr/>
        </p:nvSpPr>
        <p:spPr>
          <a:xfrm>
            <a:off x="960120" y="4251960"/>
            <a:ext cx="548640" cy="54864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11" name="Icon FaInstagram 197" descr="FaInstagra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4389120"/>
            <a:ext cx="274320" cy="274320"/>
          </a:xfrm>
          <a:prstGeom prst="rect">
            <a:avLst/>
          </a:prstGeom>
        </p:spPr>
      </p:pic>
      <p:sp>
        <p:nvSpPr>
          <p:cNvPr id="12" name="Recognition item 198"/>
          <p:cNvSpPr txBox="1"/>
          <p:nvPr/>
        </p:nvSpPr>
        <p:spPr>
          <a:xfrm>
            <a:off x="1691640" y="4206240"/>
            <a:ext cx="39332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Historias destacadas en Instagram.</a:t>
            </a:r>
            <a:endParaRPr lang="en-US" sz="1600" dirty="0"/>
          </a:p>
        </p:txBody>
      </p:sp>
      <p:sp>
        <p:nvSpPr>
          <p:cNvPr id="13" name="Icon circle 199"/>
          <p:cNvSpPr/>
          <p:nvPr/>
        </p:nvSpPr>
        <p:spPr>
          <a:xfrm>
            <a:off x="960120" y="5074920"/>
            <a:ext cx="548640" cy="548640"/>
          </a:xfrm>
          <a:prstGeom prst="ellipse">
            <a:avLst/>
          </a:prstGeom>
          <a:solidFill>
            <a:schemeClr val="bg1"/>
          </a:solidFill>
          <a:ln/>
        </p:spPr>
      </p:sp>
      <p:pic>
        <p:nvPicPr>
          <p:cNvPr id="14" name="Icon FaMugHot 200" descr="FaMugHo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5212080"/>
            <a:ext cx="274320" cy="274320"/>
          </a:xfrm>
          <a:prstGeom prst="rect">
            <a:avLst/>
          </a:prstGeom>
        </p:spPr>
      </p:pic>
      <p:sp>
        <p:nvSpPr>
          <p:cNvPr id="15" name="Recognition item 201"/>
          <p:cNvSpPr txBox="1"/>
          <p:nvPr/>
        </p:nvSpPr>
        <p:spPr>
          <a:xfrm>
            <a:off x="1691640" y="5029200"/>
            <a:ext cx="39332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Regalo Especial. (Un desayuno de Starbucks).</a:t>
            </a:r>
            <a:endParaRPr lang="en-US" sz="1600" dirty="0"/>
          </a:p>
        </p:txBody>
      </p:sp>
      <p:sp>
        <p:nvSpPr>
          <p:cNvPr id="16" name="Recognition card 202"/>
          <p:cNvSpPr/>
          <p:nvPr/>
        </p:nvSpPr>
        <p:spPr>
          <a:xfrm>
            <a:off x="6246724" y="1554480"/>
            <a:ext cx="5396332" cy="4480560"/>
          </a:xfrm>
          <a:prstGeom prst="roundRect">
            <a:avLst>
              <a:gd name="adj" fmla="val 3061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38100" dir="5400000">
              <a:srgbClr val="0E2A47">
                <a:alpha val="14000"/>
              </a:srgbClr>
            </a:outerShdw>
          </a:effectLst>
        </p:spPr>
      </p:sp>
      <p:pic>
        <p:nvPicPr>
          <p:cNvPr id="17" name="Watermark FaTrophy 20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14255" y="4206240"/>
            <a:ext cx="1600200" cy="1600200"/>
          </a:xfrm>
          <a:prstGeom prst="rect">
            <a:avLst/>
          </a:prstGeom>
        </p:spPr>
      </p:pic>
      <p:sp>
        <p:nvSpPr>
          <p:cNvPr id="18" name="Icon circle 204"/>
          <p:cNvSpPr/>
          <p:nvPr/>
        </p:nvSpPr>
        <p:spPr>
          <a:xfrm>
            <a:off x="6658204" y="1965960"/>
            <a:ext cx="1051560" cy="10515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9" name="Icon FaTrophy 205" descr="FaTrophy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1094" y="2228850"/>
            <a:ext cx="525780" cy="525780"/>
          </a:xfrm>
          <a:prstGeom prst="rect">
            <a:avLst/>
          </a:prstGeom>
        </p:spPr>
      </p:pic>
      <p:sp>
        <p:nvSpPr>
          <p:cNvPr id="20" name="Recognition title 206"/>
          <p:cNvSpPr txBox="1"/>
          <p:nvPr/>
        </p:nvSpPr>
        <p:spPr>
          <a:xfrm>
            <a:off x="7938364" y="1965960"/>
            <a:ext cx="33846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EMBAJADOR</a:t>
            </a:r>
            <a:endParaRPr lang="en-US" sz="1400" dirty="0"/>
          </a:p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SEMESTRE</a:t>
            </a:r>
            <a:endParaRPr lang="en-US" sz="1400" dirty="0"/>
          </a:p>
        </p:txBody>
      </p:sp>
      <p:sp>
        <p:nvSpPr>
          <p:cNvPr id="21" name="Icon circle 207"/>
          <p:cNvSpPr/>
          <p:nvPr/>
        </p:nvSpPr>
        <p:spPr>
          <a:xfrm>
            <a:off x="6658204" y="342900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2" name="Icon FaBullhorn 208" descr="FaBullhor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95364" y="3566160"/>
            <a:ext cx="274320" cy="274320"/>
          </a:xfrm>
          <a:prstGeom prst="rect">
            <a:avLst/>
          </a:prstGeom>
        </p:spPr>
      </p:pic>
      <p:sp>
        <p:nvSpPr>
          <p:cNvPr id="23" name="Recognition item 209"/>
          <p:cNvSpPr txBox="1"/>
          <p:nvPr/>
        </p:nvSpPr>
        <p:spPr>
          <a:xfrm>
            <a:off x="7389724" y="3383280"/>
            <a:ext cx="39332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Reconocimiento en redes institucionales.</a:t>
            </a:r>
            <a:endParaRPr lang="en-US" sz="1600" dirty="0"/>
          </a:p>
        </p:txBody>
      </p:sp>
      <p:sp>
        <p:nvSpPr>
          <p:cNvPr id="24" name="Icon circle 210"/>
          <p:cNvSpPr/>
          <p:nvPr/>
        </p:nvSpPr>
        <p:spPr>
          <a:xfrm>
            <a:off x="6658204" y="425196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5" name="Icon FaStar 211" descr="FaSta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95364" y="4389120"/>
            <a:ext cx="274320" cy="274320"/>
          </a:xfrm>
          <a:prstGeom prst="rect">
            <a:avLst/>
          </a:prstGeom>
        </p:spPr>
      </p:pic>
      <p:sp>
        <p:nvSpPr>
          <p:cNvPr id="26" name="Recognition item 212"/>
          <p:cNvSpPr txBox="1"/>
          <p:nvPr/>
        </p:nvSpPr>
        <p:spPr>
          <a:xfrm>
            <a:off x="7389724" y="4206240"/>
            <a:ext cx="39332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Experiencia especial.</a:t>
            </a:r>
            <a:endParaRPr lang="en-US" sz="1600" dirty="0"/>
          </a:p>
        </p:txBody>
      </p:sp>
      <p:sp>
        <p:nvSpPr>
          <p:cNvPr id="27" name="Icon circle 213"/>
          <p:cNvSpPr/>
          <p:nvPr/>
        </p:nvSpPr>
        <p:spPr>
          <a:xfrm>
            <a:off x="6658204" y="507492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8" name="Icon FaNewspaper 214" descr="FaNewspape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95364" y="5212080"/>
            <a:ext cx="274320" cy="274320"/>
          </a:xfrm>
          <a:prstGeom prst="rect">
            <a:avLst/>
          </a:prstGeom>
        </p:spPr>
      </p:pic>
      <p:sp>
        <p:nvSpPr>
          <p:cNvPr id="29" name="Recognition item 215"/>
          <p:cNvSpPr txBox="1"/>
          <p:nvPr/>
        </p:nvSpPr>
        <p:spPr>
          <a:xfrm>
            <a:off x="7389724" y="5029200"/>
            <a:ext cx="39332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Difusión en medios.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6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1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6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6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7" grpId="0" animBg="1"/>
      <p:bldP spid="9" grpId="0" animBg="1"/>
      <p:bldP spid="10" grpId="0" animBg="1"/>
      <p:bldP spid="12" grpId="0" animBg="1"/>
      <p:bldP spid="13" grpId="0" animBg="1"/>
      <p:bldP spid="15" grpId="0" animBg="1"/>
      <p:bldP spid="16" grpId="0" animBg="1"/>
      <p:bldP spid="18" grpId="0" animBg="1"/>
      <p:bldP spid="20" grpId="0" animBg="1"/>
      <p:bldP spid="21" grpId="0" animBg="1"/>
      <p:bldP spid="23" grpId="0" animBg="1"/>
      <p:bldP spid="24" grpId="0" animBg="1"/>
      <p:bldP spid="26" grpId="0" animBg="1"/>
      <p:bldP spid="27" grpId="0" animBg="1"/>
      <p:bldP spid="2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ampus photo 216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05295" y="0"/>
            <a:ext cx="5486400" cy="6858000"/>
          </a:xfrm>
          <a:prstGeom prst="rect">
            <a:avLst/>
          </a:prstGeom>
        </p:spPr>
      </p:pic>
      <p:pic>
        <p:nvPicPr>
          <p:cNvPr id="3" name="Logo Westhill 21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205" y="292608"/>
            <a:ext cx="593850" cy="713232"/>
          </a:xfrm>
          <a:prstGeom prst="rect">
            <a:avLst/>
          </a:prstGeom>
        </p:spPr>
      </p:pic>
      <p:sp>
        <p:nvSpPr>
          <p:cNvPr id="4" name="Text 2"/>
          <p:cNvSpPr/>
          <p:nvPr>
            <p:ph idx="102" type="title" hasCustomPrompt="1"/>
          </p:nvPr>
        </p:nvSpPr>
        <p:spPr>
          <a:xfrm>
            <a:off x="548640" y="566928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Vive mi carrera</a:t>
            </a:r>
            <a:endParaRPr lang="en-US" sz="3400" dirty="0"/>
          </a:p>
        </p:txBody>
      </p:sp>
      <p:sp>
        <p:nvSpPr>
          <p:cNvPr id="5" name="Subtitle 218"/>
          <p:cNvSpPr txBox="1"/>
          <p:nvPr/>
        </p:nvSpPr>
        <p:spPr>
          <a:xfrm>
            <a:off x="548640" y="1325880"/>
            <a:ext cx="5852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Invita a un prospecto a vivir una experiencia real en tu carrera.</a:t>
            </a:r>
            <a:endParaRPr lang="en-US" sz="1800" dirty="0"/>
          </a:p>
        </p:txBody>
      </p:sp>
      <p:sp>
        <p:nvSpPr>
          <p:cNvPr id="6" name="Icon circle 219"/>
          <p:cNvSpPr/>
          <p:nvPr/>
        </p:nvSpPr>
        <p:spPr>
          <a:xfrm>
            <a:off x="548640" y="2194560"/>
            <a:ext cx="585216" cy="585216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con FaChalkboardUser 220" descr="FaChalkboardUs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2340864"/>
            <a:ext cx="292608" cy="292608"/>
          </a:xfrm>
          <a:prstGeom prst="rect">
            <a:avLst/>
          </a:prstGeom>
        </p:spPr>
      </p:pic>
      <p:sp>
        <p:nvSpPr>
          <p:cNvPr id="8" name="Vive item 221"/>
          <p:cNvSpPr txBox="1"/>
          <p:nvPr/>
        </p:nvSpPr>
        <p:spPr>
          <a:xfrm>
            <a:off x="1371600" y="2194560"/>
            <a:ext cx="5029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Asiste a una clase.</a:t>
            </a:r>
            <a:endParaRPr lang="en-US" sz="1800" dirty="0"/>
          </a:p>
        </p:txBody>
      </p:sp>
      <p:sp>
        <p:nvSpPr>
          <p:cNvPr id="9" name="Icon circle 222"/>
          <p:cNvSpPr/>
          <p:nvPr/>
        </p:nvSpPr>
        <p:spPr>
          <a:xfrm>
            <a:off x="548640" y="2980944"/>
            <a:ext cx="585216" cy="585216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 FaBuildingColumns 223" descr="FaBuildingColumn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3127248"/>
            <a:ext cx="292608" cy="292608"/>
          </a:xfrm>
          <a:prstGeom prst="rect">
            <a:avLst/>
          </a:prstGeom>
        </p:spPr>
      </p:pic>
      <p:sp>
        <p:nvSpPr>
          <p:cNvPr id="11" name="Vive item 224"/>
          <p:cNvSpPr txBox="1"/>
          <p:nvPr/>
        </p:nvSpPr>
        <p:spPr>
          <a:xfrm>
            <a:off x="1371600" y="2980944"/>
            <a:ext cx="5029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Conoce profesores e instalaciones.</a:t>
            </a:r>
            <a:endParaRPr lang="en-US" sz="1800" dirty="0"/>
          </a:p>
        </p:txBody>
      </p:sp>
      <p:sp>
        <p:nvSpPr>
          <p:cNvPr id="12" name="Icon circle 225"/>
          <p:cNvSpPr/>
          <p:nvPr/>
        </p:nvSpPr>
        <p:spPr>
          <a:xfrm>
            <a:off x="548640" y="3767328"/>
            <a:ext cx="585216" cy="585216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con FaComments 226" descr="FaComment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" y="3913632"/>
            <a:ext cx="292608" cy="292608"/>
          </a:xfrm>
          <a:prstGeom prst="rect">
            <a:avLst/>
          </a:prstGeom>
        </p:spPr>
      </p:pic>
      <p:sp>
        <p:nvSpPr>
          <p:cNvPr id="14" name="Vive item 227"/>
          <p:cNvSpPr txBox="1"/>
          <p:nvPr/>
        </p:nvSpPr>
        <p:spPr>
          <a:xfrm>
            <a:off x="1371600" y="3767328"/>
            <a:ext cx="5029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Conversa con estudiantes.</a:t>
            </a:r>
            <a:endParaRPr lang="en-US" sz="1800" dirty="0"/>
          </a:p>
        </p:txBody>
      </p:sp>
      <p:sp>
        <p:nvSpPr>
          <p:cNvPr id="15" name="Icon circle 228"/>
          <p:cNvSpPr/>
          <p:nvPr/>
        </p:nvSpPr>
        <p:spPr>
          <a:xfrm>
            <a:off x="548640" y="4553712"/>
            <a:ext cx="585216" cy="585216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con FaFlask 229" descr="FaFlas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944" y="4700016"/>
            <a:ext cx="292608" cy="292608"/>
          </a:xfrm>
          <a:prstGeom prst="rect">
            <a:avLst/>
          </a:prstGeom>
        </p:spPr>
      </p:pic>
      <p:sp>
        <p:nvSpPr>
          <p:cNvPr id="17" name="Vive item 230"/>
          <p:cNvSpPr txBox="1"/>
          <p:nvPr/>
        </p:nvSpPr>
        <p:spPr>
          <a:xfrm>
            <a:off x="1371600" y="4553712"/>
            <a:ext cx="5029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Descubre laboratorios y actividades.</a:t>
            </a:r>
            <a:endParaRPr lang="en-US" sz="1800" dirty="0"/>
          </a:p>
        </p:txBody>
      </p:sp>
      <p:sp>
        <p:nvSpPr>
          <p:cNvPr id="18" name="Icon circle 231"/>
          <p:cNvSpPr/>
          <p:nvPr/>
        </p:nvSpPr>
        <p:spPr>
          <a:xfrm>
            <a:off x="548640" y="5340096"/>
            <a:ext cx="585216" cy="585216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9" name="Icon FaHandshake 232" descr="FaHandshak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944" y="5486400"/>
            <a:ext cx="292608" cy="292608"/>
          </a:xfrm>
          <a:prstGeom prst="rect">
            <a:avLst/>
          </a:prstGeom>
        </p:spPr>
      </p:pic>
      <p:sp>
        <p:nvSpPr>
          <p:cNvPr id="20" name="Vive item 233"/>
          <p:cNvSpPr txBox="1"/>
          <p:nvPr/>
        </p:nvSpPr>
        <p:spPr>
          <a:xfrm>
            <a:off x="1371600" y="5340096"/>
            <a:ext cx="5029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Sé su anfitrión.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989320" y="6400800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1" grpId="0" animBg="1"/>
      <p:bldP spid="12" grpId="0" animBg="1"/>
      <p:bldP spid="14" grpId="0" animBg="1"/>
      <p:bldP spid="15" grpId="0" animBg="1"/>
      <p:bldP spid="17" grpId="0" animBg="1"/>
      <p:bldP spid="18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6" type="title" hasCustomPrompt="1"/>
          </p:nvPr>
        </p:nvSpPr>
        <p:spPr>
          <a:xfrm>
            <a:off x="548640" y="566928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Recomendados</a:t>
            </a:r>
            <a:endParaRPr lang="en-US" sz="3400" dirty="0"/>
          </a:p>
        </p:txBody>
      </p:sp>
      <p:sp>
        <p:nvSpPr>
          <p:cNvPr id="3" name="Intro 234"/>
          <p:cNvSpPr txBox="1"/>
          <p:nvPr/>
        </p:nvSpPr>
        <p:spPr>
          <a:xfrm>
            <a:off x="548640" y="137160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Con esta información podemos analizar que los medios de contacto de Recomendados, Ferias Escolares y Página Web son los más importantes generadores de inscritos. Para lo cual la propuesta es la siguiente:</a:t>
            </a:r>
            <a:endParaRPr lang="en-US" sz="1400" dirty="0"/>
          </a:p>
        </p:txBody>
      </p:sp>
      <p:sp>
        <p:nvSpPr>
          <p:cNvPr id="4" name="Program card 235"/>
          <p:cNvSpPr/>
          <p:nvPr/>
        </p:nvSpPr>
        <p:spPr>
          <a:xfrm>
            <a:off x="548640" y="2286000"/>
            <a:ext cx="731520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5" name="Icon circle 236"/>
          <p:cNvSpPr/>
          <p:nvPr/>
        </p:nvSpPr>
        <p:spPr>
          <a:xfrm>
            <a:off x="822960" y="251460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 FaLink 237" descr="FaLi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" y="2686050"/>
            <a:ext cx="342900" cy="342900"/>
          </a:xfrm>
          <a:prstGeom prst="rect">
            <a:avLst/>
          </a:prstGeom>
        </p:spPr>
      </p:pic>
      <p:sp>
        <p:nvSpPr>
          <p:cNvPr id="7" name="Program text 238"/>
          <p:cNvSpPr txBox="1"/>
          <p:nvPr/>
        </p:nvSpPr>
        <p:spPr>
          <a:xfrm>
            <a:off x="1737360" y="2377440"/>
            <a:ext cx="5943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700" b="1" dirty="0">
                <a:solidFill>
                  <a:schemeClr val="tx2"/>
                </a:solidFill>
              </a:rPr>
              <a:t>Programa de Recomendados</a:t>
            </a:r>
            <a:endParaRPr lang="en-US" sz="17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La propuesta es convertir la recomendación en un programa comercial estructurado. Cada alumno inscrito recibe un código o enlace personalizado de recomendación.</a:t>
            </a:r>
            <a:endParaRPr lang="en-US" sz="1700" dirty="0"/>
          </a:p>
        </p:txBody>
      </p:sp>
      <p:sp>
        <p:nvSpPr>
          <p:cNvPr id="8" name="Bonus card 239"/>
          <p:cNvSpPr/>
          <p:nvPr/>
        </p:nvSpPr>
        <p:spPr>
          <a:xfrm>
            <a:off x="548640" y="3611880"/>
            <a:ext cx="3520440" cy="2514600"/>
          </a:xfrm>
          <a:prstGeom prst="roundRect">
            <a:avLst>
              <a:gd name="adj" fmla="val 4364"/>
            </a:avLst>
          </a:prstGeom>
          <a:solidFill>
            <a:schemeClr val="tx2"/>
          </a:solidFill>
          <a:ln/>
          <a:effectLst>
            <a:outerShdw sx="100000" sy="100000" kx="0" ky="0" algn="bl" rotWithShape="0" blurRad="127000" dist="38100" dir="5400000">
              <a:srgbClr val="0E2A47">
                <a:alpha val="14000"/>
              </a:srgbClr>
            </a:outerShdw>
          </a:effectLst>
        </p:spPr>
      </p:sp>
      <p:sp>
        <p:nvSpPr>
          <p:cNvPr id="9" name="Bonus title 240"/>
          <p:cNvSpPr txBox="1"/>
          <p:nvPr/>
        </p:nvSpPr>
        <p:spPr>
          <a:xfrm>
            <a:off x="822960" y="379476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Beneficio económico (Bono especial)</a:t>
            </a:r>
            <a:endParaRPr lang="en-US" sz="1500" dirty="0"/>
          </a:p>
        </p:txBody>
      </p:sp>
      <p:sp>
        <p:nvSpPr>
          <p:cNvPr id="10" name="Bonus row label 241"/>
          <p:cNvSpPr txBox="1"/>
          <p:nvPr/>
        </p:nvSpPr>
        <p:spPr>
          <a:xfrm>
            <a:off x="822960" y="438912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 invitado inscrito</a:t>
            </a:r>
            <a:endParaRPr lang="en-US" sz="1400" dirty="0"/>
          </a:p>
        </p:txBody>
      </p:sp>
      <p:sp>
        <p:nvSpPr>
          <p:cNvPr id="11" name="Bonus row amount 242"/>
          <p:cNvSpPr txBox="1"/>
          <p:nvPr/>
        </p:nvSpPr>
        <p:spPr>
          <a:xfrm>
            <a:off x="2697480" y="438912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$2,000</a:t>
            </a:r>
            <a:endParaRPr lang="en-US" sz="2200" dirty="0"/>
          </a:p>
        </p:txBody>
      </p:sp>
      <p:sp>
        <p:nvSpPr>
          <p:cNvPr id="12" name="Bonus row label 243"/>
          <p:cNvSpPr txBox="1"/>
          <p:nvPr/>
        </p:nvSpPr>
        <p:spPr>
          <a:xfrm>
            <a:off x="822960" y="493776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2 invitados inscritos</a:t>
            </a:r>
            <a:endParaRPr lang="en-US" sz="1400" dirty="0"/>
          </a:p>
        </p:txBody>
      </p:sp>
      <p:sp>
        <p:nvSpPr>
          <p:cNvPr id="13" name="Bonus row amount 244"/>
          <p:cNvSpPr txBox="1"/>
          <p:nvPr/>
        </p:nvSpPr>
        <p:spPr>
          <a:xfrm>
            <a:off x="2697480" y="493776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$3,500</a:t>
            </a:r>
            <a:endParaRPr lang="en-US" sz="2200" dirty="0"/>
          </a:p>
        </p:txBody>
      </p:sp>
      <p:sp>
        <p:nvSpPr>
          <p:cNvPr id="14" name="Bonus row label 245"/>
          <p:cNvSpPr txBox="1"/>
          <p:nvPr/>
        </p:nvSpPr>
        <p:spPr>
          <a:xfrm>
            <a:off x="822960" y="54864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3 invitados inscritos</a:t>
            </a:r>
            <a:endParaRPr lang="en-US" sz="1400" dirty="0"/>
          </a:p>
        </p:txBody>
      </p:sp>
      <p:sp>
        <p:nvSpPr>
          <p:cNvPr id="15" name="Bonus row amount 246"/>
          <p:cNvSpPr txBox="1"/>
          <p:nvPr/>
        </p:nvSpPr>
        <p:spPr>
          <a:xfrm>
            <a:off x="2697480" y="548640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$5,000</a:t>
            </a:r>
            <a:endParaRPr lang="en-US" sz="2200" dirty="0"/>
          </a:p>
        </p:txBody>
      </p:sp>
      <p:sp>
        <p:nvSpPr>
          <p:cNvPr id="16" name="Belonging card 247"/>
          <p:cNvSpPr/>
          <p:nvPr/>
        </p:nvSpPr>
        <p:spPr>
          <a:xfrm>
            <a:off x="4343400" y="3611880"/>
            <a:ext cx="352044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17" name="Belonging title 248"/>
          <p:cNvSpPr txBox="1"/>
          <p:nvPr/>
        </p:nvSpPr>
        <p:spPr>
          <a:xfrm>
            <a:off x="4617720" y="379476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Beneficio de Pertenencia:</a:t>
            </a:r>
            <a:endParaRPr lang="en-US" sz="1500" dirty="0"/>
          </a:p>
        </p:txBody>
      </p:sp>
      <p:sp>
        <p:nvSpPr>
          <p:cNvPr id="18" name="Belonging items 249"/>
          <p:cNvSpPr txBox="1"/>
          <p:nvPr/>
        </p:nvSpPr>
        <p:spPr>
          <a:xfrm>
            <a:off x="4617720" y="438912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</a:rPr>
              <a:t>Reconocimiento al “Embajador Westhill del mes”. (Historias de Instagram).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</a:rPr>
              <a:t>Dar un regalo como termo, paraguas, sudadera, etc.</a:t>
            </a:r>
            <a:endParaRPr lang="en-US" sz="1400" dirty="0"/>
          </a:p>
        </p:txBody>
      </p:sp>
      <p:pic>
        <p:nvPicPr>
          <p:cNvPr id="19" name="Current flyer 250" descr="Programa de referidos actu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420000">
            <a:off x="8144405" y="1463040"/>
            <a:ext cx="3498650" cy="452628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E2A47">
                <a:alpha val="14000"/>
              </a:srgbClr>
            </a:outerShdw>
          </a:effectLst>
        </p:spPr>
      </p:pic>
      <p:sp>
        <p:nvSpPr>
          <p:cNvPr id="20" name="Current tag 251"/>
          <p:cNvSpPr txBox="1"/>
          <p:nvPr/>
        </p:nvSpPr>
        <p:spPr>
          <a:xfrm>
            <a:off x="8327285" y="5440680"/>
            <a:ext cx="1188720" cy="36576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chemeClr val="tx2"/>
                </a:solidFill>
              </a:rPr>
              <a:t>ACTUAL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00800"/>
            <a:ext cx="36576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losing background 252" descr="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25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0048" y="1097280"/>
            <a:ext cx="1371600" cy="1647334"/>
          </a:xfrm>
          <a:prstGeom prst="rect">
            <a:avLst/>
          </a:prstGeom>
        </p:spPr>
      </p:pic>
      <p:sp>
        <p:nvSpPr>
          <p:cNvPr id="4" name="Closing hashtag 254"/>
          <p:cNvSpPr txBox="1"/>
          <p:nvPr/>
        </p:nvSpPr>
        <p:spPr>
          <a:xfrm>
            <a:off x="914400" y="301752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spc="400" kern="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#SOMOSWESTHILL</a:t>
            </a:r>
            <a:endParaRPr lang="en-US" sz="5400" dirty="0"/>
          </a:p>
        </p:txBody>
      </p:sp>
      <p:sp>
        <p:nvSpPr>
          <p:cNvPr id="5" name="Closing subtitle 255"/>
          <p:cNvSpPr txBox="1"/>
          <p:nvPr/>
        </p:nvSpPr>
        <p:spPr>
          <a:xfrm>
            <a:off x="914400" y="3977640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5"/>
                </a:solidFill>
              </a:rPr>
              <a:t>Embajadores Westhill 2.0  ·  Plan de Acción Enero 2027</a:t>
            </a:r>
            <a:endParaRPr lang="en-US" sz="1800" dirty="0"/>
          </a:p>
        </p:txBody>
      </p:sp>
      <p:sp>
        <p:nvSpPr>
          <p:cNvPr id="6" name="Handle 256"/>
          <p:cNvSpPr txBox="1"/>
          <p:nvPr/>
        </p:nvSpPr>
        <p:spPr>
          <a:xfrm>
            <a:off x="4769968" y="4754880"/>
            <a:ext cx="2651760" cy="54864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@univwesthill</a:t>
            </a:r>
            <a:endParaRPr lang="en-US" sz="1800" dirty="0"/>
          </a:p>
        </p:txBody>
      </p:sp>
      <p:pic>
        <p:nvPicPr>
          <p:cNvPr id="7" name="Paw print 257" descr="Huella">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822960" y="5943600"/>
            <a:ext cx="384048" cy="341131"/>
          </a:xfrm>
          <a:prstGeom prst="rect">
            <a:avLst/>
          </a:prstGeom>
        </p:spPr>
      </p:pic>
      <p:pic>
        <p:nvPicPr>
          <p:cNvPr id="8" name="Paw print 258" descr="Huella">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 rot="900000">
            <a:off x="1463040" y="5532120"/>
            <a:ext cx="384048" cy="341131"/>
          </a:xfrm>
          <a:prstGeom prst="rect">
            <a:avLst/>
          </a:prstGeom>
        </p:spPr>
      </p:pic>
      <p:pic>
        <p:nvPicPr>
          <p:cNvPr id="9" name="Paw print 259" descr="Huella">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 rot="1800000">
            <a:off x="2194560" y="5852160"/>
            <a:ext cx="384048" cy="341131"/>
          </a:xfrm>
          <a:prstGeom prst="rect">
            <a:avLst/>
          </a:prstGeom>
        </p:spPr>
      </p:pic>
      <p:pic>
        <p:nvPicPr>
          <p:cNvPr id="10" name="Paw print 260" descr="Huella">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 rot="12000000">
            <a:off x="9448495" y="685800"/>
            <a:ext cx="384048" cy="341131"/>
          </a:xfrm>
          <a:prstGeom prst="rect">
            <a:avLst/>
          </a:prstGeom>
        </p:spPr>
      </p:pic>
      <p:pic>
        <p:nvPicPr>
          <p:cNvPr id="11" name="Paw print 261" descr="Huella">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 rot="12900000">
            <a:off x="10180015" y="320040"/>
            <a:ext cx="384048" cy="341131"/>
          </a:xfrm>
          <a:prstGeom prst="rect">
            <a:avLst/>
          </a:prstGeom>
        </p:spPr>
      </p:pic>
      <p:pic>
        <p:nvPicPr>
          <p:cNvPr id="12" name="Paw print 262" descr="Huella">    </p:cNvPr>
          <p:cNvPicPr>
            <a:picLocks noChangeAspect="1"/>
          </p:cNvPicPr>
          <p:nvPr/>
        </p:nvPicPr>
        <p:blipFill>
          <a:blip r:embed="rId8">
            <a:alphaModFix amt="70000"/>
          </a:blip>
          <a:stretch>
            <a:fillRect/>
          </a:stretch>
        </p:blipFill>
        <p:spPr>
          <a:xfrm rot="13800000">
            <a:off x="10865815" y="685800"/>
            <a:ext cx="384048" cy="341131"/>
          </a:xfrm>
          <a:prstGeom prst="rect">
            <a:avLst/>
          </a:prstGeom>
        </p:spPr>
      </p:pic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theme/theme1.xml><?xml version="1.0" encoding="utf-8"?>
<a:theme xmlns:a="http://schemas.openxmlformats.org/drawingml/2006/main" name="Westhill Embajadores">
  <a:themeElements>
    <a:clrScheme name="Westhill Embajadores">
      <a:dk1>
        <a:srgbClr val="15243A"/>
      </a:dk1>
      <a:lt1>
        <a:srgbClr val="FFFFFF"/>
      </a:lt1>
      <a:dk2>
        <a:srgbClr val="0E2A47"/>
      </a:dk2>
      <a:lt2>
        <a:srgbClr val="EDF3FA"/>
      </a:lt2>
      <a:accent1>
        <a:srgbClr val="266294"/>
      </a:accent1>
      <a:accent2>
        <a:srgbClr val="F2C94C"/>
      </a:accent2>
      <a:accent3>
        <a:srgbClr val="4A90C8"/>
      </a:accent3>
      <a:accent4>
        <a:srgbClr val="163A5F"/>
      </a:accent4>
      <a:accent5>
        <a:srgbClr val="8FB3D9"/>
      </a:accent5>
      <a:accent6>
        <a:srgbClr val="5B6B7D"/>
      </a:accent6>
      <a:hlink>
        <a:srgbClr val="266294"/>
      </a:hlink>
      <a:folHlink>
        <a:srgbClr val="163A5F"/>
      </a:folHlink>
    </a:clrScheme>
    <a:fontScheme name="Westhill Embajadore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Universidad Westhill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 de Acción Enero 2027 · Embajadores Westhill 2.0</dc:title>
  <dc:subject>PptxGenJS Presentation</dc:subject>
  <dc:creator>Universidad Westhill</dc:creator>
  <cp:lastModifiedBy>Universidad Westhill</cp:lastModifiedBy>
  <cp:revision>1</cp:revision>
  <dcterms:created xsi:type="dcterms:W3CDTF">2026-10-05T17:31:26Z</dcterms:created>
  <dcterms:modified xsi:type="dcterms:W3CDTF">2026-10-05T17:31:26Z</dcterms:modified>
</cp:coreProperties>
</file>
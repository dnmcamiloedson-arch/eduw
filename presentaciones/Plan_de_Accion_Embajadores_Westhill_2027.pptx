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9e1b2290-7e66-aabc-2770-5df858875222}">
          <p14:sldIdLst>
            <p14:sldId id="256"/>
          </p14:sldIdLst>
        </p14:section>
        <p14:section name="Programa" id="{fe7f3ff8-6bdc-95e4-727f-45b8a427b535}">
          <p14:sldIdLst>
            <p14:sldId id="257"/>
            <p14:sldId id="258"/>
            <p14:sldId id="259"/>
          </p14:sldIdLst>
        </p14:section>
        <p14:section name="Mecánica" id="{0bcb8d4c-3ea6-703d-21a6-f8f6624de7e4}">
          <p14:sldIdLst>
            <p14:sldId id="260"/>
            <p14:sldId id="261"/>
            <p14:sldId id="262"/>
            <p14:sldId id="263"/>
          </p14:sldIdLst>
        </p14:section>
        <p14:section name="Niveles y beneficios" id="{f6e6abfd-e017-c177-cf49-a3179dac980d}">
          <p14:sldIdLst>
            <p14:sldId id="264"/>
            <p14:sldId id="265"/>
            <p14:sldId id="266"/>
            <p14:sldId id="267"/>
          </p14:sldIdLst>
        </p14:section>
        <p14:section name="Iniciativas" id="{5bc54f1b-8162-bb46-f47d-2d05e3048e94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Cierre" id="{733657d8-9156-335c-b63d-56488b31f7b5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6943" y="-36576"/>
            <a:ext cx="896112" cy="107625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351215" y="6510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Int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jpe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over title 4"/>
          <p:cNvSpPr txBox="1"/>
          <p:nvPr/>
        </p:nvSpPr>
        <p:spPr>
          <a:xfrm>
            <a:off x="411480" y="25146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</a:t>
            </a:r>
            <a:endParaRPr lang="en-US" sz="4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5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7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8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8800" dirty="0"/>
          </a:p>
        </p:txBody>
      </p:sp>
      <p:sp>
        <p:nvSpPr>
          <p:cNvPr id="6" name="Section kicker 9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0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3000" dirty="0"/>
          </a:p>
        </p:txBody>
      </p:sp>
      <p:sp>
        <p:nvSpPr>
          <p:cNvPr id="4" name="Program description 12"/>
          <p:cNvSpPr txBox="1"/>
          <p:nvPr/>
        </p:nvSpPr>
        <p:spPr>
          <a:xfrm>
            <a:off x="548640" y="2055553"/>
            <a:ext cx="603504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 de Embajadores Westhill es una iniciativa para que nuestros estudiantes compartan su experiencia, representen a la Universidad y ayuden a más jóvenes a descubrir su camino profesional.</a:t>
            </a:r>
            <a:endParaRPr lang="en-US" sz="1700" dirty="0"/>
          </a:p>
        </p:txBody>
      </p:sp>
      <p:pic>
        <p:nvPicPr>
          <p:cNvPr id="5" name="Objective card 1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23425"/>
            <a:ext cx="603504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Watermark FaBullseye 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741189"/>
            <a:ext cx="1645920" cy="1645920"/>
          </a:xfrm>
          <a:prstGeom prst="rect">
            <a:avLst/>
          </a:prstGeom>
        </p:spPr>
      </p:pic>
      <p:pic>
        <p:nvPicPr>
          <p:cNvPr id="7" name="Icon FaBullseye 15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29611"/>
            <a:ext cx="731520" cy="731520"/>
          </a:xfrm>
          <a:prstGeom prst="rect">
            <a:avLst/>
          </a:prstGeom>
        </p:spPr>
      </p:pic>
      <p:sp>
        <p:nvSpPr>
          <p:cNvPr id="8" name="Objective label 16"/>
          <p:cNvSpPr txBox="1"/>
          <p:nvPr/>
        </p:nvSpPr>
        <p:spPr>
          <a:xfrm>
            <a:off x="1828800" y="3937000"/>
            <a:ext cx="365760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</a:t>
            </a:r>
            <a:endParaRPr lang="en-US" sz="1600" dirty="0"/>
          </a:p>
        </p:txBody>
      </p:sp>
      <p:sp>
        <p:nvSpPr>
          <p:cNvPr id="9" name="Objective text 17"/>
          <p:cNvSpPr txBox="1"/>
          <p:nvPr/>
        </p:nvSpPr>
        <p:spPr>
          <a:xfrm>
            <a:off x="914400" y="4832927"/>
            <a:ext cx="5303520" cy="1388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más prospectos e inscritos, fortaleciendo el sentido de pertenencia de nuestros estudiantes y posicionando a Westhill a través de su voz auténtica.</a:t>
            </a:r>
            <a:endParaRPr lang="en-US" sz="1700" dirty="0"/>
          </a:p>
        </p:txBody>
      </p:sp>
      <p:pic>
        <p:nvPicPr>
          <p:cNvPr id="10" name="Why card 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055553"/>
            <a:ext cx="4690872" cy="434524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1" name="Why title 19"/>
          <p:cNvSpPr txBox="1"/>
          <p:nvPr/>
        </p:nvSpPr>
        <p:spPr>
          <a:xfrm>
            <a:off x="7269480" y="2234738"/>
            <a:ext cx="420624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ser embajador?</a:t>
            </a:r>
            <a:endParaRPr lang="en-US" sz="1900" dirty="0"/>
          </a:p>
        </p:txBody>
      </p:sp>
      <p:pic>
        <p:nvPicPr>
          <p:cNvPr id="12" name="Icon FaHandHoldingHeart 20" descr="HandHoldingHe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2901511"/>
            <a:ext cx="512064" cy="512064"/>
          </a:xfrm>
          <a:prstGeom prst="rect">
            <a:avLst/>
          </a:prstGeom>
        </p:spPr>
      </p:pic>
      <p:sp>
        <p:nvSpPr>
          <p:cNvPr id="13" name="Why item 21"/>
          <p:cNvSpPr txBox="1"/>
          <p:nvPr/>
        </p:nvSpPr>
        <p:spPr>
          <a:xfrm>
            <a:off x="7955280" y="2906684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Haces la diferencia en la vida de otros.</a:t>
            </a:r>
            <a:endParaRPr lang="en-US" sz="1500" dirty="0"/>
          </a:p>
        </p:txBody>
      </p:sp>
      <p:pic>
        <p:nvPicPr>
          <p:cNvPr id="14" name="Icon FaBuildingColumns 22" descr="BuildingColum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582416"/>
            <a:ext cx="512064" cy="512064"/>
          </a:xfrm>
          <a:prstGeom prst="rect">
            <a:avLst/>
          </a:prstGeom>
        </p:spPr>
      </p:pic>
      <p:sp>
        <p:nvSpPr>
          <p:cNvPr id="15" name="Why item 23"/>
          <p:cNvSpPr txBox="1"/>
          <p:nvPr/>
        </p:nvSpPr>
        <p:spPr>
          <a:xfrm>
            <a:off x="7955280" y="358758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Fortalece tu universidad.</a:t>
            </a:r>
            <a:endParaRPr lang="en-US" sz="1500" dirty="0"/>
          </a:p>
        </p:txBody>
      </p:sp>
      <p:pic>
        <p:nvPicPr>
          <p:cNvPr id="16" name="Icon FaRankingStar 24" descr="Ranking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4263321"/>
            <a:ext cx="512064" cy="512064"/>
          </a:xfrm>
          <a:prstGeom prst="rect">
            <a:avLst/>
          </a:prstGeom>
        </p:spPr>
      </p:pic>
      <p:sp>
        <p:nvSpPr>
          <p:cNvPr id="17" name="Why item 25"/>
          <p:cNvSpPr txBox="1"/>
          <p:nvPr/>
        </p:nvSpPr>
        <p:spPr>
          <a:xfrm>
            <a:off x="7955280" y="426849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Desarrollas habilidades de liderazgo.</a:t>
            </a:r>
            <a:endParaRPr lang="en-US" sz="1500" dirty="0"/>
          </a:p>
        </p:txBody>
      </p:sp>
      <p:pic>
        <p:nvPicPr>
          <p:cNvPr id="18" name="Icon FaGift 26" descr="Gif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4944225"/>
            <a:ext cx="512064" cy="512064"/>
          </a:xfrm>
          <a:prstGeom prst="rect">
            <a:avLst/>
          </a:prstGeom>
        </p:spPr>
      </p:pic>
      <p:sp>
        <p:nvSpPr>
          <p:cNvPr id="19" name="Why item 27"/>
          <p:cNvSpPr txBox="1"/>
          <p:nvPr/>
        </p:nvSpPr>
        <p:spPr>
          <a:xfrm>
            <a:off x="7955280" y="494939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Obtienes incentivos y reconocimientos.</a:t>
            </a:r>
            <a:endParaRPr lang="en-US" sz="1500" dirty="0"/>
          </a:p>
        </p:txBody>
      </p:sp>
      <p:pic>
        <p:nvPicPr>
          <p:cNvPr id="20" name="Icon FaStar 28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5625130"/>
            <a:ext cx="512064" cy="512064"/>
          </a:xfrm>
          <a:prstGeom prst="rect">
            <a:avLst/>
          </a:prstGeom>
        </p:spPr>
      </p:pic>
      <p:sp>
        <p:nvSpPr>
          <p:cNvPr id="21" name="Why item 29"/>
          <p:cNvSpPr txBox="1"/>
          <p:nvPr/>
        </p:nvSpPr>
        <p:spPr>
          <a:xfrm>
            <a:off x="7955280" y="563030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Vives experiencias únicas.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30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basa en 3 perfiles</a:t>
            </a:r>
            <a:endParaRPr lang="en-US" sz="3000" dirty="0"/>
          </a:p>
        </p:txBody>
      </p:sp>
      <p:pic>
        <p:nvPicPr>
          <p:cNvPr id="4" name="Profile card 3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hareNodes 32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16018"/>
            <a:ext cx="822960" cy="822960"/>
          </a:xfrm>
          <a:prstGeom prst="rect">
            <a:avLst/>
          </a:prstGeom>
        </p:spPr>
      </p:pic>
      <p:sp>
        <p:nvSpPr>
          <p:cNvPr id="6" name="Profile kicker 33"/>
          <p:cNvSpPr txBox="1"/>
          <p:nvPr/>
        </p:nvSpPr>
        <p:spPr>
          <a:xfrm>
            <a:off x="868680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7" name="Profile name 34"/>
          <p:cNvSpPr txBox="1"/>
          <p:nvPr/>
        </p:nvSpPr>
        <p:spPr>
          <a:xfrm>
            <a:off x="868680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CONECTA</a:t>
            </a:r>
            <a:endParaRPr lang="en-US" sz="2700" dirty="0"/>
          </a:p>
        </p:txBody>
      </p:sp>
      <p:sp>
        <p:nvSpPr>
          <p:cNvPr id="8" name="Profile items 35"/>
          <p:cNvSpPr txBox="1"/>
          <p:nvPr/>
        </p:nvSpPr>
        <p:spPr>
          <a:xfrm>
            <a:off x="868680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Westhill con amigos, familiares y conocidos.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eventos.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prospectos con tu código o enlace personal.</a:t>
            </a:r>
            <a:endParaRPr lang="en-US" sz="1400" dirty="0"/>
          </a:p>
        </p:txBody>
      </p:sp>
      <p:pic>
        <p:nvPicPr>
          <p:cNvPr id="9" name="Profile card 3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UserGraduate 37" descr="UserGradu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316018"/>
            <a:ext cx="822960" cy="822960"/>
          </a:xfrm>
          <a:prstGeom prst="rect">
            <a:avLst/>
          </a:prstGeom>
        </p:spPr>
      </p:pic>
      <p:sp>
        <p:nvSpPr>
          <p:cNvPr id="11" name="Profile kicker 38"/>
          <p:cNvSpPr txBox="1"/>
          <p:nvPr/>
        </p:nvSpPr>
        <p:spPr>
          <a:xfrm>
            <a:off x="4681728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2" name="Profile name 39"/>
          <p:cNvSpPr txBox="1"/>
          <p:nvPr/>
        </p:nvSpPr>
        <p:spPr>
          <a:xfrm>
            <a:off x="4681728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</a:t>
            </a:r>
            <a:endParaRPr lang="en-US" sz="2700" dirty="0"/>
          </a:p>
        </p:txBody>
      </p:sp>
      <p:sp>
        <p:nvSpPr>
          <p:cNvPr id="13" name="Profile items 40"/>
          <p:cNvSpPr txBox="1"/>
          <p:nvPr/>
        </p:nvSpPr>
        <p:spPr>
          <a:xfrm>
            <a:off x="4681728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eventos, ferias y webinars.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tu experiencia como estudiante.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Graba testimonios y contenido.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 a prospectos en visitas.</a:t>
            </a:r>
            <a:endParaRPr lang="en-US" sz="1400" dirty="0"/>
          </a:p>
        </p:txBody>
      </p:sp>
      <p:pic>
        <p:nvPicPr>
          <p:cNvPr id="14" name="Profile card 4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Watermark FaCrown 4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8712" y="5134956"/>
            <a:ext cx="1143000" cy="1143000"/>
          </a:xfrm>
          <a:prstGeom prst="rect">
            <a:avLst/>
          </a:prstGeom>
        </p:spPr>
      </p:pic>
      <p:pic>
        <p:nvPicPr>
          <p:cNvPr id="16" name="Icon FaCrown 43" descr="C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2316018"/>
            <a:ext cx="822960" cy="822960"/>
          </a:xfrm>
          <a:prstGeom prst="rect">
            <a:avLst/>
          </a:prstGeom>
        </p:spPr>
      </p:pic>
      <p:sp>
        <p:nvSpPr>
          <p:cNvPr id="17" name="Highlight tag 44"/>
          <p:cNvSpPr txBox="1"/>
          <p:nvPr/>
        </p:nvSpPr>
        <p:spPr>
          <a:xfrm>
            <a:off x="10085832" y="2458720"/>
            <a:ext cx="1280160" cy="322534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DESTACADO</a:t>
            </a:r>
            <a:endParaRPr lang="en-US" sz="1000" dirty="0"/>
          </a:p>
        </p:txBody>
      </p:sp>
      <p:sp>
        <p:nvSpPr>
          <p:cNvPr id="18" name="Profile kicker 45"/>
          <p:cNvSpPr txBox="1"/>
          <p:nvPr/>
        </p:nvSpPr>
        <p:spPr>
          <a:xfrm>
            <a:off x="8494776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9" name="Profile name 46"/>
          <p:cNvSpPr txBox="1"/>
          <p:nvPr/>
        </p:nvSpPr>
        <p:spPr>
          <a:xfrm>
            <a:off x="8494776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</a:t>
            </a:r>
            <a:endParaRPr lang="en-US" sz="2700" dirty="0"/>
          </a:p>
        </p:txBody>
      </p:sp>
      <p:sp>
        <p:nvSpPr>
          <p:cNvPr id="20" name="Profile items 47"/>
          <p:cNvSpPr txBox="1"/>
          <p:nvPr/>
        </p:nvSpPr>
        <p:spPr>
          <a:xfrm>
            <a:off x="8494776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 un alumno destacado que representa a Westhill.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campañas institucionales.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Apoya en eventos de atracción.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Puede ser parte de videos y material de promoción.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48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4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50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51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8800" dirty="0"/>
          </a:p>
        </p:txBody>
      </p:sp>
      <p:sp>
        <p:nvSpPr>
          <p:cNvPr id="6" name="Section kicker 52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53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54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000" dirty="0"/>
          </a:p>
        </p:txBody>
      </p:sp>
      <p:pic>
        <p:nvPicPr>
          <p:cNvPr id="4" name="Step card 5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5" name="Step number 56"/>
          <p:cNvSpPr txBox="1"/>
          <p:nvPr/>
        </p:nvSpPr>
        <p:spPr>
          <a:xfrm>
            <a:off x="82296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000" dirty="0"/>
          </a:p>
        </p:txBody>
      </p:sp>
      <p:pic>
        <p:nvPicPr>
          <p:cNvPr id="6" name="Icon FaQrcode 57" descr="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405611"/>
            <a:ext cx="822960" cy="822960"/>
          </a:xfrm>
          <a:prstGeom prst="rect">
            <a:avLst/>
          </a:prstGeom>
        </p:spPr>
      </p:pic>
      <p:sp>
        <p:nvSpPr>
          <p:cNvPr id="7" name="Step head 58"/>
          <p:cNvSpPr txBox="1"/>
          <p:nvPr/>
        </p:nvSpPr>
        <p:spPr>
          <a:xfrm>
            <a:off x="82296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2000" dirty="0"/>
          </a:p>
        </p:txBody>
      </p:sp>
      <p:sp>
        <p:nvSpPr>
          <p:cNvPr id="8" name="Step body 59"/>
          <p:cNvSpPr txBox="1"/>
          <p:nvPr/>
        </p:nvSpPr>
        <p:spPr>
          <a:xfrm>
            <a:off x="82296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QR personalizado</a:t>
            </a:r>
            <a:endParaRPr lang="en-US" sz="1600" dirty="0"/>
          </a:p>
        </p:txBody>
      </p:sp>
      <p:pic>
        <p:nvPicPr>
          <p:cNvPr id="9" name="Icon FaChevronRight 60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804" y="3717544"/>
            <a:ext cx="438912" cy="438912"/>
          </a:xfrm>
          <a:prstGeom prst="rect">
            <a:avLst/>
          </a:prstGeom>
        </p:spPr>
      </p:pic>
      <p:pic>
        <p:nvPicPr>
          <p:cNvPr id="10" name="Step card 6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1" name="Step number 62"/>
          <p:cNvSpPr txBox="1"/>
          <p:nvPr/>
        </p:nvSpPr>
        <p:spPr>
          <a:xfrm>
            <a:off x="365760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000" dirty="0"/>
          </a:p>
        </p:txBody>
      </p:sp>
      <p:pic>
        <p:nvPicPr>
          <p:cNvPr id="12" name="Icon FaCalendarCheck 63" descr="Calendar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405611"/>
            <a:ext cx="822960" cy="822960"/>
          </a:xfrm>
          <a:prstGeom prst="rect">
            <a:avLst/>
          </a:prstGeom>
        </p:spPr>
      </p:pic>
      <p:sp>
        <p:nvSpPr>
          <p:cNvPr id="13" name="Step head 64"/>
          <p:cNvSpPr txBox="1"/>
          <p:nvPr/>
        </p:nvSpPr>
        <p:spPr>
          <a:xfrm>
            <a:off x="365760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Tus referidos</a:t>
            </a:r>
            <a:endParaRPr lang="en-US" sz="2000" dirty="0"/>
          </a:p>
        </p:txBody>
      </p:sp>
      <p:sp>
        <p:nvSpPr>
          <p:cNvPr id="14" name="Step body 65"/>
          <p:cNvSpPr txBox="1"/>
          <p:nvPr/>
        </p:nvSpPr>
        <p:spPr>
          <a:xfrm>
            <a:off x="365760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Agendan su visita</a:t>
            </a:r>
            <a:endParaRPr lang="en-US" sz="1600" dirty="0"/>
          </a:p>
        </p:txBody>
      </p:sp>
      <p:pic>
        <p:nvPicPr>
          <p:cNvPr id="15" name="Icon FaChevronRight 66" descr="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8444" y="3717544"/>
            <a:ext cx="438912" cy="438912"/>
          </a:xfrm>
          <a:prstGeom prst="rect">
            <a:avLst/>
          </a:prstGeom>
        </p:spPr>
      </p:pic>
      <p:pic>
        <p:nvPicPr>
          <p:cNvPr id="16" name="Step card 6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7" name="Watermark FaMoneyBillWave 6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4956695"/>
            <a:ext cx="1051560" cy="1051560"/>
          </a:xfrm>
          <a:prstGeom prst="rect">
            <a:avLst/>
          </a:prstGeom>
        </p:spPr>
      </p:pic>
      <p:sp>
        <p:nvSpPr>
          <p:cNvPr id="18" name="Step number 69"/>
          <p:cNvSpPr txBox="1"/>
          <p:nvPr/>
        </p:nvSpPr>
        <p:spPr>
          <a:xfrm>
            <a:off x="649224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4000" dirty="0"/>
          </a:p>
        </p:txBody>
      </p:sp>
      <p:pic>
        <p:nvPicPr>
          <p:cNvPr id="19" name="Icon FaMoneyBillWave 70" descr="MoneyBillWav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5240" y="2405611"/>
            <a:ext cx="822960" cy="822960"/>
          </a:xfrm>
          <a:prstGeom prst="rect">
            <a:avLst/>
          </a:prstGeom>
        </p:spPr>
      </p:pic>
      <p:sp>
        <p:nvSpPr>
          <p:cNvPr id="20" name="Step head 71"/>
          <p:cNvSpPr txBox="1"/>
          <p:nvPr/>
        </p:nvSpPr>
        <p:spPr>
          <a:xfrm>
            <a:off x="649224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se inscribe</a:t>
            </a:r>
            <a:endParaRPr lang="en-US" sz="2000" dirty="0"/>
          </a:p>
        </p:txBody>
      </p:sp>
      <p:sp>
        <p:nvSpPr>
          <p:cNvPr id="21" name="Step body 72"/>
          <p:cNvSpPr txBox="1"/>
          <p:nvPr/>
        </p:nvSpPr>
        <p:spPr>
          <a:xfrm>
            <a:off x="649224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Recibes un Bono económico</a:t>
            </a:r>
            <a:endParaRPr lang="en-US" sz="1600" dirty="0"/>
          </a:p>
        </p:txBody>
      </p:sp>
      <p:pic>
        <p:nvPicPr>
          <p:cNvPr id="22" name="Icon FaChevronRight 73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3084" y="3717544"/>
            <a:ext cx="438912" cy="438912"/>
          </a:xfrm>
          <a:prstGeom prst="rect">
            <a:avLst/>
          </a:prstGeom>
        </p:spPr>
      </p:pic>
      <p:pic>
        <p:nvPicPr>
          <p:cNvPr id="23" name="Step card 74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5256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24" name="Step number 75"/>
          <p:cNvSpPr txBox="1"/>
          <p:nvPr/>
        </p:nvSpPr>
        <p:spPr>
          <a:xfrm>
            <a:off x="932688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4000" dirty="0"/>
          </a:p>
        </p:txBody>
      </p:sp>
      <p:pic>
        <p:nvPicPr>
          <p:cNvPr id="25" name="Icon FaTrophy 76" descr="Troph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9880" y="2405611"/>
            <a:ext cx="822960" cy="822960"/>
          </a:xfrm>
          <a:prstGeom prst="rect">
            <a:avLst/>
          </a:prstGeom>
        </p:spPr>
      </p:pic>
      <p:sp>
        <p:nvSpPr>
          <p:cNvPr id="26" name="Step head 77"/>
          <p:cNvSpPr txBox="1"/>
          <p:nvPr/>
        </p:nvSpPr>
        <p:spPr>
          <a:xfrm>
            <a:off x="932688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Acumulas Puntos.</a:t>
            </a:r>
            <a:endParaRPr lang="en-US" sz="2000" dirty="0"/>
          </a:p>
        </p:txBody>
      </p:sp>
      <p:sp>
        <p:nvSpPr>
          <p:cNvPr id="27" name="Step body 78"/>
          <p:cNvSpPr txBox="1"/>
          <p:nvPr/>
        </p:nvSpPr>
        <p:spPr>
          <a:xfrm>
            <a:off x="932688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Subes de nivel</a:t>
            </a:r>
            <a:endParaRPr lang="en-US" sz="160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1" grpId="0" animBg="1"/>
      <p:bldP spid="13" grpId="0" animBg="1"/>
      <p:bldP spid="14" grpId="0" animBg="1"/>
      <p:bldP spid="18" grpId="0" animBg="1"/>
      <p:bldP spid="20" grpId="0" animBg="1"/>
      <p:bldP spid="21" grpId="0" animBg="1"/>
      <p:bldP spid="24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79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Sistema de puntos</a:t>
            </a:r>
            <a:endParaRPr lang="en-US" sz="3000" dirty="0"/>
          </a:p>
        </p:txBody>
      </p:sp>
      <p:pic>
        <p:nvPicPr>
          <p:cNvPr id="4" name="Table card 8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949001"/>
            <a:ext cx="6894576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graphicFrame>
        <p:nvGraphicFramePr>
          <p:cNvPr id="8" name="Points table 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0756"/>
          <a:ext cx="6675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</a:tblGrid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Actividades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Puntos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Registrar un referido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asiste a eventos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20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agenda entrevista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inicia admisión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se inscribe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4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eventos promocionales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ferias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Grabar testimonios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Invitar a 5 prospectos a un evento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pic>
        <p:nvPicPr>
          <p:cNvPr id="6" name="Bonus card 8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49001"/>
            <a:ext cx="4007815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Icon FaMoneyBillWave 83" descr="MoneyBillWa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153036"/>
            <a:ext cx="685800" cy="685800"/>
          </a:xfrm>
          <a:prstGeom prst="rect">
            <a:avLst/>
          </a:prstGeom>
        </p:spPr>
      </p:pic>
      <p:sp>
        <p:nvSpPr>
          <p:cNvPr id="8" name="Bonus label 84"/>
          <p:cNvSpPr txBox="1"/>
          <p:nvPr/>
        </p:nvSpPr>
        <p:spPr>
          <a:xfrm>
            <a:off x="8778240" y="2177950"/>
            <a:ext cx="2727655" cy="635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BONO ECONÓMICO</a:t>
            </a:r>
            <a:endParaRPr lang="en-US" sz="1600" dirty="0"/>
          </a:p>
        </p:txBody>
      </p:sp>
      <p:sp>
        <p:nvSpPr>
          <p:cNvPr id="9" name="Bonus amount 85"/>
          <p:cNvSpPr txBox="1"/>
          <p:nvPr/>
        </p:nvSpPr>
        <p:spPr>
          <a:xfrm>
            <a:off x="8001000" y="2983514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3000" dirty="0"/>
          </a:p>
        </p:txBody>
      </p:sp>
      <p:sp>
        <p:nvSpPr>
          <p:cNvPr id="10" name="Bonus label 86"/>
          <p:cNvSpPr txBox="1"/>
          <p:nvPr/>
        </p:nvSpPr>
        <p:spPr>
          <a:xfrm>
            <a:off x="9921240" y="2983514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400" dirty="0"/>
          </a:p>
        </p:txBody>
      </p:sp>
      <p:sp>
        <p:nvSpPr>
          <p:cNvPr id="11" name="Divider 87"/>
          <p:cNvSpPr/>
          <p:nvPr/>
        </p:nvSpPr>
        <p:spPr>
          <a:xfrm>
            <a:off x="8001000" y="3695802"/>
            <a:ext cx="3276295" cy="0"/>
          </a:xfrm>
          <a:prstGeom prst="line">
            <a:avLst/>
          </a:prstGeom>
          <a:noFill/>
          <a:ln w="12700">
            <a:solidFill>
              <a:srgbClr val="2B5A88"/>
            </a:solidFill>
            <a:prstDash val="solid"/>
          </a:ln>
        </p:spPr>
      </p:sp>
      <p:sp>
        <p:nvSpPr>
          <p:cNvPr id="12" name="Bonus amount 88"/>
          <p:cNvSpPr txBox="1"/>
          <p:nvPr/>
        </p:nvSpPr>
        <p:spPr>
          <a:xfrm>
            <a:off x="8001000" y="3848435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3000" dirty="0"/>
          </a:p>
        </p:txBody>
      </p:sp>
      <p:sp>
        <p:nvSpPr>
          <p:cNvPr id="13" name="Bonus label 89"/>
          <p:cNvSpPr txBox="1"/>
          <p:nvPr/>
        </p:nvSpPr>
        <p:spPr>
          <a:xfrm>
            <a:off x="9921240" y="3848435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400" dirty="0"/>
          </a:p>
        </p:txBody>
      </p:sp>
      <p:pic>
        <p:nvPicPr>
          <p:cNvPr id="14" name="Top bonus highlight 9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586162"/>
            <a:ext cx="3642055" cy="805564"/>
          </a:xfrm>
          <a:prstGeom prst="rect">
            <a:avLst/>
          </a:prstGeom>
        </p:spPr>
      </p:pic>
      <p:sp>
        <p:nvSpPr>
          <p:cNvPr id="15" name="Bonus amount 91"/>
          <p:cNvSpPr txBox="1"/>
          <p:nvPr/>
        </p:nvSpPr>
        <p:spPr>
          <a:xfrm>
            <a:off x="8001000" y="4713356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3000" dirty="0"/>
          </a:p>
        </p:txBody>
      </p:sp>
      <p:sp>
        <p:nvSpPr>
          <p:cNvPr id="16" name="Bonus label 92"/>
          <p:cNvSpPr txBox="1"/>
          <p:nvPr/>
        </p:nvSpPr>
        <p:spPr>
          <a:xfrm>
            <a:off x="9921240" y="4713356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400" dirty="0"/>
          </a:p>
        </p:txBody>
      </p:sp>
      <p:pic>
        <p:nvPicPr>
          <p:cNvPr id="17" name="Bonus note card 9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5815706"/>
            <a:ext cx="11204143" cy="559655"/>
          </a:xfrm>
          <a:prstGeom prst="rect">
            <a:avLst/>
          </a:prstGeom>
        </p:spPr>
      </p:pic>
      <p:sp>
        <p:nvSpPr>
          <p:cNvPr id="18" name="Bonus note outline 94"/>
          <p:cNvSpPr/>
          <p:nvPr/>
        </p:nvSpPr>
        <p:spPr>
          <a:xfrm>
            <a:off x="438912" y="5815706"/>
            <a:ext cx="11204143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19" name="Icon FaCircleInfo 95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5903510"/>
            <a:ext cx="384048" cy="384048"/>
          </a:xfrm>
          <a:prstGeom prst="rect">
            <a:avLst/>
          </a:prstGeom>
        </p:spPr>
      </p:pic>
      <p:sp>
        <p:nvSpPr>
          <p:cNvPr id="20" name="Bonus note 96"/>
          <p:cNvSpPr txBox="1"/>
          <p:nvPr/>
        </p:nvSpPr>
        <p:spPr>
          <a:xfrm>
            <a:off x="1152144" y="5849625"/>
            <a:ext cx="10308031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9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recorrido del embajador</a:t>
            </a:r>
            <a:endParaRPr lang="en-US" sz="3000" dirty="0"/>
          </a:p>
        </p:txBody>
      </p:sp>
      <p:sp>
        <p:nvSpPr>
          <p:cNvPr id="4" name="Subtitle 98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verdadero valor del programa es el siguiente recorrido:</a:t>
            </a:r>
            <a:endParaRPr lang="en-US" sz="1600" dirty="0"/>
          </a:p>
        </p:txBody>
      </p:sp>
      <p:sp>
        <p:nvSpPr>
          <p:cNvPr id="5" name="Journey connector 99"/>
          <p:cNvSpPr/>
          <p:nvPr/>
        </p:nvSpPr>
        <p:spPr>
          <a:xfrm>
            <a:off x="12344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6" name="Journey connector 100"/>
          <p:cNvSpPr/>
          <p:nvPr/>
        </p:nvSpPr>
        <p:spPr>
          <a:xfrm flipV="1">
            <a:off x="288036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7" name="Journey connector 101"/>
          <p:cNvSpPr/>
          <p:nvPr/>
        </p:nvSpPr>
        <p:spPr>
          <a:xfrm>
            <a:off x="452628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8" name="Journey connector 102"/>
          <p:cNvSpPr/>
          <p:nvPr/>
        </p:nvSpPr>
        <p:spPr>
          <a:xfrm flipV="1">
            <a:off x="617220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9" name="Journey connector 103"/>
          <p:cNvSpPr/>
          <p:nvPr/>
        </p:nvSpPr>
        <p:spPr>
          <a:xfrm>
            <a:off x="781812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0" name="Journey connector 104"/>
          <p:cNvSpPr/>
          <p:nvPr/>
        </p:nvSpPr>
        <p:spPr>
          <a:xfrm flipV="1">
            <a:off x="94640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1" name="Journey halo 105"/>
          <p:cNvSpPr/>
          <p:nvPr/>
        </p:nvSpPr>
        <p:spPr>
          <a:xfrm>
            <a:off x="48463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2" name="Icon FaUserGraduate 106" descr="UserGradu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983345"/>
            <a:ext cx="1280160" cy="1280160"/>
          </a:xfrm>
          <a:prstGeom prst="rect">
            <a:avLst/>
          </a:prstGeom>
        </p:spPr>
      </p:pic>
      <p:sp>
        <p:nvSpPr>
          <p:cNvPr id="13" name="Journey label 107"/>
          <p:cNvSpPr txBox="1"/>
          <p:nvPr/>
        </p:nvSpPr>
        <p:spPr>
          <a:xfrm>
            <a:off x="32004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Alumno</a:t>
            </a:r>
            <a:endParaRPr lang="en-US" sz="1500" dirty="0"/>
          </a:p>
        </p:txBody>
      </p:sp>
      <p:sp>
        <p:nvSpPr>
          <p:cNvPr id="14" name="Journey step 108"/>
          <p:cNvSpPr txBox="1"/>
          <p:nvPr/>
        </p:nvSpPr>
        <p:spPr>
          <a:xfrm>
            <a:off x="154533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Journey halo 109"/>
          <p:cNvSpPr/>
          <p:nvPr/>
        </p:nvSpPr>
        <p:spPr>
          <a:xfrm>
            <a:off x="213055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6" name="Icon FaShareNodes 110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596015"/>
            <a:ext cx="1280160" cy="1280160"/>
          </a:xfrm>
          <a:prstGeom prst="rect">
            <a:avLst/>
          </a:prstGeom>
        </p:spPr>
      </p:pic>
      <p:sp>
        <p:nvSpPr>
          <p:cNvPr id="17" name="Journey label 111"/>
          <p:cNvSpPr txBox="1"/>
          <p:nvPr/>
        </p:nvSpPr>
        <p:spPr>
          <a:xfrm>
            <a:off x="196596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1500" dirty="0"/>
          </a:p>
        </p:txBody>
      </p:sp>
      <p:sp>
        <p:nvSpPr>
          <p:cNvPr id="18" name="Journey step 112"/>
          <p:cNvSpPr txBox="1"/>
          <p:nvPr/>
        </p:nvSpPr>
        <p:spPr>
          <a:xfrm>
            <a:off x="319125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Journey halo 113"/>
          <p:cNvSpPr/>
          <p:nvPr/>
        </p:nvSpPr>
        <p:spPr>
          <a:xfrm>
            <a:off x="377647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0" name="Icon FaUsers 114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983345"/>
            <a:ext cx="1280160" cy="1280160"/>
          </a:xfrm>
          <a:prstGeom prst="rect">
            <a:avLst/>
          </a:prstGeom>
        </p:spPr>
      </p:pic>
      <p:sp>
        <p:nvSpPr>
          <p:cNvPr id="21" name="Journey label 115"/>
          <p:cNvSpPr txBox="1"/>
          <p:nvPr/>
        </p:nvSpPr>
        <p:spPr>
          <a:xfrm>
            <a:off x="361188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</a:t>
            </a:r>
            <a:endParaRPr lang="en-US" sz="1500" dirty="0"/>
          </a:p>
        </p:txBody>
      </p:sp>
      <p:sp>
        <p:nvSpPr>
          <p:cNvPr id="22" name="Journey step 116"/>
          <p:cNvSpPr txBox="1"/>
          <p:nvPr/>
        </p:nvSpPr>
        <p:spPr>
          <a:xfrm>
            <a:off x="483717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Journey halo 117"/>
          <p:cNvSpPr/>
          <p:nvPr/>
        </p:nvSpPr>
        <p:spPr>
          <a:xfrm>
            <a:off x="542239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4" name="Icon FaCalendarDays 118" descr="CalendarDay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4596015"/>
            <a:ext cx="1280160" cy="1280160"/>
          </a:xfrm>
          <a:prstGeom prst="rect">
            <a:avLst/>
          </a:prstGeom>
        </p:spPr>
      </p:pic>
      <p:sp>
        <p:nvSpPr>
          <p:cNvPr id="25" name="Journey label 119"/>
          <p:cNvSpPr txBox="1"/>
          <p:nvPr/>
        </p:nvSpPr>
        <p:spPr>
          <a:xfrm>
            <a:off x="525780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Eventos</a:t>
            </a:r>
            <a:endParaRPr lang="en-US" sz="1500" dirty="0"/>
          </a:p>
        </p:txBody>
      </p:sp>
      <p:sp>
        <p:nvSpPr>
          <p:cNvPr id="26" name="Journey step 120"/>
          <p:cNvSpPr txBox="1"/>
          <p:nvPr/>
        </p:nvSpPr>
        <p:spPr>
          <a:xfrm>
            <a:off x="648309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Journey halo 121"/>
          <p:cNvSpPr/>
          <p:nvPr/>
        </p:nvSpPr>
        <p:spPr>
          <a:xfrm>
            <a:off x="706831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8" name="Icon FaUserTie 122" descr="UserTi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2983345"/>
            <a:ext cx="1280160" cy="1280160"/>
          </a:xfrm>
          <a:prstGeom prst="rect">
            <a:avLst/>
          </a:prstGeom>
        </p:spPr>
      </p:pic>
      <p:sp>
        <p:nvSpPr>
          <p:cNvPr id="29" name="Journey label 123"/>
          <p:cNvSpPr txBox="1"/>
          <p:nvPr/>
        </p:nvSpPr>
        <p:spPr>
          <a:xfrm>
            <a:off x="690372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1500" dirty="0"/>
          </a:p>
        </p:txBody>
      </p:sp>
      <p:sp>
        <p:nvSpPr>
          <p:cNvPr id="30" name="Journey step 124"/>
          <p:cNvSpPr txBox="1"/>
          <p:nvPr/>
        </p:nvSpPr>
        <p:spPr>
          <a:xfrm>
            <a:off x="812901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Journey halo 125"/>
          <p:cNvSpPr/>
          <p:nvPr/>
        </p:nvSpPr>
        <p:spPr>
          <a:xfrm>
            <a:off x="871423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32" name="Icon FaFileSignature 126" descr="FileSigna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4596015"/>
            <a:ext cx="1280160" cy="1280160"/>
          </a:xfrm>
          <a:prstGeom prst="rect">
            <a:avLst/>
          </a:prstGeom>
        </p:spPr>
      </p:pic>
      <p:sp>
        <p:nvSpPr>
          <p:cNvPr id="33" name="Journey label 127"/>
          <p:cNvSpPr txBox="1"/>
          <p:nvPr/>
        </p:nvSpPr>
        <p:spPr>
          <a:xfrm>
            <a:off x="854964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Inscripción</a:t>
            </a:r>
            <a:endParaRPr lang="en-US" sz="1500" dirty="0"/>
          </a:p>
        </p:txBody>
      </p:sp>
      <p:sp>
        <p:nvSpPr>
          <p:cNvPr id="34" name="Journey step 128"/>
          <p:cNvSpPr txBox="1"/>
          <p:nvPr/>
        </p:nvSpPr>
        <p:spPr>
          <a:xfrm>
            <a:off x="977493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Journey halo 129"/>
          <p:cNvSpPr/>
          <p:nvPr/>
        </p:nvSpPr>
        <p:spPr>
          <a:xfrm>
            <a:off x="10360152" y="2873617"/>
            <a:ext cx="1499616" cy="1499616"/>
          </a:xfrm>
          <a:prstGeom prst="ellipse">
            <a:avLst/>
          </a:prstGeom>
          <a:solidFill>
            <a:schemeClr val="accent2">
              <a:alpha val="15000"/>
            </a:schemeClr>
          </a:solidFill>
          <a:ln/>
        </p:spPr>
      </p:sp>
      <p:pic>
        <p:nvPicPr>
          <p:cNvPr id="36" name="Icon FaTrophy 130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0" y="2983345"/>
            <a:ext cx="1280160" cy="1280160"/>
          </a:xfrm>
          <a:prstGeom prst="rect">
            <a:avLst/>
          </a:prstGeom>
        </p:spPr>
      </p:pic>
      <p:sp>
        <p:nvSpPr>
          <p:cNvPr id="37" name="Journey label 131"/>
          <p:cNvSpPr txBox="1"/>
          <p:nvPr/>
        </p:nvSpPr>
        <p:spPr>
          <a:xfrm>
            <a:off x="1019556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Recompensa</a:t>
            </a:r>
            <a:endParaRPr lang="en-US" sz="1500" dirty="0"/>
          </a:p>
        </p:txBody>
      </p:sp>
      <p:sp>
        <p:nvSpPr>
          <p:cNvPr id="38" name="Journey step 132"/>
          <p:cNvSpPr txBox="1"/>
          <p:nvPr/>
        </p:nvSpPr>
        <p:spPr>
          <a:xfrm>
            <a:off x="11420856" y="395999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5" grpId="0" animBg="1"/>
      <p:bldP spid="15" grpId="0" animBg="1"/>
      <p:bldP spid="17" grpId="0" animBg="1"/>
      <p:bldP spid="18" grpId="0" animBg="1"/>
      <p:bldP spid="6" grpId="0" animBg="1"/>
      <p:bldP spid="19" grpId="0" animBg="1"/>
      <p:bldP spid="21" grpId="0" animBg="1"/>
      <p:bldP spid="22" grpId="0" animBg="1"/>
      <p:bldP spid="7" grpId="0" animBg="1"/>
      <p:bldP spid="23" grpId="0" animBg="1"/>
      <p:bldP spid="25" grpId="0" animBg="1"/>
      <p:bldP spid="26" grpId="0" animBg="1"/>
      <p:bldP spid="8" grpId="0" animBg="1"/>
      <p:bldP spid="27" grpId="0" animBg="1"/>
      <p:bldP spid="29" grpId="0" animBg="1"/>
      <p:bldP spid="30" grpId="0" animBg="1"/>
      <p:bldP spid="9" grpId="0" animBg="1"/>
      <p:bldP spid="31" grpId="0" animBg="1"/>
      <p:bldP spid="33" grpId="0" animBg="1"/>
      <p:bldP spid="34" grpId="0" animBg="1"/>
      <p:bldP spid="10" grpId="0" animBg="1"/>
      <p:bldP spid="35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133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13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135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136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8800" dirty="0"/>
          </a:p>
        </p:txBody>
      </p:sp>
      <p:sp>
        <p:nvSpPr>
          <p:cNvPr id="6" name="Section kicker 137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38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y beneficios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39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de embajador</a:t>
            </a:r>
            <a:endParaRPr lang="en-US" sz="3000" dirty="0"/>
          </a:p>
        </p:txBody>
      </p:sp>
      <p:pic>
        <p:nvPicPr>
          <p:cNvPr id="4" name="Level card 1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399444"/>
            <a:ext cx="3511296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eedling 141" descr="Seed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61295"/>
            <a:ext cx="685800" cy="685800"/>
          </a:xfrm>
          <a:prstGeom prst="rect">
            <a:avLst/>
          </a:prstGeom>
        </p:spPr>
      </p:pic>
      <p:sp>
        <p:nvSpPr>
          <p:cNvPr id="6" name="Level points 142"/>
          <p:cNvSpPr txBox="1"/>
          <p:nvPr/>
        </p:nvSpPr>
        <p:spPr>
          <a:xfrm>
            <a:off x="1600200" y="3650303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7" name="Level name 143"/>
          <p:cNvSpPr txBox="1"/>
          <p:nvPr/>
        </p:nvSpPr>
        <p:spPr>
          <a:xfrm>
            <a:off x="822960" y="4474556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JUNIOR</a:t>
            </a:r>
            <a:endParaRPr lang="en-US" sz="1100" dirty="0"/>
          </a:p>
        </p:txBody>
      </p:sp>
      <p:sp>
        <p:nvSpPr>
          <p:cNvPr id="8" name="Level items 144"/>
          <p:cNvSpPr txBox="1"/>
          <p:nvPr/>
        </p:nvSpPr>
        <p:spPr>
          <a:xfrm>
            <a:off x="822960" y="5325687"/>
            <a:ext cx="3054096" cy="940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Credencial digital.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9" name="Level card 14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682702"/>
            <a:ext cx="3511296" cy="371809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0" name="Icon FaMedal 146" descr="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944553"/>
            <a:ext cx="685800" cy="685800"/>
          </a:xfrm>
          <a:prstGeom prst="rect">
            <a:avLst/>
          </a:prstGeom>
        </p:spPr>
      </p:pic>
      <p:sp>
        <p:nvSpPr>
          <p:cNvPr id="11" name="Level points 147"/>
          <p:cNvSpPr txBox="1"/>
          <p:nvPr/>
        </p:nvSpPr>
        <p:spPr>
          <a:xfrm>
            <a:off x="5413248" y="2933561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</a:t>
            </a:r>
            <a:pPr algn="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2" name="Level name 148"/>
          <p:cNvSpPr txBox="1"/>
          <p:nvPr/>
        </p:nvSpPr>
        <p:spPr>
          <a:xfrm>
            <a:off x="4636008" y="3757815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bg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PLUS</a:t>
            </a:r>
            <a:endParaRPr lang="en-US" sz="1100" dirty="0"/>
          </a:p>
        </p:txBody>
      </p:sp>
      <p:sp>
        <p:nvSpPr>
          <p:cNvPr id="13" name="Level items 149"/>
          <p:cNvSpPr txBox="1"/>
          <p:nvPr/>
        </p:nvSpPr>
        <p:spPr>
          <a:xfrm>
            <a:off x="4636008" y="4608945"/>
            <a:ext cx="3054096" cy="1657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14" name="Level card 15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1965960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Icon FaCrown 151" descr="Cr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2227811"/>
            <a:ext cx="685800" cy="685800"/>
          </a:xfrm>
          <a:prstGeom prst="rect">
            <a:avLst/>
          </a:prstGeom>
        </p:spPr>
      </p:pic>
      <p:sp>
        <p:nvSpPr>
          <p:cNvPr id="16" name="Level points 152"/>
          <p:cNvSpPr txBox="1"/>
          <p:nvPr/>
        </p:nvSpPr>
        <p:spPr>
          <a:xfrm>
            <a:off x="9226296" y="2216820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pPr algn="r"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7" name="Level name 153"/>
          <p:cNvSpPr txBox="1"/>
          <p:nvPr/>
        </p:nvSpPr>
        <p:spPr>
          <a:xfrm>
            <a:off x="8449056" y="3041073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ÉLITE</a:t>
            </a:r>
            <a:endParaRPr lang="en-US" sz="1100" dirty="0"/>
          </a:p>
        </p:txBody>
      </p:sp>
      <p:sp>
        <p:nvSpPr>
          <p:cNvPr id="18" name="Level items 154"/>
          <p:cNvSpPr txBox="1"/>
          <p:nvPr/>
        </p:nvSpPr>
        <p:spPr>
          <a:xfrm>
            <a:off x="8449056" y="3892204"/>
            <a:ext cx="3054096" cy="2374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Experiencias especiales con autoridades.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Participación en campañas institucionales.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como embajador del semestre.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5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del embajador</a:t>
            </a:r>
            <a:endParaRPr lang="en-US" sz="3000" dirty="0"/>
          </a:p>
        </p:txBody>
      </p:sp>
      <p:sp>
        <p:nvSpPr>
          <p:cNvPr id="4" name="Subtitle 156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 damos todas las herramientas para compartir Westhill de forma fácil y auténtica</a:t>
            </a:r>
            <a:endParaRPr lang="en-US" sz="1600" dirty="0"/>
          </a:p>
        </p:txBody>
      </p:sp>
      <p:pic>
        <p:nvPicPr>
          <p:cNvPr id="5" name="Kit tile 15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Watermark FaQrcode 15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646890"/>
            <a:ext cx="868680" cy="868680"/>
          </a:xfrm>
          <a:prstGeom prst="rect">
            <a:avLst/>
          </a:prstGeom>
        </p:spPr>
      </p:pic>
      <p:pic>
        <p:nvPicPr>
          <p:cNvPr id="7" name="Icon FaQrcode 159" descr="Qr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37735"/>
            <a:ext cx="713232" cy="713232"/>
          </a:xfrm>
          <a:prstGeom prst="rect">
            <a:avLst/>
          </a:prstGeom>
        </p:spPr>
      </p:pic>
      <p:sp>
        <p:nvSpPr>
          <p:cNvPr id="8" name="Kit label 160"/>
          <p:cNvSpPr txBox="1"/>
          <p:nvPr/>
        </p:nvSpPr>
        <p:spPr>
          <a:xfrm>
            <a:off x="822960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Código QR personalizado.</a:t>
            </a:r>
            <a:endParaRPr lang="en-US" sz="1500" dirty="0"/>
          </a:p>
        </p:txBody>
      </p:sp>
      <p:pic>
        <p:nvPicPr>
          <p:cNvPr id="9" name="Kit tile 16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Whatsapp 162" descr="Whatsap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888" y="2737735"/>
            <a:ext cx="713232" cy="713232"/>
          </a:xfrm>
          <a:prstGeom prst="rect">
            <a:avLst/>
          </a:prstGeom>
        </p:spPr>
      </p:pic>
      <p:sp>
        <p:nvSpPr>
          <p:cNvPr id="11" name="Kit label 163"/>
          <p:cNvSpPr txBox="1"/>
          <p:nvPr/>
        </p:nvSpPr>
        <p:spPr>
          <a:xfrm>
            <a:off x="3675888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Imágenes para WhatsApp</a:t>
            </a:r>
            <a:endParaRPr lang="en-US" sz="1500" dirty="0"/>
          </a:p>
        </p:txBody>
      </p:sp>
      <p:pic>
        <p:nvPicPr>
          <p:cNvPr id="12" name="Kit tile 16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Instagram 165" descr="Instagra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2737735"/>
            <a:ext cx="713232" cy="713232"/>
          </a:xfrm>
          <a:prstGeom prst="rect">
            <a:avLst/>
          </a:prstGeom>
        </p:spPr>
      </p:pic>
      <p:sp>
        <p:nvSpPr>
          <p:cNvPr id="14" name="Kit label 166"/>
          <p:cNvSpPr txBox="1"/>
          <p:nvPr/>
        </p:nvSpPr>
        <p:spPr>
          <a:xfrm>
            <a:off x="6528816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 Instagram</a:t>
            </a:r>
            <a:endParaRPr lang="en-US" sz="1500" dirty="0"/>
          </a:p>
        </p:txBody>
      </p:sp>
      <p:pic>
        <p:nvPicPr>
          <p:cNvPr id="15" name="Kit tile 16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424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Video 168" descr="Vide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1744" y="2737735"/>
            <a:ext cx="713232" cy="713232"/>
          </a:xfrm>
          <a:prstGeom prst="rect">
            <a:avLst/>
          </a:prstGeom>
        </p:spPr>
      </p:pic>
      <p:sp>
        <p:nvSpPr>
          <p:cNvPr id="17" name="Kit label 169"/>
          <p:cNvSpPr txBox="1"/>
          <p:nvPr/>
        </p:nvSpPr>
        <p:spPr>
          <a:xfrm>
            <a:off x="9381744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Videos cortos</a:t>
            </a:r>
            <a:endParaRPr lang="en-US" sz="1500" dirty="0"/>
          </a:p>
        </p:txBody>
      </p:sp>
      <p:pic>
        <p:nvPicPr>
          <p:cNvPr id="18" name="Kit tile 17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9" name="Icon FaEnvelopeOpenText 171" descr="EnvelopeOpenTex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" y="4810826"/>
            <a:ext cx="713232" cy="713232"/>
          </a:xfrm>
          <a:prstGeom prst="rect">
            <a:avLst/>
          </a:prstGeom>
        </p:spPr>
      </p:pic>
      <p:sp>
        <p:nvSpPr>
          <p:cNvPr id="20" name="Kit label 172"/>
          <p:cNvSpPr txBox="1"/>
          <p:nvPr/>
        </p:nvSpPr>
        <p:spPr>
          <a:xfrm>
            <a:off x="822960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Invitaciones a eventos</a:t>
            </a:r>
            <a:endParaRPr lang="en-US" sz="1500" dirty="0"/>
          </a:p>
        </p:txBody>
      </p:sp>
      <p:pic>
        <p:nvPicPr>
          <p:cNvPr id="21" name="Kit tile 173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01568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2" name="Icon FaBookOpen 174" descr="BookOpe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5888" y="4810826"/>
            <a:ext cx="713232" cy="713232"/>
          </a:xfrm>
          <a:prstGeom prst="rect">
            <a:avLst/>
          </a:prstGeom>
        </p:spPr>
      </p:pic>
      <p:sp>
        <p:nvSpPr>
          <p:cNvPr id="23" name="Kit label 175"/>
          <p:cNvSpPr txBox="1"/>
          <p:nvPr/>
        </p:nvSpPr>
        <p:spPr>
          <a:xfrm>
            <a:off x="3675888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Información de las licenciaturas</a:t>
            </a:r>
            <a:endParaRPr lang="en-US" sz="1500" dirty="0"/>
          </a:p>
        </p:txBody>
      </p:sp>
      <p:pic>
        <p:nvPicPr>
          <p:cNvPr id="24" name="Kit tile 176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54496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5" name="Icon FaCommentDots 177" descr="CommentDot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8816" y="4810826"/>
            <a:ext cx="713232" cy="713232"/>
          </a:xfrm>
          <a:prstGeom prst="rect">
            <a:avLst/>
          </a:prstGeom>
        </p:spPr>
      </p:pic>
      <p:sp>
        <p:nvSpPr>
          <p:cNvPr id="26" name="Kit label 178"/>
          <p:cNvSpPr txBox="1"/>
          <p:nvPr/>
        </p:nvSpPr>
        <p:spPr>
          <a:xfrm>
            <a:off x="6528816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Mensajes sugeridos</a:t>
            </a:r>
            <a:endParaRPr lang="en-US" sz="1500" dirty="0"/>
          </a:p>
        </p:txBody>
      </p:sp>
      <p:pic>
        <p:nvPicPr>
          <p:cNvPr id="27" name="Kit tile 179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07424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8" name="Icon FaCalendarDays 180" descr="CalendarDays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81744" y="4810826"/>
            <a:ext cx="713232" cy="713232"/>
          </a:xfrm>
          <a:prstGeom prst="rect">
            <a:avLst/>
          </a:prstGeom>
        </p:spPr>
      </p:pic>
      <p:sp>
        <p:nvSpPr>
          <p:cNvPr id="29" name="Kit label 181"/>
          <p:cNvSpPr txBox="1"/>
          <p:nvPr/>
        </p:nvSpPr>
        <p:spPr>
          <a:xfrm>
            <a:off x="9381744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Calendarios de eventos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  <p:bldP spid="23" grpId="0" animBg="1"/>
      <p:bldP spid="26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82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Reconocimientos</a:t>
            </a:r>
            <a:endParaRPr lang="en-US" sz="3000" dirty="0"/>
          </a:p>
        </p:txBody>
      </p:sp>
      <p:pic>
        <p:nvPicPr>
          <p:cNvPr id="4" name="Recognition card 18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tar 184" descr="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403302"/>
            <a:ext cx="1051560" cy="1051560"/>
          </a:xfrm>
          <a:prstGeom prst="rect">
            <a:avLst/>
          </a:prstGeom>
        </p:spPr>
      </p:pic>
      <p:sp>
        <p:nvSpPr>
          <p:cNvPr id="6" name="Recognition title 185"/>
          <p:cNvSpPr txBox="1"/>
          <p:nvPr/>
        </p:nvSpPr>
        <p:spPr>
          <a:xfrm>
            <a:off x="2240280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MES</a:t>
            </a:r>
            <a:endParaRPr lang="en-US" sz="1200" dirty="0"/>
          </a:p>
        </p:txBody>
      </p:sp>
      <p:pic>
        <p:nvPicPr>
          <p:cNvPr id="7" name="Icon FaBullhorn 186" descr="Bullhor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41865"/>
            <a:ext cx="548640" cy="548640"/>
          </a:xfrm>
          <a:prstGeom prst="rect">
            <a:avLst/>
          </a:prstGeom>
        </p:spPr>
      </p:pic>
      <p:sp>
        <p:nvSpPr>
          <p:cNvPr id="8" name="Recognition item 187"/>
          <p:cNvSpPr txBox="1"/>
          <p:nvPr/>
        </p:nvSpPr>
        <p:spPr>
          <a:xfrm>
            <a:off x="1691640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9" name="Icon FaInstagram 188" descr="Instagra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648200"/>
            <a:ext cx="548640" cy="548640"/>
          </a:xfrm>
          <a:prstGeom prst="rect">
            <a:avLst/>
          </a:prstGeom>
        </p:spPr>
      </p:pic>
      <p:sp>
        <p:nvSpPr>
          <p:cNvPr id="10" name="Recognition item 189"/>
          <p:cNvSpPr txBox="1"/>
          <p:nvPr/>
        </p:nvSpPr>
        <p:spPr>
          <a:xfrm>
            <a:off x="1691640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destacadas en Instagram.</a:t>
            </a:r>
            <a:endParaRPr lang="en-US" sz="1500" dirty="0"/>
          </a:p>
        </p:txBody>
      </p:sp>
      <p:pic>
        <p:nvPicPr>
          <p:cNvPr id="11" name="Icon FaMugHot 190" descr="Mug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454535"/>
            <a:ext cx="548640" cy="548640"/>
          </a:xfrm>
          <a:prstGeom prst="rect">
            <a:avLst/>
          </a:prstGeom>
        </p:spPr>
      </p:pic>
      <p:sp>
        <p:nvSpPr>
          <p:cNvPr id="12" name="Recognition item 191"/>
          <p:cNvSpPr txBox="1"/>
          <p:nvPr/>
        </p:nvSpPr>
        <p:spPr>
          <a:xfrm>
            <a:off x="1691640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Regalo Especial. (Un desayuno de Starbucks).</a:t>
            </a:r>
            <a:endParaRPr lang="en-US" sz="1500" dirty="0"/>
          </a:p>
        </p:txBody>
      </p:sp>
      <p:pic>
        <p:nvPicPr>
          <p:cNvPr id="13" name="Recognition card 19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6724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4" name="Watermark FaTrophy 19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9975" y="4548447"/>
            <a:ext cx="1554480" cy="1554480"/>
          </a:xfrm>
          <a:prstGeom prst="rect">
            <a:avLst/>
          </a:prstGeom>
        </p:spPr>
      </p:pic>
      <p:pic>
        <p:nvPicPr>
          <p:cNvPr id="15" name="Icon FaTrophy 194" descr="Troph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8204" y="2403302"/>
            <a:ext cx="1051560" cy="1051560"/>
          </a:xfrm>
          <a:prstGeom prst="rect">
            <a:avLst/>
          </a:prstGeom>
        </p:spPr>
      </p:pic>
      <p:sp>
        <p:nvSpPr>
          <p:cNvPr id="16" name="Recognition title 195"/>
          <p:cNvSpPr txBox="1"/>
          <p:nvPr/>
        </p:nvSpPr>
        <p:spPr>
          <a:xfrm>
            <a:off x="7938364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SEMESTRE</a:t>
            </a:r>
            <a:endParaRPr lang="en-US" sz="1200" dirty="0"/>
          </a:p>
        </p:txBody>
      </p:sp>
      <p:pic>
        <p:nvPicPr>
          <p:cNvPr id="17" name="Icon FaBullhorn 196" descr="Bullhor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8204" y="3841865"/>
            <a:ext cx="548640" cy="548640"/>
          </a:xfrm>
          <a:prstGeom prst="rect">
            <a:avLst/>
          </a:prstGeom>
        </p:spPr>
      </p:pic>
      <p:sp>
        <p:nvSpPr>
          <p:cNvPr id="18" name="Recognition item 197"/>
          <p:cNvSpPr txBox="1"/>
          <p:nvPr/>
        </p:nvSpPr>
        <p:spPr>
          <a:xfrm>
            <a:off x="7389724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19" name="Icon FaStar 198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8204" y="4648200"/>
            <a:ext cx="548640" cy="548640"/>
          </a:xfrm>
          <a:prstGeom prst="rect">
            <a:avLst/>
          </a:prstGeom>
        </p:spPr>
      </p:pic>
      <p:sp>
        <p:nvSpPr>
          <p:cNvPr id="20" name="Recognition item 199"/>
          <p:cNvSpPr txBox="1"/>
          <p:nvPr/>
        </p:nvSpPr>
        <p:spPr>
          <a:xfrm>
            <a:off x="7389724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 especial.</a:t>
            </a:r>
            <a:endParaRPr lang="en-US" sz="1500" dirty="0"/>
          </a:p>
        </p:txBody>
      </p:sp>
      <p:pic>
        <p:nvPicPr>
          <p:cNvPr id="21" name="Icon FaNewspaper 200" descr="Newspap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58204" y="5454535"/>
            <a:ext cx="548640" cy="548640"/>
          </a:xfrm>
          <a:prstGeom prst="rect">
            <a:avLst/>
          </a:prstGeom>
        </p:spPr>
      </p:pic>
      <p:sp>
        <p:nvSpPr>
          <p:cNvPr id="22" name="Recognition item 201"/>
          <p:cNvSpPr txBox="1"/>
          <p:nvPr/>
        </p:nvSpPr>
        <p:spPr>
          <a:xfrm>
            <a:off x="7389724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Difusión en medios.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6" grpId="0" animBg="1"/>
      <p:bldP spid="18" grpId="0" animBg="1"/>
      <p:bldP spid="20" grpId="0" animBg="1"/>
      <p:bldP spid="2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202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0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204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205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8800" dirty="0"/>
          </a:p>
        </p:txBody>
      </p:sp>
      <p:sp>
        <p:nvSpPr>
          <p:cNvPr id="6" name="Section kicker 206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207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08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 mi carrera</a:t>
            </a:r>
            <a:endParaRPr lang="en-US" sz="3000" dirty="0"/>
          </a:p>
        </p:txBody>
      </p:sp>
      <p:sp>
        <p:nvSpPr>
          <p:cNvPr id="4" name="Subtitle 209"/>
          <p:cNvSpPr txBox="1"/>
          <p:nvPr/>
        </p:nvSpPr>
        <p:spPr>
          <a:xfrm>
            <a:off x="548640" y="1828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un prospecto a vivir una experiencia real en tu carrera.</a:t>
            </a:r>
            <a:endParaRPr lang="en-US" sz="1600" dirty="0"/>
          </a:p>
        </p:txBody>
      </p:sp>
      <p:pic>
        <p:nvPicPr>
          <p:cNvPr id="5" name="Campus photo 210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1015" y="1874520"/>
            <a:ext cx="4892040" cy="44805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8000"/>
              </a:srgbClr>
            </a:outerShdw>
          </a:effectLst>
        </p:spPr>
      </p:pic>
      <p:pic>
        <p:nvPicPr>
          <p:cNvPr id="6" name="Vive row 2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415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ChalkboardUser 212" descr="Chalkboard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650467"/>
            <a:ext cx="530352" cy="530352"/>
          </a:xfrm>
          <a:prstGeom prst="rect">
            <a:avLst/>
          </a:prstGeom>
        </p:spPr>
      </p:pic>
      <p:sp>
        <p:nvSpPr>
          <p:cNvPr id="8" name="Vive item 213"/>
          <p:cNvSpPr txBox="1"/>
          <p:nvPr/>
        </p:nvSpPr>
        <p:spPr>
          <a:xfrm>
            <a:off x="1325880" y="263790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Asiste a una clase.</a:t>
            </a:r>
            <a:endParaRPr lang="en-US" sz="1600" dirty="0"/>
          </a:p>
        </p:txBody>
      </p:sp>
      <p:pic>
        <p:nvPicPr>
          <p:cNvPr id="9" name="Vive row 21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54647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BuildingColumns 215" descr="BuildingColum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420964"/>
            <a:ext cx="530352" cy="530352"/>
          </a:xfrm>
          <a:prstGeom prst="rect">
            <a:avLst/>
          </a:prstGeom>
        </p:spPr>
      </p:pic>
      <p:sp>
        <p:nvSpPr>
          <p:cNvPr id="11" name="Vive item 216"/>
          <p:cNvSpPr txBox="1"/>
          <p:nvPr/>
        </p:nvSpPr>
        <p:spPr>
          <a:xfrm>
            <a:off x="1325880" y="3408403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 profesores e instalaciones.</a:t>
            </a:r>
            <a:endParaRPr lang="en-US" sz="1600" dirty="0"/>
          </a:p>
        </p:txBody>
      </p:sp>
      <p:pic>
        <p:nvPicPr>
          <p:cNvPr id="12" name="Vive row 21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125145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Comments 218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4191462"/>
            <a:ext cx="530352" cy="530352"/>
          </a:xfrm>
          <a:prstGeom prst="rect">
            <a:avLst/>
          </a:prstGeom>
        </p:spPr>
      </p:pic>
      <p:sp>
        <p:nvSpPr>
          <p:cNvPr id="14" name="Vive item 219"/>
          <p:cNvSpPr txBox="1"/>
          <p:nvPr/>
        </p:nvSpPr>
        <p:spPr>
          <a:xfrm>
            <a:off x="1325880" y="4178900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Conversa con estudiantes.</a:t>
            </a:r>
            <a:endParaRPr lang="en-US" sz="1600" dirty="0"/>
          </a:p>
        </p:txBody>
      </p:sp>
      <p:pic>
        <p:nvPicPr>
          <p:cNvPr id="15" name="Vive row 22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895642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Flask 221" descr="Flas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4961959"/>
            <a:ext cx="530352" cy="530352"/>
          </a:xfrm>
          <a:prstGeom prst="rect">
            <a:avLst/>
          </a:prstGeom>
        </p:spPr>
      </p:pic>
      <p:sp>
        <p:nvSpPr>
          <p:cNvPr id="17" name="Vive item 222"/>
          <p:cNvSpPr txBox="1"/>
          <p:nvPr/>
        </p:nvSpPr>
        <p:spPr>
          <a:xfrm>
            <a:off x="1325880" y="4949398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Descubre laboratorios y actividades.</a:t>
            </a:r>
            <a:endParaRPr lang="en-US" sz="1600" dirty="0"/>
          </a:p>
        </p:txBody>
      </p:sp>
      <p:pic>
        <p:nvPicPr>
          <p:cNvPr id="18" name="Vive row 223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566614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9" name="Icon FaHandshake 224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792" y="5732457"/>
            <a:ext cx="530352" cy="530352"/>
          </a:xfrm>
          <a:prstGeom prst="rect">
            <a:avLst/>
          </a:prstGeom>
        </p:spPr>
      </p:pic>
      <p:sp>
        <p:nvSpPr>
          <p:cNvPr id="20" name="Vive item 225"/>
          <p:cNvSpPr txBox="1"/>
          <p:nvPr/>
        </p:nvSpPr>
        <p:spPr>
          <a:xfrm>
            <a:off x="1325880" y="571989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Sé su anfitrión.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26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Recomendados</a:t>
            </a:r>
            <a:endParaRPr lang="en-US" sz="3000" dirty="0"/>
          </a:p>
        </p:txBody>
      </p:sp>
      <p:sp>
        <p:nvSpPr>
          <p:cNvPr id="4" name="Intro 227"/>
          <p:cNvSpPr txBox="1"/>
          <p:nvPr/>
        </p:nvSpPr>
        <p:spPr>
          <a:xfrm>
            <a:off x="548640" y="1828800"/>
            <a:ext cx="7543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esta información podemos analizar que los medios de contacto de Recomendados, Ferias Escolares y Página Web son los más importantes generadores de inscritos. Para lo cual la propuesta es la siguiente:</a:t>
            </a:r>
            <a:endParaRPr lang="en-US" sz="1250" dirty="0"/>
          </a:p>
        </p:txBody>
      </p:sp>
      <p:pic>
        <p:nvPicPr>
          <p:cNvPr id="5" name="Program card 2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1931"/>
            <a:ext cx="7543800" cy="120410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Link 229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38224"/>
            <a:ext cx="731520" cy="731520"/>
          </a:xfrm>
          <a:prstGeom prst="rect">
            <a:avLst/>
          </a:prstGeom>
        </p:spPr>
      </p:pic>
      <p:sp>
        <p:nvSpPr>
          <p:cNvPr id="7" name="Program text 230"/>
          <p:cNvSpPr txBox="1"/>
          <p:nvPr/>
        </p:nvSpPr>
        <p:spPr>
          <a:xfrm>
            <a:off x="1737360" y="2669768"/>
            <a:ext cx="6172200" cy="1068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Programa de Recomendados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convertir la recomendación en un programa comercial estructurado. Cada alumno inscrito recibe un código o enlace personalizado de recomendación.</a:t>
            </a:r>
            <a:endParaRPr lang="en-US" sz="1600" dirty="0"/>
          </a:p>
        </p:txBody>
      </p:sp>
      <p:pic>
        <p:nvPicPr>
          <p:cNvPr id="8" name="Bonus card 23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9" name="Bonus title 232"/>
          <p:cNvSpPr txBox="1"/>
          <p:nvPr/>
        </p:nvSpPr>
        <p:spPr>
          <a:xfrm>
            <a:off x="82296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económico (Bono especial)</a:t>
            </a:r>
            <a:endParaRPr lang="en-US" sz="1400" dirty="0"/>
          </a:p>
        </p:txBody>
      </p:sp>
      <p:sp>
        <p:nvSpPr>
          <p:cNvPr id="10" name="Bonus row label 233"/>
          <p:cNvSpPr txBox="1"/>
          <p:nvPr/>
        </p:nvSpPr>
        <p:spPr>
          <a:xfrm>
            <a:off x="822960" y="4543764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300" dirty="0"/>
          </a:p>
        </p:txBody>
      </p:sp>
      <p:sp>
        <p:nvSpPr>
          <p:cNvPr id="11" name="Bonus row amount 234"/>
          <p:cNvSpPr txBox="1"/>
          <p:nvPr/>
        </p:nvSpPr>
        <p:spPr>
          <a:xfrm>
            <a:off x="2743200" y="4543764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2000" dirty="0"/>
          </a:p>
        </p:txBody>
      </p:sp>
      <p:sp>
        <p:nvSpPr>
          <p:cNvPr id="12" name="Bonus row label 235"/>
          <p:cNvSpPr txBox="1"/>
          <p:nvPr/>
        </p:nvSpPr>
        <p:spPr>
          <a:xfrm>
            <a:off x="822960" y="4933826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300" dirty="0"/>
          </a:p>
        </p:txBody>
      </p:sp>
      <p:sp>
        <p:nvSpPr>
          <p:cNvPr id="13" name="Bonus row amount 236"/>
          <p:cNvSpPr txBox="1"/>
          <p:nvPr/>
        </p:nvSpPr>
        <p:spPr>
          <a:xfrm>
            <a:off x="2743200" y="4933826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2000" dirty="0"/>
          </a:p>
        </p:txBody>
      </p:sp>
      <p:sp>
        <p:nvSpPr>
          <p:cNvPr id="14" name="Bonus row label 237"/>
          <p:cNvSpPr txBox="1"/>
          <p:nvPr/>
        </p:nvSpPr>
        <p:spPr>
          <a:xfrm>
            <a:off x="822960" y="5323889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300" dirty="0"/>
          </a:p>
        </p:txBody>
      </p:sp>
      <p:sp>
        <p:nvSpPr>
          <p:cNvPr id="15" name="Bonus row amount 238"/>
          <p:cNvSpPr txBox="1"/>
          <p:nvPr/>
        </p:nvSpPr>
        <p:spPr>
          <a:xfrm>
            <a:off x="2743200" y="5323889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2000" dirty="0"/>
          </a:p>
        </p:txBody>
      </p:sp>
      <p:pic>
        <p:nvPicPr>
          <p:cNvPr id="16" name="Belonging card 23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7" name="Belonging title 240"/>
          <p:cNvSpPr txBox="1"/>
          <p:nvPr/>
        </p:nvSpPr>
        <p:spPr>
          <a:xfrm>
            <a:off x="473202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de Pertenencia:</a:t>
            </a:r>
            <a:endParaRPr lang="en-US" sz="1400" dirty="0"/>
          </a:p>
        </p:txBody>
      </p:sp>
      <p:sp>
        <p:nvSpPr>
          <p:cNvPr id="18" name="Belonging items 241"/>
          <p:cNvSpPr txBox="1"/>
          <p:nvPr/>
        </p:nvSpPr>
        <p:spPr>
          <a:xfrm>
            <a:off x="4732020" y="4543764"/>
            <a:ext cx="3177540" cy="1170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al “Embajador Westhill del mes”. (Historias de Instagram).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Dar un regalo como termo, paraguas, sudadera, etc.</a:t>
            </a:r>
            <a:endParaRPr lang="en-US" sz="1250" dirty="0"/>
          </a:p>
        </p:txBody>
      </p:sp>
      <p:pic>
        <p:nvPicPr>
          <p:cNvPr id="19" name="Bonus note card 24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841145"/>
            <a:ext cx="7543800" cy="559655"/>
          </a:xfrm>
          <a:prstGeom prst="rect">
            <a:avLst/>
          </a:prstGeom>
        </p:spPr>
      </p:pic>
      <p:sp>
        <p:nvSpPr>
          <p:cNvPr id="20" name="Bonus note outline 243"/>
          <p:cNvSpPr/>
          <p:nvPr/>
        </p:nvSpPr>
        <p:spPr>
          <a:xfrm>
            <a:off x="548640" y="5841145"/>
            <a:ext cx="7543800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21" name="Icon FaCircleInfo 244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928949"/>
            <a:ext cx="384048" cy="384048"/>
          </a:xfrm>
          <a:prstGeom prst="rect">
            <a:avLst/>
          </a:prstGeom>
        </p:spPr>
      </p:pic>
      <p:sp>
        <p:nvSpPr>
          <p:cNvPr id="22" name="Bonus note 245"/>
          <p:cNvSpPr txBox="1"/>
          <p:nvPr/>
        </p:nvSpPr>
        <p:spPr>
          <a:xfrm>
            <a:off x="1261872" y="5875064"/>
            <a:ext cx="6647688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100" dirty="0"/>
          </a:p>
        </p:txBody>
      </p:sp>
      <p:pic>
        <p:nvPicPr>
          <p:cNvPr id="23" name="Flyer frame 24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1677" y="1901952"/>
            <a:ext cx="3435387" cy="437997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4" name="Current flyer 247" descr="Programa de referidos actu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405" y="2011680"/>
            <a:ext cx="3215931" cy="4160520"/>
          </a:xfrm>
          <a:prstGeom prst="rect">
            <a:avLst/>
          </a:prstGeom>
        </p:spPr>
      </p:pic>
      <p:sp>
        <p:nvSpPr>
          <p:cNvPr id="25" name="Current tag 248"/>
          <p:cNvSpPr txBox="1"/>
          <p:nvPr/>
        </p:nvSpPr>
        <p:spPr>
          <a:xfrm>
            <a:off x="8564285" y="562356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2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49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tu código a su lugar en Westhill</a:t>
            </a:r>
            <a:endParaRPr lang="en-US" sz="3000" dirty="0"/>
          </a:p>
        </p:txBody>
      </p:sp>
      <p:sp>
        <p:nvSpPr>
          <p:cNvPr id="4" name="Subtitle 250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Así genera cada embajador su código y envía su invitación</a:t>
            </a:r>
            <a:endParaRPr lang="en-US" sz="1600" dirty="0"/>
          </a:p>
        </p:txBody>
      </p:sp>
      <p:pic>
        <p:nvPicPr>
          <p:cNvPr id="5" name="Process card 25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0"/>
            <a:ext cx="28346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6" name="Process number 252"/>
          <p:cNvSpPr txBox="1"/>
          <p:nvPr/>
        </p:nvSpPr>
        <p:spPr>
          <a:xfrm>
            <a:off x="713232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Process step 253"/>
          <p:cNvSpPr txBox="1"/>
          <p:nvPr/>
        </p:nvSpPr>
        <p:spPr>
          <a:xfrm>
            <a:off x="1225296" y="2414016"/>
            <a:ext cx="2066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tu código</a:t>
            </a:r>
            <a:endParaRPr lang="en-US" sz="1350" dirty="0"/>
          </a:p>
        </p:txBody>
      </p:sp>
      <p:sp>
        <p:nvSpPr>
          <p:cNvPr id="8" name="Process detail 254"/>
          <p:cNvSpPr txBox="1"/>
          <p:nvPr/>
        </p:nvSpPr>
        <p:spPr>
          <a:xfrm>
            <a:off x="1225296" y="2724912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Saca tu link y recibe tu pase</a:t>
            </a:r>
            <a:endParaRPr lang="en-US" sz="1100" dirty="0"/>
          </a:p>
        </p:txBody>
      </p:sp>
      <p:pic>
        <p:nvPicPr>
          <p:cNvPr id="9" name="Process screenshot 255" descr="Genera tu códi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94" y="3154680"/>
            <a:ext cx="2451931" cy="1490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0" name="Process screenshot 256" descr="Genera tu códi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562" y="4773168"/>
            <a:ext cx="2130796" cy="1490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1" name="Icon FaChevronRight 257" descr="Chevron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4151376"/>
            <a:ext cx="384048" cy="384048"/>
          </a:xfrm>
          <a:prstGeom prst="rect">
            <a:avLst/>
          </a:prstGeom>
        </p:spPr>
      </p:pic>
      <p:pic>
        <p:nvPicPr>
          <p:cNvPr id="12" name="Process card 25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584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3" name="Process number 259"/>
          <p:cNvSpPr txBox="1"/>
          <p:nvPr/>
        </p:nvSpPr>
        <p:spPr>
          <a:xfrm>
            <a:off x="3694176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rocess step 260"/>
          <p:cNvSpPr txBox="1"/>
          <p:nvPr/>
        </p:nvSpPr>
        <p:spPr>
          <a:xfrm>
            <a:off x="4206240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Envía tu invitación</a:t>
            </a:r>
            <a:endParaRPr lang="en-US" sz="1350" dirty="0"/>
          </a:p>
        </p:txBody>
      </p:sp>
      <p:sp>
        <p:nvSpPr>
          <p:cNvPr id="15" name="Process detail 261"/>
          <p:cNvSpPr txBox="1"/>
          <p:nvPr/>
        </p:nvSpPr>
        <p:spPr>
          <a:xfrm>
            <a:off x="4206240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 invitado abre el sobre</a:t>
            </a:r>
            <a:endParaRPr lang="en-US" sz="1100" dirty="0"/>
          </a:p>
        </p:txBody>
      </p:sp>
      <p:pic>
        <p:nvPicPr>
          <p:cNvPr id="16" name="Process screenshot 262" descr="Envía tu invitació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744" y="3767288"/>
            <a:ext cx="2331720" cy="188374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7" name="Icon FaChevronRight 263" descr="Chevron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4151376"/>
            <a:ext cx="384048" cy="384048"/>
          </a:xfrm>
          <a:prstGeom prst="rect">
            <a:avLst/>
          </a:prstGeom>
        </p:spPr>
      </p:pic>
      <p:pic>
        <p:nvPicPr>
          <p:cNvPr id="18" name="Process card 26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1928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9" name="Process number 265"/>
          <p:cNvSpPr txBox="1"/>
          <p:nvPr/>
        </p:nvSpPr>
        <p:spPr>
          <a:xfrm>
            <a:off x="6446520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Process step 266"/>
          <p:cNvSpPr txBox="1"/>
          <p:nvPr/>
        </p:nvSpPr>
        <p:spPr>
          <a:xfrm>
            <a:off x="6958584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Confirma su lugar</a:t>
            </a:r>
            <a:endParaRPr lang="en-US" sz="1350" dirty="0"/>
          </a:p>
        </p:txBody>
      </p:sp>
      <p:sp>
        <p:nvSpPr>
          <p:cNvPr id="21" name="Process detail 267"/>
          <p:cNvSpPr txBox="1"/>
          <p:nvPr/>
        </p:nvSpPr>
        <p:spPr>
          <a:xfrm>
            <a:off x="6958584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Llena el formulario</a:t>
            </a:r>
            <a:endParaRPr lang="en-US" sz="1100" dirty="0"/>
          </a:p>
        </p:txBody>
      </p:sp>
      <p:pic>
        <p:nvPicPr>
          <p:cNvPr id="22" name="Process screenshot 268" descr="Confirma su lug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47255" y="3154680"/>
            <a:ext cx="2075385" cy="31089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23" name="Icon FaChevronRight 269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9096" y="4151376"/>
            <a:ext cx="384048" cy="384048"/>
          </a:xfrm>
          <a:prstGeom prst="rect">
            <a:avLst/>
          </a:prstGeom>
        </p:spPr>
      </p:pic>
      <p:pic>
        <p:nvPicPr>
          <p:cNvPr id="24" name="Process card 27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34272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25" name="Process number 271"/>
          <p:cNvSpPr txBox="1"/>
          <p:nvPr/>
        </p:nvSpPr>
        <p:spPr>
          <a:xfrm>
            <a:off x="9198864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Process step 272"/>
          <p:cNvSpPr txBox="1"/>
          <p:nvPr/>
        </p:nvSpPr>
        <p:spPr>
          <a:xfrm>
            <a:off x="9710928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¡Proceso completo!</a:t>
            </a:r>
            <a:endParaRPr lang="en-US" sz="1350" dirty="0"/>
          </a:p>
        </p:txBody>
      </p:sp>
      <p:sp>
        <p:nvSpPr>
          <p:cNvPr id="27" name="Process detail 273"/>
          <p:cNvSpPr txBox="1"/>
          <p:nvPr/>
        </p:nvSpPr>
        <p:spPr>
          <a:xfrm>
            <a:off x="9710928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Llega a Admisiones</a:t>
            </a:r>
            <a:endParaRPr lang="en-US" sz="1100" dirty="0"/>
          </a:p>
        </p:txBody>
      </p:sp>
      <p:pic>
        <p:nvPicPr>
          <p:cNvPr id="28" name="Process screenshot 274" descr="¡Proceso completo!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1432" y="3546442"/>
            <a:ext cx="2331720" cy="232543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3" grpId="0" animBg="1"/>
      <p:bldP spid="14" grpId="0" animBg="1"/>
      <p:bldP spid="15" grpId="0" animBg="1"/>
      <p:bldP spid="19" grpId="0" animBg="1"/>
      <p:bldP spid="20" grpId="0" animBg="1"/>
      <p:bldP spid="21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7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Tablero de control de Admisiones</a:t>
            </a:r>
            <a:endParaRPr lang="en-US" sz="3000" dirty="0"/>
          </a:p>
        </p:txBody>
      </p:sp>
      <p:sp>
        <p:nvSpPr>
          <p:cNvPr id="4" name="Subtitle 276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actualiza solo con cada registro nuevo</a:t>
            </a:r>
            <a:endParaRPr lang="en-US" sz="1600" dirty="0"/>
          </a:p>
        </p:txBody>
      </p:sp>
      <p:pic>
        <p:nvPicPr>
          <p:cNvPr id="5" name="Dashboard screenshot frame 27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4983480" cy="397394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Dashboard screenshot 278" descr="Dashboard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441448"/>
            <a:ext cx="4764024" cy="3754493"/>
          </a:xfrm>
          <a:prstGeom prst="rect">
            <a:avLst/>
          </a:prstGeom>
        </p:spPr>
      </p:pic>
      <p:pic>
        <p:nvPicPr>
          <p:cNvPr id="7" name="Rankings screenshot frame 27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331720"/>
            <a:ext cx="5882335" cy="176021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8" name="Rankings screenshot 280" descr="Rankings screensh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2441448"/>
            <a:ext cx="5662879" cy="1540763"/>
          </a:xfrm>
          <a:prstGeom prst="rect">
            <a:avLst/>
          </a:prstGeom>
        </p:spPr>
      </p:pic>
      <p:pic>
        <p:nvPicPr>
          <p:cNvPr id="9" name="Dashboard note 28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4274819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ChartLine 282" descr="ChartLi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4370069"/>
            <a:ext cx="457200" cy="457200"/>
          </a:xfrm>
          <a:prstGeom prst="rect">
            <a:avLst/>
          </a:prstGeom>
        </p:spPr>
      </p:pic>
      <p:sp>
        <p:nvSpPr>
          <p:cNvPr id="11" name="Dashboard note text 283"/>
          <p:cNvSpPr txBox="1"/>
          <p:nvPr/>
        </p:nvSpPr>
        <p:spPr>
          <a:xfrm>
            <a:off x="6537960" y="4320539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Indicadores al momento: registros totales, referidores, registros de hoy y últimos 7 días.</a:t>
            </a:r>
            <a:endParaRPr lang="en-US" sz="1300" dirty="0"/>
          </a:p>
        </p:txBody>
      </p:sp>
      <p:pic>
        <p:nvPicPr>
          <p:cNvPr id="12" name="Dashboard note 28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5013959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3" name="Icon FaRankingStar 285" descr="RankingSt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5109210"/>
            <a:ext cx="457200" cy="457200"/>
          </a:xfrm>
          <a:prstGeom prst="rect">
            <a:avLst/>
          </a:prstGeom>
        </p:spPr>
      </p:pic>
      <p:sp>
        <p:nvSpPr>
          <p:cNvPr id="14" name="Dashboard note text 286"/>
          <p:cNvSpPr txBox="1"/>
          <p:nvPr/>
        </p:nvSpPr>
        <p:spPr>
          <a:xfrm>
            <a:off x="6537960" y="5059679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Ranking de referidores para reconocer a los embajadores más activos.</a:t>
            </a:r>
            <a:endParaRPr lang="en-US" sz="1300" dirty="0"/>
          </a:p>
        </p:txBody>
      </p:sp>
      <p:pic>
        <p:nvPicPr>
          <p:cNvPr id="15" name="Dashboard note 28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5753100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ListCheck 288" descr="ListChec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3600" y="5848350"/>
            <a:ext cx="457200" cy="457200"/>
          </a:xfrm>
          <a:prstGeom prst="rect">
            <a:avLst/>
          </a:prstGeom>
        </p:spPr>
      </p:pic>
      <p:sp>
        <p:nvSpPr>
          <p:cNvPr id="17" name="Dashboard note text 289"/>
          <p:cNvSpPr txBox="1"/>
          <p:nvPr/>
        </p:nvSpPr>
        <p:spPr>
          <a:xfrm>
            <a:off x="6537960" y="5798820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por nivel, por día y los últimos invitados con quién los refirió.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90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de datos de referidos</a:t>
            </a:r>
            <a:endParaRPr lang="en-US" sz="3000" dirty="0"/>
          </a:p>
        </p:txBody>
      </p:sp>
      <p:sp>
        <p:nvSpPr>
          <p:cNvPr id="4" name="Subtitle 291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registro queda vinculado al código del embajador que lo invitó</a:t>
            </a:r>
            <a:endParaRPr lang="en-US" sz="1600" dirty="0"/>
          </a:p>
        </p:txBody>
      </p:sp>
      <p:pic>
        <p:nvPicPr>
          <p:cNvPr id="5" name="Referidores card 29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3977640" cy="20574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6" name="Sheet tag 293"/>
          <p:cNvSpPr txBox="1"/>
          <p:nvPr/>
        </p:nvSpPr>
        <p:spPr>
          <a:xfrm>
            <a:off x="731520" y="2487168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HOJA: REFERIDORES</a:t>
            </a:r>
            <a:endParaRPr lang="en-US" sz="1000" dirty="0"/>
          </a:p>
        </p:txBody>
      </p:sp>
      <p:sp>
        <p:nvSpPr>
          <p:cNvPr id="7" name="Referidores text 294"/>
          <p:cNvSpPr txBox="1"/>
          <p:nvPr/>
        </p:nvSpPr>
        <p:spPr>
          <a:xfrm>
            <a:off x="731520" y="28529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embajador registrado con su código único, correo y teléfono.</a:t>
            </a:r>
            <a:endParaRPr lang="en-US" sz="1250" dirty="0"/>
          </a:p>
        </p:txBody>
      </p:sp>
      <p:pic>
        <p:nvPicPr>
          <p:cNvPr id="8" name="Referidores screenshot 295" descr="Hoja Referidor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54439"/>
            <a:ext cx="3611880" cy="87008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4000"/>
              </a:srgbClr>
            </a:outerShdw>
          </a:effectLst>
        </p:spPr>
      </p:pic>
      <p:pic>
        <p:nvPicPr>
          <p:cNvPr id="9" name="Referidos card 29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53712"/>
            <a:ext cx="3977640" cy="9144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0" name="Sheet tag 297"/>
          <p:cNvSpPr txBox="1"/>
          <p:nvPr/>
        </p:nvSpPr>
        <p:spPr>
          <a:xfrm>
            <a:off x="731520" y="4690872"/>
            <a:ext cx="182880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HOJA: REFERIDOS</a:t>
            </a:r>
            <a:endParaRPr lang="en-US" sz="1000" dirty="0"/>
          </a:p>
        </p:txBody>
      </p:sp>
      <p:sp>
        <p:nvSpPr>
          <p:cNvPr id="11" name="Referidos text 298"/>
          <p:cNvSpPr txBox="1"/>
          <p:nvPr/>
        </p:nvSpPr>
        <p:spPr>
          <a:xfrm>
            <a:off x="731520" y="50292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invitado con quién lo refirió, nivel y programa de interés.</a:t>
            </a:r>
            <a:endParaRPr lang="en-US" sz="1200" dirty="0"/>
          </a:p>
        </p:txBody>
      </p:sp>
      <p:pic>
        <p:nvPicPr>
          <p:cNvPr id="12" name="Referidos screenshot frame 29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331720"/>
            <a:ext cx="6888175" cy="303749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Referidos screenshot 300" descr="Referidos screens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441448"/>
            <a:ext cx="6668719" cy="2818041"/>
          </a:xfrm>
          <a:prstGeom prst="rect">
            <a:avLst/>
          </a:prstGeom>
        </p:spPr>
      </p:pic>
      <p:pic>
        <p:nvPicPr>
          <p:cNvPr id="14" name="Sample data note 30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632704"/>
            <a:ext cx="11094415" cy="502920"/>
          </a:xfrm>
          <a:prstGeom prst="rect">
            <a:avLst/>
          </a:prstGeom>
        </p:spPr>
      </p:pic>
      <p:pic>
        <p:nvPicPr>
          <p:cNvPr id="15" name="Icon FaCircleInfo 302" descr="CircleInf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705856"/>
            <a:ext cx="356616" cy="356616"/>
          </a:xfrm>
          <a:prstGeom prst="rect">
            <a:avLst/>
          </a:prstGeom>
        </p:spPr>
      </p:pic>
      <p:sp>
        <p:nvSpPr>
          <p:cNvPr id="16" name="Sample data note text 303"/>
          <p:cNvSpPr txBox="1"/>
          <p:nvPr/>
        </p:nvSpPr>
        <p:spPr>
          <a:xfrm>
            <a:off x="1170432" y="5632704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de ejemplo para mostrar cómo se verá la información que recibe Admisiones.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 animBg="1"/>
      <p:bldP spid="11" grpId="0" animBg="1"/>
      <p:bldP spid="1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304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30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306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losing hashtag 307"/>
          <p:cNvSpPr txBox="1"/>
          <p:nvPr/>
        </p:nvSpPr>
        <p:spPr>
          <a:xfrm>
            <a:off x="4114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3600" dirty="0"/>
          </a:p>
        </p:txBody>
      </p:sp>
      <p:sp>
        <p:nvSpPr>
          <p:cNvPr id="6" name="Closing subtitle 308"/>
          <p:cNvSpPr txBox="1"/>
          <p:nvPr/>
        </p:nvSpPr>
        <p:spPr>
          <a:xfrm>
            <a:off x="4114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2000" dirty="0"/>
          </a:p>
        </p:txBody>
      </p:sp>
      <p:sp>
        <p:nvSpPr>
          <p:cNvPr id="7" name="Closing date 309"/>
          <p:cNvSpPr txBox="1"/>
          <p:nvPr/>
        </p:nvSpPr>
        <p:spPr>
          <a:xfrm>
            <a:off x="41148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 2027</a:t>
            </a:r>
            <a:endParaRPr lang="en-US" sz="1700" dirty="0"/>
          </a:p>
        </p:txBody>
      </p:sp>
      <p:sp>
        <p:nvSpPr>
          <p:cNvPr id="8" name="Handle 310"/>
          <p:cNvSpPr txBox="1"/>
          <p:nvPr/>
        </p:nvSpPr>
        <p:spPr>
          <a:xfrm>
            <a:off x="1371600" y="4160520"/>
            <a:ext cx="2651760" cy="51206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Westhill Embajadores">
  <a:themeElements>
    <a:clrScheme name="Westhill Embajadores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Westhill Embajadores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Embajadores Westhill 2.0 · Enero 2027</dc:title>
  <dc:subject>PptxGenJS Presentation</dc:subject>
  <dc:creator>Universidad Westhill</dc:creator>
  <cp:lastModifiedBy>Universidad Westhill</cp:lastModifiedBy>
  <cp:revision>1</cp:revision>
  <dcterms:created xsi:type="dcterms:W3CDTF">2026-10-05T19:46:13Z</dcterms:created>
  <dcterms:modified xsi:type="dcterms:W3CDTF">2026-10-05T19:46:13Z</dcterms:modified>
</cp:coreProperties>
</file>
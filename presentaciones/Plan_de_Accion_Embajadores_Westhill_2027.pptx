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7460fc0a-db65-bb25-2dc8-8e425c061fa3}">
          <p14:sldIdLst>
            <p14:sldId id="256"/>
          </p14:sldIdLst>
        </p14:section>
        <p14:section name="Programa" id="{89d1607f-d964-fa39-5408-59400887acb0}">
          <p14:sldIdLst>
            <p14:sldId id="257"/>
            <p14:sldId id="258"/>
            <p14:sldId id="259"/>
          </p14:sldIdLst>
        </p14:section>
        <p14:section name="Mecánica" id="{5a69f599-fc8f-abfa-8e51-a48d58b1fe8f}">
          <p14:sldIdLst>
            <p14:sldId id="260"/>
            <p14:sldId id="261"/>
            <p14:sldId id="262"/>
            <p14:sldId id="263"/>
          </p14:sldIdLst>
        </p14:section>
        <p14:section name="Niveles y beneficios" id="{3343b586-b901-e109-3573-4521df71a8b2}">
          <p14:sldIdLst>
            <p14:sldId id="264"/>
            <p14:sldId id="265"/>
            <p14:sldId id="266"/>
            <p14:sldId id="267"/>
          </p14:sldIdLst>
        </p14:section>
        <p14:section name="Iniciativas" id="{5ca32572-214b-8ad5-2018-741e1a61cc55}">
          <p14:sldIdLst>
            <p14:sldId id="268"/>
            <p14:sldId id="269"/>
            <p14:sldId id="270"/>
          </p14:sldIdLst>
        </p14:section>
        <p14:section name="Cierre" id="{a1480fc9-66bf-1584-5ac0-344a51f66d1a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sthill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173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795" y="109728"/>
            <a:ext cx="1410981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14813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 DE ACCIÓN  ·  EMBAJADORES WESTHILL 2.0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8351215" y="6510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@univwesthill</a:t>
            </a:r>
            <a:endParaRPr lang="en-US" sz="10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48640" y="1700784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sthill Int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jpe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background 1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 Westhill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0"/>
            <a:ext cx="1271016" cy="1526530"/>
          </a:xfrm>
          <a:prstGeom prst="rect">
            <a:avLst/>
          </a:prstGeom>
        </p:spPr>
      </p:pic>
      <p:sp>
        <p:nvSpPr>
          <p:cNvPr id="4" name="Hashtag 3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5" name="Cover title 4"/>
          <p:cNvSpPr txBox="1"/>
          <p:nvPr/>
        </p:nvSpPr>
        <p:spPr>
          <a:xfrm>
            <a:off x="566928" y="26974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 DE ACCIÓN</a:t>
            </a:r>
            <a:endParaRPr lang="en-US" sz="3800" dirty="0"/>
          </a:p>
        </p:txBody>
      </p:sp>
      <p:sp>
        <p:nvSpPr>
          <p:cNvPr id="6" name="Cover month 5"/>
          <p:cNvSpPr txBox="1"/>
          <p:nvPr/>
        </p:nvSpPr>
        <p:spPr>
          <a:xfrm>
            <a:off x="868680" y="3337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3400" dirty="0"/>
          </a:p>
        </p:txBody>
      </p:sp>
      <p:sp>
        <p:nvSpPr>
          <p:cNvPr id="7" name="Cover year 6"/>
          <p:cNvSpPr txBox="1"/>
          <p:nvPr/>
        </p:nvSpPr>
        <p:spPr>
          <a:xfrm>
            <a:off x="1005840" y="3840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2027</a:t>
            </a:r>
            <a:endParaRPr lang="en-US" sz="4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background 7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 Westhill 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0"/>
            <a:ext cx="1271016" cy="1526530"/>
          </a:xfrm>
          <a:prstGeom prst="rect">
            <a:avLst/>
          </a:prstGeom>
        </p:spPr>
      </p:pic>
      <p:sp>
        <p:nvSpPr>
          <p:cNvPr id="4" name="Hashtag 9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5" name="Section number 10"/>
          <p:cNvSpPr txBox="1"/>
          <p:nvPr/>
        </p:nvSpPr>
        <p:spPr>
          <a:xfrm>
            <a:off x="566928" y="21488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8800" dirty="0"/>
          </a:p>
        </p:txBody>
      </p:sp>
      <p:sp>
        <p:nvSpPr>
          <p:cNvPr id="6" name="Section kicker 11"/>
          <p:cNvSpPr txBox="1"/>
          <p:nvPr/>
        </p:nvSpPr>
        <p:spPr>
          <a:xfrm>
            <a:off x="603504" y="3401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SECCIÓN</a:t>
            </a:r>
            <a:endParaRPr lang="en-US" sz="1400" dirty="0"/>
          </a:p>
        </p:txBody>
      </p:sp>
      <p:sp>
        <p:nvSpPr>
          <p:cNvPr id="7" name="Section title 12"/>
          <p:cNvSpPr txBox="1"/>
          <p:nvPr/>
        </p:nvSpPr>
        <p:spPr>
          <a:xfrm>
            <a:off x="566928" y="3730752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programa</a:t>
            </a:r>
            <a:endParaRPr lang="en-US" sz="3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13"/>
          <p:cNvSpPr txBox="1"/>
          <p:nvPr/>
        </p:nvSpPr>
        <p:spPr>
          <a:xfrm>
            <a:off x="1005840" y="146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9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70078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Embajadores Westhill 2.0</a:t>
            </a:r>
            <a:endParaRPr lang="en-US" sz="3000" dirty="0"/>
          </a:p>
        </p:txBody>
      </p:sp>
      <p:sp>
        <p:nvSpPr>
          <p:cNvPr id="4" name="Program description 14"/>
          <p:cNvSpPr txBox="1"/>
          <p:nvPr/>
        </p:nvSpPr>
        <p:spPr>
          <a:xfrm>
            <a:off x="548640" y="2458720"/>
            <a:ext cx="603504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programa de Embajadores Westhill es una iniciativa para que nuestros estudiantes compartan su experiencia, representen a la Universidad y ayuden a más jóvenes a descubrir su camino profesional.</a:t>
            </a:r>
            <a:endParaRPr lang="en-US" sz="1700" dirty="0"/>
          </a:p>
        </p:txBody>
      </p:sp>
      <p:pic>
        <p:nvPicPr>
          <p:cNvPr id="5" name="Objective card 1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81120"/>
            <a:ext cx="6035040" cy="25196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6" name="Watermark FaBullseye 1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911600"/>
            <a:ext cx="1645920" cy="1645920"/>
          </a:xfrm>
          <a:prstGeom prst="rect">
            <a:avLst/>
          </a:prstGeom>
        </p:spPr>
      </p:pic>
      <p:pic>
        <p:nvPicPr>
          <p:cNvPr id="7" name="Icon FaBullseye 17" descr="Bulls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24960"/>
            <a:ext cx="731520" cy="731520"/>
          </a:xfrm>
          <a:prstGeom prst="rect">
            <a:avLst/>
          </a:prstGeom>
        </p:spPr>
      </p:pic>
      <p:sp>
        <p:nvSpPr>
          <p:cNvPr id="8" name="Objective label 18"/>
          <p:cNvSpPr txBox="1"/>
          <p:nvPr/>
        </p:nvSpPr>
        <p:spPr>
          <a:xfrm>
            <a:off x="1828800" y="4165600"/>
            <a:ext cx="3657600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</a:t>
            </a:r>
            <a:endParaRPr lang="en-US" sz="1600" dirty="0"/>
          </a:p>
        </p:txBody>
      </p:sp>
      <p:sp>
        <p:nvSpPr>
          <p:cNvPr id="9" name="Objective text 19"/>
          <p:cNvSpPr txBox="1"/>
          <p:nvPr/>
        </p:nvSpPr>
        <p:spPr>
          <a:xfrm>
            <a:off x="914400" y="4978400"/>
            <a:ext cx="5303520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Generar más prospectos e inscritos, fortaleciendo el sentido de pertenencia de nuestros estudiantes y posicionando a Westhill a través de su voz auténtica.</a:t>
            </a:r>
            <a:endParaRPr lang="en-US" sz="1700" dirty="0"/>
          </a:p>
        </p:txBody>
      </p:sp>
      <p:pic>
        <p:nvPicPr>
          <p:cNvPr id="10" name="Why card 2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458720"/>
            <a:ext cx="4690872" cy="39420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sp>
        <p:nvSpPr>
          <p:cNvPr id="11" name="Why title 21"/>
          <p:cNvSpPr txBox="1"/>
          <p:nvPr/>
        </p:nvSpPr>
        <p:spPr>
          <a:xfrm>
            <a:off x="7269480" y="2621280"/>
            <a:ext cx="420624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ser embajador?</a:t>
            </a:r>
            <a:endParaRPr lang="en-US" sz="1900" dirty="0"/>
          </a:p>
        </p:txBody>
      </p:sp>
      <p:pic>
        <p:nvPicPr>
          <p:cNvPr id="12" name="Icon FaHandHoldingHeart 22" descr="HandHoldingHea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3202432"/>
            <a:ext cx="512064" cy="512064"/>
          </a:xfrm>
          <a:prstGeom prst="rect">
            <a:avLst/>
          </a:prstGeom>
        </p:spPr>
      </p:pic>
      <p:sp>
        <p:nvSpPr>
          <p:cNvPr id="13" name="Why item 23"/>
          <p:cNvSpPr txBox="1"/>
          <p:nvPr/>
        </p:nvSpPr>
        <p:spPr>
          <a:xfrm>
            <a:off x="7955280" y="3230880"/>
            <a:ext cx="352044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Haces la diferencia en la vida de otros.</a:t>
            </a:r>
            <a:endParaRPr lang="en-US" sz="1500" dirty="0"/>
          </a:p>
        </p:txBody>
      </p:sp>
      <p:pic>
        <p:nvPicPr>
          <p:cNvPr id="14" name="Icon FaBuildingColumns 24" descr="BuildingColumn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3820160"/>
            <a:ext cx="512064" cy="512064"/>
          </a:xfrm>
          <a:prstGeom prst="rect">
            <a:avLst/>
          </a:prstGeom>
        </p:spPr>
      </p:pic>
      <p:sp>
        <p:nvSpPr>
          <p:cNvPr id="15" name="Why item 25"/>
          <p:cNvSpPr txBox="1"/>
          <p:nvPr/>
        </p:nvSpPr>
        <p:spPr>
          <a:xfrm>
            <a:off x="7955280" y="3848608"/>
            <a:ext cx="352044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Fortalece tu universidad.</a:t>
            </a:r>
            <a:endParaRPr lang="en-US" sz="1500" dirty="0"/>
          </a:p>
        </p:txBody>
      </p:sp>
      <p:pic>
        <p:nvPicPr>
          <p:cNvPr id="16" name="Icon FaRankingStar 26" descr="RankingSta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4437888"/>
            <a:ext cx="512064" cy="512064"/>
          </a:xfrm>
          <a:prstGeom prst="rect">
            <a:avLst/>
          </a:prstGeom>
        </p:spPr>
      </p:pic>
      <p:sp>
        <p:nvSpPr>
          <p:cNvPr id="17" name="Why item 27"/>
          <p:cNvSpPr txBox="1"/>
          <p:nvPr/>
        </p:nvSpPr>
        <p:spPr>
          <a:xfrm>
            <a:off x="7955280" y="4466336"/>
            <a:ext cx="352044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Desarrollas habilidades de liderazgo.</a:t>
            </a:r>
            <a:endParaRPr lang="en-US" sz="1500" dirty="0"/>
          </a:p>
        </p:txBody>
      </p:sp>
      <p:pic>
        <p:nvPicPr>
          <p:cNvPr id="18" name="Icon FaGift 28" descr="Gif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5055616"/>
            <a:ext cx="512064" cy="512064"/>
          </a:xfrm>
          <a:prstGeom prst="rect">
            <a:avLst/>
          </a:prstGeom>
        </p:spPr>
      </p:pic>
      <p:sp>
        <p:nvSpPr>
          <p:cNvPr id="19" name="Why item 29"/>
          <p:cNvSpPr txBox="1"/>
          <p:nvPr/>
        </p:nvSpPr>
        <p:spPr>
          <a:xfrm>
            <a:off x="7955280" y="5084064"/>
            <a:ext cx="352044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Obtienes incentivos y reconocimientos.</a:t>
            </a:r>
            <a:endParaRPr lang="en-US" sz="1500" dirty="0"/>
          </a:p>
        </p:txBody>
      </p:sp>
      <p:pic>
        <p:nvPicPr>
          <p:cNvPr id="20" name="Icon FaStar 30" descr="Sta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9480" y="5673344"/>
            <a:ext cx="512064" cy="512064"/>
          </a:xfrm>
          <a:prstGeom prst="rect">
            <a:avLst/>
          </a:prstGeom>
        </p:spPr>
      </p:pic>
      <p:sp>
        <p:nvSpPr>
          <p:cNvPr id="21" name="Why item 31"/>
          <p:cNvSpPr txBox="1"/>
          <p:nvPr/>
        </p:nvSpPr>
        <p:spPr>
          <a:xfrm>
            <a:off x="7955280" y="5701792"/>
            <a:ext cx="352044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Vives experiencias únicas.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32"/>
          <p:cNvSpPr txBox="1"/>
          <p:nvPr/>
        </p:nvSpPr>
        <p:spPr>
          <a:xfrm>
            <a:off x="1005840" y="146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9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70078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basa en 3 perfiles</a:t>
            </a:r>
            <a:endParaRPr lang="en-US" sz="3000" dirty="0"/>
          </a:p>
        </p:txBody>
      </p:sp>
      <p:pic>
        <p:nvPicPr>
          <p:cNvPr id="4" name="Profile card 3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18080"/>
            <a:ext cx="3511296" cy="40233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5" name="Icon FaShareNodes 34" descr="ShareNod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56840"/>
            <a:ext cx="822960" cy="822960"/>
          </a:xfrm>
          <a:prstGeom prst="rect">
            <a:avLst/>
          </a:prstGeom>
        </p:spPr>
      </p:pic>
      <p:sp>
        <p:nvSpPr>
          <p:cNvPr id="6" name="Profile kicker 35"/>
          <p:cNvSpPr txBox="1"/>
          <p:nvPr/>
        </p:nvSpPr>
        <p:spPr>
          <a:xfrm>
            <a:off x="868680" y="3596640"/>
            <a:ext cx="28712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EMBAJADOR</a:t>
            </a:r>
            <a:endParaRPr lang="en-US" sz="1100" dirty="0"/>
          </a:p>
        </p:txBody>
      </p:sp>
      <p:sp>
        <p:nvSpPr>
          <p:cNvPr id="7" name="Profile name 36"/>
          <p:cNvSpPr txBox="1"/>
          <p:nvPr/>
        </p:nvSpPr>
        <p:spPr>
          <a:xfrm>
            <a:off x="868680" y="3840480"/>
            <a:ext cx="287121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CONECTA</a:t>
            </a:r>
            <a:endParaRPr lang="en-US" sz="2700" dirty="0"/>
          </a:p>
        </p:txBody>
      </p:sp>
      <p:sp>
        <p:nvSpPr>
          <p:cNvPr id="8" name="Profile items 37"/>
          <p:cNvSpPr txBox="1"/>
          <p:nvPr/>
        </p:nvSpPr>
        <p:spPr>
          <a:xfrm>
            <a:off x="868680" y="4450080"/>
            <a:ext cx="2962656" cy="186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Comparte Westhill con amigos, familiares y conocidos.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Invita a eventos.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 prospectos con tu código o enlace personal.</a:t>
            </a:r>
            <a:endParaRPr lang="en-US" sz="1400" dirty="0"/>
          </a:p>
        </p:txBody>
      </p:sp>
      <p:pic>
        <p:nvPicPr>
          <p:cNvPr id="9" name="Profile card 3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2418080"/>
            <a:ext cx="3511296" cy="40233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0" name="Icon FaUserGraduate 39" descr="UserGradua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656840"/>
            <a:ext cx="822960" cy="822960"/>
          </a:xfrm>
          <a:prstGeom prst="rect">
            <a:avLst/>
          </a:prstGeom>
        </p:spPr>
      </p:pic>
      <p:sp>
        <p:nvSpPr>
          <p:cNvPr id="11" name="Profile kicker 40"/>
          <p:cNvSpPr txBox="1"/>
          <p:nvPr/>
        </p:nvSpPr>
        <p:spPr>
          <a:xfrm>
            <a:off x="4681728" y="3596640"/>
            <a:ext cx="28712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EMBAJADOR</a:t>
            </a:r>
            <a:endParaRPr lang="en-US" sz="1100" dirty="0"/>
          </a:p>
        </p:txBody>
      </p:sp>
      <p:sp>
        <p:nvSpPr>
          <p:cNvPr id="12" name="Profile name 41"/>
          <p:cNvSpPr txBox="1"/>
          <p:nvPr/>
        </p:nvSpPr>
        <p:spPr>
          <a:xfrm>
            <a:off x="4681728" y="3840480"/>
            <a:ext cx="287121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EXPERIENCIA</a:t>
            </a:r>
            <a:endParaRPr lang="en-US" sz="2700" dirty="0"/>
          </a:p>
        </p:txBody>
      </p:sp>
      <p:sp>
        <p:nvSpPr>
          <p:cNvPr id="13" name="Profile items 42"/>
          <p:cNvSpPr txBox="1"/>
          <p:nvPr/>
        </p:nvSpPr>
        <p:spPr>
          <a:xfrm>
            <a:off x="4681728" y="4450080"/>
            <a:ext cx="2962656" cy="186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Participa en eventos, ferias y webinars.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Comparte tu experiencia como estudiante.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Graba testimonios y contenido.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Acompaña a prospectos en visitas.</a:t>
            </a:r>
            <a:endParaRPr lang="en-US" sz="1400" dirty="0"/>
          </a:p>
        </p:txBody>
      </p:sp>
      <p:pic>
        <p:nvPicPr>
          <p:cNvPr id="14" name="Profile card 4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2418080"/>
            <a:ext cx="3511296" cy="40233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5" name="Watermark FaCrown 4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712" y="5199380"/>
            <a:ext cx="1143000" cy="1143000"/>
          </a:xfrm>
          <a:prstGeom prst="rect">
            <a:avLst/>
          </a:prstGeom>
        </p:spPr>
      </p:pic>
      <p:pic>
        <p:nvPicPr>
          <p:cNvPr id="16" name="Icon FaCrown 45" descr="C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776" y="2656840"/>
            <a:ext cx="822960" cy="822960"/>
          </a:xfrm>
          <a:prstGeom prst="rect">
            <a:avLst/>
          </a:prstGeom>
        </p:spPr>
      </p:pic>
      <p:sp>
        <p:nvSpPr>
          <p:cNvPr id="17" name="Highlight tag 46"/>
          <p:cNvSpPr txBox="1"/>
          <p:nvPr/>
        </p:nvSpPr>
        <p:spPr>
          <a:xfrm>
            <a:off x="10085832" y="2824480"/>
            <a:ext cx="1280160" cy="292608"/>
          </a:xfrm>
          <a:prstGeom prst="roundRect">
            <a:avLst>
              <a:gd name="adj" fmla="val 5625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DESTACADO</a:t>
            </a:r>
            <a:endParaRPr lang="en-US" sz="1000" dirty="0"/>
          </a:p>
        </p:txBody>
      </p:sp>
      <p:sp>
        <p:nvSpPr>
          <p:cNvPr id="18" name="Profile kicker 47"/>
          <p:cNvSpPr txBox="1"/>
          <p:nvPr/>
        </p:nvSpPr>
        <p:spPr>
          <a:xfrm>
            <a:off x="8494776" y="3596640"/>
            <a:ext cx="287121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EMBAJADOR</a:t>
            </a:r>
            <a:endParaRPr lang="en-US" sz="1100" dirty="0"/>
          </a:p>
        </p:txBody>
      </p:sp>
      <p:sp>
        <p:nvSpPr>
          <p:cNvPr id="19" name="Profile name 48"/>
          <p:cNvSpPr txBox="1"/>
          <p:nvPr/>
        </p:nvSpPr>
        <p:spPr>
          <a:xfrm>
            <a:off x="8494776" y="3840480"/>
            <a:ext cx="287121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LÍDER</a:t>
            </a:r>
            <a:endParaRPr lang="en-US" sz="2700" dirty="0"/>
          </a:p>
        </p:txBody>
      </p:sp>
      <p:sp>
        <p:nvSpPr>
          <p:cNvPr id="20" name="Profile items 49"/>
          <p:cNvSpPr txBox="1"/>
          <p:nvPr/>
        </p:nvSpPr>
        <p:spPr>
          <a:xfrm>
            <a:off x="8494776" y="4450080"/>
            <a:ext cx="2962656" cy="186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 un alumno destacado que representa a Westhill.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Participa en campañas institucionales.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Apoya en eventos de atracción.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Puede ser parte de videos y material de promoción.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background 50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 Westhill 5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0"/>
            <a:ext cx="1271016" cy="1526530"/>
          </a:xfrm>
          <a:prstGeom prst="rect">
            <a:avLst/>
          </a:prstGeom>
        </p:spPr>
      </p:pic>
      <p:sp>
        <p:nvSpPr>
          <p:cNvPr id="4" name="Hashtag 52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5" name="Section number 53"/>
          <p:cNvSpPr txBox="1"/>
          <p:nvPr/>
        </p:nvSpPr>
        <p:spPr>
          <a:xfrm>
            <a:off x="566928" y="21488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endParaRPr lang="en-US" sz="8800" dirty="0"/>
          </a:p>
        </p:txBody>
      </p:sp>
      <p:sp>
        <p:nvSpPr>
          <p:cNvPr id="6" name="Section kicker 54"/>
          <p:cNvSpPr txBox="1"/>
          <p:nvPr/>
        </p:nvSpPr>
        <p:spPr>
          <a:xfrm>
            <a:off x="603504" y="3401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SECCIÓN</a:t>
            </a:r>
            <a:endParaRPr lang="en-US" sz="1400" dirty="0"/>
          </a:p>
        </p:txBody>
      </p:sp>
      <p:sp>
        <p:nvSpPr>
          <p:cNvPr id="7" name="Section title 55"/>
          <p:cNvSpPr txBox="1"/>
          <p:nvPr/>
        </p:nvSpPr>
        <p:spPr>
          <a:xfrm>
            <a:off x="566928" y="3730752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¿Cómo funciona?</a:t>
            </a:r>
            <a:endParaRPr lang="en-US" sz="3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56"/>
          <p:cNvSpPr txBox="1"/>
          <p:nvPr/>
        </p:nvSpPr>
        <p:spPr>
          <a:xfrm>
            <a:off x="1005840" y="146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9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70078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¿Cómo funciona?</a:t>
            </a:r>
            <a:endParaRPr lang="en-US" sz="3000" dirty="0"/>
          </a:p>
        </p:txBody>
      </p:sp>
      <p:pic>
        <p:nvPicPr>
          <p:cNvPr id="4" name="Step card 5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40000"/>
            <a:ext cx="2514600" cy="36576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sp>
        <p:nvSpPr>
          <p:cNvPr id="5" name="Step number 58"/>
          <p:cNvSpPr txBox="1"/>
          <p:nvPr/>
        </p:nvSpPr>
        <p:spPr>
          <a:xfrm>
            <a:off x="822960" y="2783840"/>
            <a:ext cx="1188720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4000" dirty="0"/>
          </a:p>
        </p:txBody>
      </p:sp>
      <p:pic>
        <p:nvPicPr>
          <p:cNvPr id="6" name="Icon FaQrcode 59" descr="Qr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2738120"/>
            <a:ext cx="822960" cy="822960"/>
          </a:xfrm>
          <a:prstGeom prst="rect">
            <a:avLst/>
          </a:prstGeom>
        </p:spPr>
      </p:pic>
      <p:sp>
        <p:nvSpPr>
          <p:cNvPr id="7" name="Step head 60"/>
          <p:cNvSpPr txBox="1"/>
          <p:nvPr/>
        </p:nvSpPr>
        <p:spPr>
          <a:xfrm>
            <a:off x="822960" y="38404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Comparte</a:t>
            </a:r>
            <a:endParaRPr lang="en-US" sz="2000" dirty="0"/>
          </a:p>
        </p:txBody>
      </p:sp>
      <p:sp>
        <p:nvSpPr>
          <p:cNvPr id="8" name="Step body 61"/>
          <p:cNvSpPr txBox="1"/>
          <p:nvPr/>
        </p:nvSpPr>
        <p:spPr>
          <a:xfrm>
            <a:off x="822960" y="4653280"/>
            <a:ext cx="2057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QR personalizado</a:t>
            </a:r>
            <a:endParaRPr lang="en-US" sz="1600" dirty="0"/>
          </a:p>
        </p:txBody>
      </p:sp>
      <p:pic>
        <p:nvPicPr>
          <p:cNvPr id="9" name="Icon FaChevronRight 62" descr="Chevron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804" y="3946144"/>
            <a:ext cx="438912" cy="438912"/>
          </a:xfrm>
          <a:prstGeom prst="rect">
            <a:avLst/>
          </a:prstGeom>
        </p:spPr>
      </p:pic>
      <p:pic>
        <p:nvPicPr>
          <p:cNvPr id="10" name="Step card 6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540000"/>
            <a:ext cx="2514600" cy="36576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sp>
        <p:nvSpPr>
          <p:cNvPr id="11" name="Step number 64"/>
          <p:cNvSpPr txBox="1"/>
          <p:nvPr/>
        </p:nvSpPr>
        <p:spPr>
          <a:xfrm>
            <a:off x="3657600" y="2783840"/>
            <a:ext cx="1188720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endParaRPr lang="en-US" sz="4000" dirty="0"/>
          </a:p>
        </p:txBody>
      </p:sp>
      <p:pic>
        <p:nvPicPr>
          <p:cNvPr id="12" name="Icon FaCalendarCheck 65" descr="Calendar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738120"/>
            <a:ext cx="822960" cy="822960"/>
          </a:xfrm>
          <a:prstGeom prst="rect">
            <a:avLst/>
          </a:prstGeom>
        </p:spPr>
      </p:pic>
      <p:sp>
        <p:nvSpPr>
          <p:cNvPr id="13" name="Step head 66"/>
          <p:cNvSpPr txBox="1"/>
          <p:nvPr/>
        </p:nvSpPr>
        <p:spPr>
          <a:xfrm>
            <a:off x="3657600" y="38404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Tus referidos</a:t>
            </a:r>
            <a:endParaRPr lang="en-US" sz="2000" dirty="0"/>
          </a:p>
        </p:txBody>
      </p:sp>
      <p:sp>
        <p:nvSpPr>
          <p:cNvPr id="14" name="Step body 67"/>
          <p:cNvSpPr txBox="1"/>
          <p:nvPr/>
        </p:nvSpPr>
        <p:spPr>
          <a:xfrm>
            <a:off x="3657600" y="4653280"/>
            <a:ext cx="2057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Agendan su visita</a:t>
            </a:r>
            <a:endParaRPr lang="en-US" sz="1600" dirty="0"/>
          </a:p>
        </p:txBody>
      </p:sp>
      <p:pic>
        <p:nvPicPr>
          <p:cNvPr id="15" name="Icon FaChevronRight 68" descr="ChevronRigh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8444" y="3946144"/>
            <a:ext cx="438912" cy="438912"/>
          </a:xfrm>
          <a:prstGeom prst="rect">
            <a:avLst/>
          </a:prstGeom>
        </p:spPr>
      </p:pic>
      <p:pic>
        <p:nvPicPr>
          <p:cNvPr id="16" name="Step card 69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2540000"/>
            <a:ext cx="2514600" cy="36576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7" name="Watermark FaMoneyBillWave 7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5041900"/>
            <a:ext cx="1051560" cy="1051560"/>
          </a:xfrm>
          <a:prstGeom prst="rect">
            <a:avLst/>
          </a:prstGeom>
        </p:spPr>
      </p:pic>
      <p:sp>
        <p:nvSpPr>
          <p:cNvPr id="18" name="Step number 71"/>
          <p:cNvSpPr txBox="1"/>
          <p:nvPr/>
        </p:nvSpPr>
        <p:spPr>
          <a:xfrm>
            <a:off x="6492240" y="2783840"/>
            <a:ext cx="1188720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03</a:t>
            </a:r>
            <a:endParaRPr lang="en-US" sz="4000" dirty="0"/>
          </a:p>
        </p:txBody>
      </p:sp>
      <p:pic>
        <p:nvPicPr>
          <p:cNvPr id="19" name="Icon FaMoneyBillWave 72" descr="MoneyBillWav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5240" y="2738120"/>
            <a:ext cx="822960" cy="822960"/>
          </a:xfrm>
          <a:prstGeom prst="rect">
            <a:avLst/>
          </a:prstGeom>
        </p:spPr>
      </p:pic>
      <p:sp>
        <p:nvSpPr>
          <p:cNvPr id="20" name="Step head 73"/>
          <p:cNvSpPr txBox="1"/>
          <p:nvPr/>
        </p:nvSpPr>
        <p:spPr>
          <a:xfrm>
            <a:off x="6492240" y="38404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 se inscribe</a:t>
            </a:r>
            <a:endParaRPr lang="en-US" sz="2000" dirty="0"/>
          </a:p>
        </p:txBody>
      </p:sp>
      <p:sp>
        <p:nvSpPr>
          <p:cNvPr id="21" name="Step body 74"/>
          <p:cNvSpPr txBox="1"/>
          <p:nvPr/>
        </p:nvSpPr>
        <p:spPr>
          <a:xfrm>
            <a:off x="6492240" y="4653280"/>
            <a:ext cx="2057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Recibes un Bono económico</a:t>
            </a:r>
            <a:endParaRPr lang="en-US" sz="1600" dirty="0"/>
          </a:p>
        </p:txBody>
      </p:sp>
      <p:pic>
        <p:nvPicPr>
          <p:cNvPr id="22" name="Icon FaChevronRight 75" descr="ChevronRigh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3084" y="3946144"/>
            <a:ext cx="438912" cy="438912"/>
          </a:xfrm>
          <a:prstGeom prst="rect">
            <a:avLst/>
          </a:prstGeom>
        </p:spPr>
      </p:pic>
      <p:pic>
        <p:nvPicPr>
          <p:cNvPr id="23" name="Step card 7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2560" y="2540000"/>
            <a:ext cx="2514600" cy="36576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sp>
        <p:nvSpPr>
          <p:cNvPr id="24" name="Step number 77"/>
          <p:cNvSpPr txBox="1"/>
          <p:nvPr/>
        </p:nvSpPr>
        <p:spPr>
          <a:xfrm>
            <a:off x="9326880" y="2783840"/>
            <a:ext cx="1188720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04</a:t>
            </a:r>
            <a:endParaRPr lang="en-US" sz="4000" dirty="0"/>
          </a:p>
        </p:txBody>
      </p:sp>
      <p:pic>
        <p:nvPicPr>
          <p:cNvPr id="25" name="Icon FaTrophy 78" descr="Trophy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69880" y="2738120"/>
            <a:ext cx="822960" cy="822960"/>
          </a:xfrm>
          <a:prstGeom prst="rect">
            <a:avLst/>
          </a:prstGeom>
        </p:spPr>
      </p:pic>
      <p:sp>
        <p:nvSpPr>
          <p:cNvPr id="26" name="Step head 79"/>
          <p:cNvSpPr txBox="1"/>
          <p:nvPr/>
        </p:nvSpPr>
        <p:spPr>
          <a:xfrm>
            <a:off x="9326880" y="38404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Acumulas Puntos.</a:t>
            </a:r>
            <a:endParaRPr lang="en-US" sz="2000" dirty="0"/>
          </a:p>
        </p:txBody>
      </p:sp>
      <p:sp>
        <p:nvSpPr>
          <p:cNvPr id="27" name="Step body 80"/>
          <p:cNvSpPr txBox="1"/>
          <p:nvPr/>
        </p:nvSpPr>
        <p:spPr>
          <a:xfrm>
            <a:off x="9326880" y="4653280"/>
            <a:ext cx="2057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Subes de nivel</a:t>
            </a:r>
            <a:endParaRPr lang="en-US" sz="1600" dirty="0"/>
          </a:p>
          <a:p>
            <a:pPr marL="190500" indent="-1905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Beneficios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1" grpId="0" animBg="1"/>
      <p:bldP spid="13" grpId="0" animBg="1"/>
      <p:bldP spid="14" grpId="0" animBg="1"/>
      <p:bldP spid="18" grpId="0" animBg="1"/>
      <p:bldP spid="20" grpId="0" animBg="1"/>
      <p:bldP spid="21" grpId="0" animBg="1"/>
      <p:bldP spid="24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81"/>
          <p:cNvSpPr txBox="1"/>
          <p:nvPr/>
        </p:nvSpPr>
        <p:spPr>
          <a:xfrm>
            <a:off x="1005840" y="146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9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70078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 de puntos</a:t>
            </a:r>
            <a:endParaRPr lang="en-US" sz="3000" dirty="0"/>
          </a:p>
        </p:txBody>
      </p:sp>
      <p:pic>
        <p:nvPicPr>
          <p:cNvPr id="4" name="Table card 8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362054"/>
            <a:ext cx="6894576" cy="3415625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graphicFrame>
        <p:nvGraphicFramePr>
          <p:cNvPr id="8" name="Points table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54368"/>
          <a:ext cx="667512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554480"/>
              </a:tblGrid>
              <a:tr h="323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Actividades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Puntos</a:t>
                      </a:r>
                      <a:endParaRPr lang="en-US" sz="14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</a:tr>
              <a:tr h="323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Registrar un referido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C"/>
                    </a:solidFill>
                  </a:tcPr>
                </a:tc>
              </a:tr>
              <a:tr h="323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Referido asiste a eventos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23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Referido agenda entrevista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C"/>
                    </a:solidFill>
                  </a:tcPr>
                </a:tc>
              </a:tr>
              <a:tr h="323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Referido inicia admisión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23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Referido se inscribe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</a:tr>
              <a:tr h="323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Participar en eventos promocionales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23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Participar en ferias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C"/>
                    </a:solidFill>
                  </a:tcPr>
                </a:tc>
              </a:tr>
              <a:tr h="323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Grabar testimonios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23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Invitar a 5 prospectos a un evento</a:t>
                      </a:r>
                      <a:endParaRPr lang="en-US" sz="135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</a:t>
                      </a:r>
                      <a:endParaRPr lang="en-US" sz="150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pic>
        <p:nvPicPr>
          <p:cNvPr id="6" name="Bonus card 8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362054"/>
            <a:ext cx="4007815" cy="3415625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7" name="Icon FaMoneyBillWave 85" descr="MoneyBillWa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515343"/>
            <a:ext cx="685800" cy="685800"/>
          </a:xfrm>
          <a:prstGeom prst="rect">
            <a:avLst/>
          </a:prstGeom>
        </p:spPr>
      </p:pic>
      <p:sp>
        <p:nvSpPr>
          <p:cNvPr id="8" name="Bonus label 86"/>
          <p:cNvSpPr txBox="1"/>
          <p:nvPr/>
        </p:nvSpPr>
        <p:spPr>
          <a:xfrm>
            <a:off x="8778240" y="2569761"/>
            <a:ext cx="2727655" cy="576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BONO ECONÓMICO</a:t>
            </a:r>
            <a:endParaRPr lang="en-US" sz="1600" dirty="0"/>
          </a:p>
        </p:txBody>
      </p:sp>
      <p:sp>
        <p:nvSpPr>
          <p:cNvPr id="9" name="Bonus amount 87"/>
          <p:cNvSpPr txBox="1"/>
          <p:nvPr/>
        </p:nvSpPr>
        <p:spPr>
          <a:xfrm>
            <a:off x="8001000" y="3300582"/>
            <a:ext cx="1920240" cy="50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$2,000</a:t>
            </a:r>
            <a:endParaRPr lang="en-US" sz="3000" dirty="0"/>
          </a:p>
        </p:txBody>
      </p:sp>
      <p:sp>
        <p:nvSpPr>
          <p:cNvPr id="10" name="Bonus label 88"/>
          <p:cNvSpPr txBox="1"/>
          <p:nvPr/>
        </p:nvSpPr>
        <p:spPr>
          <a:xfrm>
            <a:off x="9921240" y="3300582"/>
            <a:ext cx="1538935" cy="50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invitado inscrito</a:t>
            </a:r>
            <a:endParaRPr lang="en-US" sz="1400" dirty="0"/>
          </a:p>
        </p:txBody>
      </p:sp>
      <p:sp>
        <p:nvSpPr>
          <p:cNvPr id="11" name="Divider 89"/>
          <p:cNvSpPr/>
          <p:nvPr/>
        </p:nvSpPr>
        <p:spPr>
          <a:xfrm>
            <a:off x="8001000" y="3946781"/>
            <a:ext cx="3276295" cy="0"/>
          </a:xfrm>
          <a:prstGeom prst="line">
            <a:avLst/>
          </a:prstGeom>
          <a:noFill/>
          <a:ln w="12700">
            <a:solidFill>
              <a:srgbClr val="2B5A88"/>
            </a:solidFill>
            <a:prstDash val="solid"/>
          </a:ln>
        </p:spPr>
      </p:sp>
      <p:sp>
        <p:nvSpPr>
          <p:cNvPr id="12" name="Bonus amount 90"/>
          <p:cNvSpPr txBox="1"/>
          <p:nvPr/>
        </p:nvSpPr>
        <p:spPr>
          <a:xfrm>
            <a:off x="8001000" y="4085252"/>
            <a:ext cx="1920240" cy="50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$3,500</a:t>
            </a:r>
            <a:endParaRPr lang="en-US" sz="3000" dirty="0"/>
          </a:p>
        </p:txBody>
      </p:sp>
      <p:sp>
        <p:nvSpPr>
          <p:cNvPr id="13" name="Bonus label 91"/>
          <p:cNvSpPr txBox="1"/>
          <p:nvPr/>
        </p:nvSpPr>
        <p:spPr>
          <a:xfrm>
            <a:off x="9921240" y="4085252"/>
            <a:ext cx="1538935" cy="50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invitados inscritos</a:t>
            </a:r>
            <a:endParaRPr lang="en-US" sz="1400" dirty="0"/>
          </a:p>
        </p:txBody>
      </p:sp>
      <p:pic>
        <p:nvPicPr>
          <p:cNvPr id="14" name="Top bonus highlight 9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754530"/>
            <a:ext cx="3642055" cy="730821"/>
          </a:xfrm>
          <a:prstGeom prst="rect">
            <a:avLst/>
          </a:prstGeom>
        </p:spPr>
      </p:pic>
      <p:sp>
        <p:nvSpPr>
          <p:cNvPr id="15" name="Bonus amount 93"/>
          <p:cNvSpPr txBox="1"/>
          <p:nvPr/>
        </p:nvSpPr>
        <p:spPr>
          <a:xfrm>
            <a:off x="8001000" y="4869923"/>
            <a:ext cx="1920240" cy="50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$5,000</a:t>
            </a:r>
            <a:endParaRPr lang="en-US" sz="3000" dirty="0"/>
          </a:p>
        </p:txBody>
      </p:sp>
      <p:sp>
        <p:nvSpPr>
          <p:cNvPr id="16" name="Bonus label 94"/>
          <p:cNvSpPr txBox="1"/>
          <p:nvPr/>
        </p:nvSpPr>
        <p:spPr>
          <a:xfrm>
            <a:off x="9921240" y="4869923"/>
            <a:ext cx="1538935" cy="50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invitados inscritos</a:t>
            </a:r>
            <a:endParaRPr lang="en-US" sz="1400" dirty="0"/>
          </a:p>
        </p:txBody>
      </p:sp>
      <p:pic>
        <p:nvPicPr>
          <p:cNvPr id="17" name="Bonus note card 9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5869993"/>
            <a:ext cx="11204143" cy="507728"/>
          </a:xfrm>
          <a:prstGeom prst="rect">
            <a:avLst/>
          </a:prstGeom>
        </p:spPr>
      </p:pic>
      <p:sp>
        <p:nvSpPr>
          <p:cNvPr id="18" name="Bonus note outline 96"/>
          <p:cNvSpPr/>
          <p:nvPr/>
        </p:nvSpPr>
        <p:spPr>
          <a:xfrm>
            <a:off x="438912" y="5869993"/>
            <a:ext cx="11204143" cy="507728"/>
          </a:xfrm>
          <a:prstGeom prst="roundRect">
            <a:avLst>
              <a:gd name="adj" fmla="val 25214"/>
            </a:avLst>
          </a:prstGeom>
          <a:ln w="19050">
            <a:solidFill>
              <a:schemeClr val="accent2"/>
            </a:solidFill>
            <a:prstDash val="solid"/>
          </a:ln>
        </p:spPr>
      </p:sp>
      <p:pic>
        <p:nvPicPr>
          <p:cNvPr id="19" name="Icon FaCircleInfo 97" descr="CircleInf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5931833"/>
            <a:ext cx="384048" cy="384048"/>
          </a:xfrm>
          <a:prstGeom prst="rect">
            <a:avLst/>
          </a:prstGeom>
        </p:spPr>
      </p:pic>
      <p:sp>
        <p:nvSpPr>
          <p:cNvPr id="20" name="Bonus note 98"/>
          <p:cNvSpPr txBox="1"/>
          <p:nvPr/>
        </p:nvSpPr>
        <p:spPr>
          <a:xfrm>
            <a:off x="1152144" y="5900765"/>
            <a:ext cx="10308031" cy="4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bono se aplica una vez que el referido se encuentra inscrito y salvo a las políticas vigentes de la universidad. No es acumulativo y solo es válido dentro del mes.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99"/>
          <p:cNvSpPr txBox="1"/>
          <p:nvPr/>
        </p:nvSpPr>
        <p:spPr>
          <a:xfrm>
            <a:off x="1005840" y="146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9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70078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recorrido del embajador</a:t>
            </a:r>
            <a:endParaRPr lang="en-US" sz="3000" dirty="0"/>
          </a:p>
        </p:txBody>
      </p:sp>
      <p:sp>
        <p:nvSpPr>
          <p:cNvPr id="4" name="Subtitle 100"/>
          <p:cNvSpPr txBox="1"/>
          <p:nvPr/>
        </p:nvSpPr>
        <p:spPr>
          <a:xfrm>
            <a:off x="548640" y="23042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verdadero valor del programa es el siguiente recorrido:</a:t>
            </a:r>
            <a:endParaRPr lang="en-US" sz="1600" dirty="0"/>
          </a:p>
        </p:txBody>
      </p:sp>
      <p:sp>
        <p:nvSpPr>
          <p:cNvPr id="5" name="Journey connector 101"/>
          <p:cNvSpPr/>
          <p:nvPr/>
        </p:nvSpPr>
        <p:spPr>
          <a:xfrm>
            <a:off x="1234440" y="3881120"/>
            <a:ext cx="1645920" cy="14630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</a:ln>
        </p:spPr>
      </p:sp>
      <p:sp>
        <p:nvSpPr>
          <p:cNvPr id="6" name="Journey connector 102"/>
          <p:cNvSpPr/>
          <p:nvPr/>
        </p:nvSpPr>
        <p:spPr>
          <a:xfrm flipV="1">
            <a:off x="2880360" y="3881120"/>
            <a:ext cx="1645920" cy="14630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</a:ln>
        </p:spPr>
      </p:sp>
      <p:sp>
        <p:nvSpPr>
          <p:cNvPr id="7" name="Journey connector 103"/>
          <p:cNvSpPr/>
          <p:nvPr/>
        </p:nvSpPr>
        <p:spPr>
          <a:xfrm>
            <a:off x="4526280" y="3881120"/>
            <a:ext cx="1645920" cy="14630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</a:ln>
        </p:spPr>
      </p:sp>
      <p:sp>
        <p:nvSpPr>
          <p:cNvPr id="8" name="Journey connector 104"/>
          <p:cNvSpPr/>
          <p:nvPr/>
        </p:nvSpPr>
        <p:spPr>
          <a:xfrm flipV="1">
            <a:off x="6172200" y="3881120"/>
            <a:ext cx="1645920" cy="14630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</a:ln>
        </p:spPr>
      </p:sp>
      <p:sp>
        <p:nvSpPr>
          <p:cNvPr id="9" name="Journey connector 105"/>
          <p:cNvSpPr/>
          <p:nvPr/>
        </p:nvSpPr>
        <p:spPr>
          <a:xfrm>
            <a:off x="7818120" y="3881120"/>
            <a:ext cx="1645920" cy="14630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</a:ln>
        </p:spPr>
      </p:sp>
      <p:sp>
        <p:nvSpPr>
          <p:cNvPr id="10" name="Journey connector 106"/>
          <p:cNvSpPr/>
          <p:nvPr/>
        </p:nvSpPr>
        <p:spPr>
          <a:xfrm flipV="1">
            <a:off x="9464040" y="3881120"/>
            <a:ext cx="1645920" cy="14630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</a:ln>
        </p:spPr>
      </p:sp>
      <p:sp>
        <p:nvSpPr>
          <p:cNvPr id="11" name="Journey halo 107"/>
          <p:cNvSpPr/>
          <p:nvPr/>
        </p:nvSpPr>
        <p:spPr>
          <a:xfrm>
            <a:off x="484632" y="3131312"/>
            <a:ext cx="1499616" cy="1499616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2" name="Icon FaUserGraduate 108" descr="UserGradu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241040"/>
            <a:ext cx="1280160" cy="1280160"/>
          </a:xfrm>
          <a:prstGeom prst="rect">
            <a:avLst/>
          </a:prstGeom>
        </p:spPr>
      </p:pic>
      <p:sp>
        <p:nvSpPr>
          <p:cNvPr id="13" name="Journey label 109"/>
          <p:cNvSpPr txBox="1"/>
          <p:nvPr/>
        </p:nvSpPr>
        <p:spPr>
          <a:xfrm>
            <a:off x="320040" y="2865120"/>
            <a:ext cx="18288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Alumno</a:t>
            </a:r>
            <a:endParaRPr lang="en-US" sz="1500" dirty="0"/>
          </a:p>
        </p:txBody>
      </p:sp>
      <p:sp>
        <p:nvSpPr>
          <p:cNvPr id="14" name="Journey step 110"/>
          <p:cNvSpPr txBox="1"/>
          <p:nvPr/>
        </p:nvSpPr>
        <p:spPr>
          <a:xfrm>
            <a:off x="1545336" y="4168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Journey halo 111"/>
          <p:cNvSpPr/>
          <p:nvPr/>
        </p:nvSpPr>
        <p:spPr>
          <a:xfrm>
            <a:off x="2130552" y="4594352"/>
            <a:ext cx="1499616" cy="1499616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16" name="Icon FaShareNodes 112" descr="ShareNod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4704080"/>
            <a:ext cx="1280160" cy="1280160"/>
          </a:xfrm>
          <a:prstGeom prst="rect">
            <a:avLst/>
          </a:prstGeom>
        </p:spPr>
      </p:pic>
      <p:sp>
        <p:nvSpPr>
          <p:cNvPr id="17" name="Journey label 113"/>
          <p:cNvSpPr txBox="1"/>
          <p:nvPr/>
        </p:nvSpPr>
        <p:spPr>
          <a:xfrm>
            <a:off x="1965960" y="6059424"/>
            <a:ext cx="18288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Comparte</a:t>
            </a:r>
            <a:endParaRPr lang="en-US" sz="1500" dirty="0"/>
          </a:p>
        </p:txBody>
      </p:sp>
      <p:sp>
        <p:nvSpPr>
          <p:cNvPr id="18" name="Journey step 114"/>
          <p:cNvSpPr txBox="1"/>
          <p:nvPr/>
        </p:nvSpPr>
        <p:spPr>
          <a:xfrm>
            <a:off x="3191256" y="46725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Journey halo 115"/>
          <p:cNvSpPr/>
          <p:nvPr/>
        </p:nvSpPr>
        <p:spPr>
          <a:xfrm>
            <a:off x="3776472" y="3131312"/>
            <a:ext cx="1499616" cy="1499616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0" name="Icon FaUsers 116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241040"/>
            <a:ext cx="1280160" cy="1280160"/>
          </a:xfrm>
          <a:prstGeom prst="rect">
            <a:avLst/>
          </a:prstGeom>
        </p:spPr>
      </p:pic>
      <p:sp>
        <p:nvSpPr>
          <p:cNvPr id="21" name="Journey label 117"/>
          <p:cNvSpPr txBox="1"/>
          <p:nvPr/>
        </p:nvSpPr>
        <p:spPr>
          <a:xfrm>
            <a:off x="3611880" y="2865120"/>
            <a:ext cx="18288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Prospectos</a:t>
            </a:r>
            <a:endParaRPr lang="en-US" sz="1500" dirty="0"/>
          </a:p>
        </p:txBody>
      </p:sp>
      <p:sp>
        <p:nvSpPr>
          <p:cNvPr id="22" name="Journey step 118"/>
          <p:cNvSpPr txBox="1"/>
          <p:nvPr/>
        </p:nvSpPr>
        <p:spPr>
          <a:xfrm>
            <a:off x="4837176" y="4168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Journey halo 119"/>
          <p:cNvSpPr/>
          <p:nvPr/>
        </p:nvSpPr>
        <p:spPr>
          <a:xfrm>
            <a:off x="5422392" y="4594352"/>
            <a:ext cx="1499616" cy="1499616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4" name="Icon FaCalendarDays 120" descr="CalendarDay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4704080"/>
            <a:ext cx="1280160" cy="1280160"/>
          </a:xfrm>
          <a:prstGeom prst="rect">
            <a:avLst/>
          </a:prstGeom>
        </p:spPr>
      </p:pic>
      <p:sp>
        <p:nvSpPr>
          <p:cNvPr id="25" name="Journey label 121"/>
          <p:cNvSpPr txBox="1"/>
          <p:nvPr/>
        </p:nvSpPr>
        <p:spPr>
          <a:xfrm>
            <a:off x="5257800" y="6059424"/>
            <a:ext cx="18288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Eventos</a:t>
            </a:r>
            <a:endParaRPr lang="en-US" sz="1500" dirty="0"/>
          </a:p>
        </p:txBody>
      </p:sp>
      <p:sp>
        <p:nvSpPr>
          <p:cNvPr id="26" name="Journey step 122"/>
          <p:cNvSpPr txBox="1"/>
          <p:nvPr/>
        </p:nvSpPr>
        <p:spPr>
          <a:xfrm>
            <a:off x="6483096" y="46725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Journey halo 123"/>
          <p:cNvSpPr/>
          <p:nvPr/>
        </p:nvSpPr>
        <p:spPr>
          <a:xfrm>
            <a:off x="7068312" y="3131312"/>
            <a:ext cx="1499616" cy="1499616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8" name="Icon FaUserTie 124" descr="UserTi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241040"/>
            <a:ext cx="1280160" cy="1280160"/>
          </a:xfrm>
          <a:prstGeom prst="rect">
            <a:avLst/>
          </a:prstGeom>
        </p:spPr>
      </p:pic>
      <p:sp>
        <p:nvSpPr>
          <p:cNvPr id="29" name="Journey label 125"/>
          <p:cNvSpPr txBox="1"/>
          <p:nvPr/>
        </p:nvSpPr>
        <p:spPr>
          <a:xfrm>
            <a:off x="6903720" y="2865120"/>
            <a:ext cx="18288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</a:t>
            </a:r>
            <a:endParaRPr lang="en-US" sz="1500" dirty="0"/>
          </a:p>
        </p:txBody>
      </p:sp>
      <p:sp>
        <p:nvSpPr>
          <p:cNvPr id="30" name="Journey step 126"/>
          <p:cNvSpPr txBox="1"/>
          <p:nvPr/>
        </p:nvSpPr>
        <p:spPr>
          <a:xfrm>
            <a:off x="8129016" y="416864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Journey halo 127"/>
          <p:cNvSpPr/>
          <p:nvPr/>
        </p:nvSpPr>
        <p:spPr>
          <a:xfrm>
            <a:off x="8714232" y="4594352"/>
            <a:ext cx="1499616" cy="1499616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32" name="Icon FaFileSignature 128" descr="FileSignatur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4704080"/>
            <a:ext cx="1280160" cy="1280160"/>
          </a:xfrm>
          <a:prstGeom prst="rect">
            <a:avLst/>
          </a:prstGeom>
        </p:spPr>
      </p:pic>
      <p:sp>
        <p:nvSpPr>
          <p:cNvPr id="33" name="Journey label 129"/>
          <p:cNvSpPr txBox="1"/>
          <p:nvPr/>
        </p:nvSpPr>
        <p:spPr>
          <a:xfrm>
            <a:off x="8549640" y="6059424"/>
            <a:ext cx="18288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Inscripción</a:t>
            </a:r>
            <a:endParaRPr lang="en-US" sz="1500" dirty="0"/>
          </a:p>
        </p:txBody>
      </p:sp>
      <p:sp>
        <p:nvSpPr>
          <p:cNvPr id="34" name="Journey step 130"/>
          <p:cNvSpPr txBox="1"/>
          <p:nvPr/>
        </p:nvSpPr>
        <p:spPr>
          <a:xfrm>
            <a:off x="9774936" y="46725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Journey halo 131"/>
          <p:cNvSpPr/>
          <p:nvPr/>
        </p:nvSpPr>
        <p:spPr>
          <a:xfrm>
            <a:off x="10360152" y="3131312"/>
            <a:ext cx="1499616" cy="1499616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pic>
        <p:nvPicPr>
          <p:cNvPr id="36" name="Icon FaTrophy 132" descr="Troph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9880" y="3241040"/>
            <a:ext cx="1280160" cy="1280160"/>
          </a:xfrm>
          <a:prstGeom prst="rect">
            <a:avLst/>
          </a:prstGeom>
        </p:spPr>
      </p:pic>
      <p:sp>
        <p:nvSpPr>
          <p:cNvPr id="37" name="Journey label 133"/>
          <p:cNvSpPr txBox="1"/>
          <p:nvPr/>
        </p:nvSpPr>
        <p:spPr>
          <a:xfrm>
            <a:off x="10195560" y="2865120"/>
            <a:ext cx="18288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Recompensa</a:t>
            </a:r>
            <a:endParaRPr lang="en-US" sz="1500" dirty="0"/>
          </a:p>
        </p:txBody>
      </p:sp>
      <p:sp>
        <p:nvSpPr>
          <p:cNvPr id="38" name="Journey step 134"/>
          <p:cNvSpPr txBox="1"/>
          <p:nvPr/>
        </p:nvSpPr>
        <p:spPr>
          <a:xfrm>
            <a:off x="11420856" y="416864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6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6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6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6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6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6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6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6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65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65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6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6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5" grpId="0" animBg="1"/>
      <p:bldP spid="15" grpId="0" animBg="1"/>
      <p:bldP spid="17" grpId="0" animBg="1"/>
      <p:bldP spid="18" grpId="0" animBg="1"/>
      <p:bldP spid="6" grpId="0" animBg="1"/>
      <p:bldP spid="19" grpId="0" animBg="1"/>
      <p:bldP spid="21" grpId="0" animBg="1"/>
      <p:bldP spid="22" grpId="0" animBg="1"/>
      <p:bldP spid="7" grpId="0" animBg="1"/>
      <p:bldP spid="23" grpId="0" animBg="1"/>
      <p:bldP spid="25" grpId="0" animBg="1"/>
      <p:bldP spid="26" grpId="0" animBg="1"/>
      <p:bldP spid="8" grpId="0" animBg="1"/>
      <p:bldP spid="27" grpId="0" animBg="1"/>
      <p:bldP spid="29" grpId="0" animBg="1"/>
      <p:bldP spid="30" grpId="0" animBg="1"/>
      <p:bldP spid="9" grpId="0" animBg="1"/>
      <p:bldP spid="31" grpId="0" animBg="1"/>
      <p:bldP spid="33" grpId="0" animBg="1"/>
      <p:bldP spid="34" grpId="0" animBg="1"/>
      <p:bldP spid="10" grpId="0" animBg="1"/>
      <p:bldP spid="35" grpId="0" animBg="1"/>
      <p:bldP spid="37" grpId="0" animBg="1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background 135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 Westhill 13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0"/>
            <a:ext cx="1271016" cy="1526530"/>
          </a:xfrm>
          <a:prstGeom prst="rect">
            <a:avLst/>
          </a:prstGeom>
        </p:spPr>
      </p:pic>
      <p:sp>
        <p:nvSpPr>
          <p:cNvPr id="4" name="Hashtag 137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5" name="Section number 138"/>
          <p:cNvSpPr txBox="1"/>
          <p:nvPr/>
        </p:nvSpPr>
        <p:spPr>
          <a:xfrm>
            <a:off x="566928" y="21488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03</a:t>
            </a:r>
            <a:endParaRPr lang="en-US" sz="8800" dirty="0"/>
          </a:p>
        </p:txBody>
      </p:sp>
      <p:sp>
        <p:nvSpPr>
          <p:cNvPr id="6" name="Section kicker 139"/>
          <p:cNvSpPr txBox="1"/>
          <p:nvPr/>
        </p:nvSpPr>
        <p:spPr>
          <a:xfrm>
            <a:off x="603504" y="3401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SECCIÓN</a:t>
            </a:r>
            <a:endParaRPr lang="en-US" sz="1400" dirty="0"/>
          </a:p>
        </p:txBody>
      </p:sp>
      <p:sp>
        <p:nvSpPr>
          <p:cNvPr id="7" name="Section title 140"/>
          <p:cNvSpPr txBox="1"/>
          <p:nvPr/>
        </p:nvSpPr>
        <p:spPr>
          <a:xfrm>
            <a:off x="566928" y="3730752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Niveles y beneficios</a:t>
            </a:r>
            <a:endParaRPr lang="en-US" sz="3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141"/>
          <p:cNvSpPr txBox="1"/>
          <p:nvPr/>
        </p:nvSpPr>
        <p:spPr>
          <a:xfrm>
            <a:off x="1005840" y="146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9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70078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Niveles de embajador</a:t>
            </a:r>
            <a:endParaRPr lang="en-US" sz="3000" dirty="0"/>
          </a:p>
        </p:txBody>
      </p:sp>
      <p:pic>
        <p:nvPicPr>
          <p:cNvPr id="4" name="Level card 14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77920"/>
            <a:ext cx="3511296" cy="27228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5" name="Icon FaSeedling 143" descr="Seedl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83660"/>
            <a:ext cx="685800" cy="685800"/>
          </a:xfrm>
          <a:prstGeom prst="rect">
            <a:avLst/>
          </a:prstGeom>
        </p:spPr>
      </p:pic>
      <p:sp>
        <p:nvSpPr>
          <p:cNvPr id="6" name="Level points 144"/>
          <p:cNvSpPr txBox="1"/>
          <p:nvPr/>
        </p:nvSpPr>
        <p:spPr>
          <a:xfrm>
            <a:off x="1600200" y="3905504"/>
            <a:ext cx="2231136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pPr algn="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puntos</a:t>
            </a:r>
            <a:endParaRPr lang="en-US" sz="3400" dirty="0"/>
          </a:p>
        </p:txBody>
      </p:sp>
      <p:sp>
        <p:nvSpPr>
          <p:cNvPr id="7" name="Level name 145"/>
          <p:cNvSpPr txBox="1"/>
          <p:nvPr/>
        </p:nvSpPr>
        <p:spPr>
          <a:xfrm>
            <a:off x="822960" y="4653280"/>
            <a:ext cx="2962656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EMBAJADOR</a:t>
            </a:r>
            <a:endParaRPr lang="en-US" sz="1100" dirty="0"/>
          </a:p>
          <a:p>
            <a:pPr indent="0" marL="0">
              <a:buNone/>
            </a:pPr>
            <a:r>
              <a:rPr lang="en-US" sz="2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JUNIOR</a:t>
            </a:r>
            <a:endParaRPr lang="en-US" sz="1100" dirty="0"/>
          </a:p>
        </p:txBody>
      </p:sp>
      <p:sp>
        <p:nvSpPr>
          <p:cNvPr id="8" name="Level items 146"/>
          <p:cNvSpPr txBox="1"/>
          <p:nvPr/>
        </p:nvSpPr>
        <p:spPr>
          <a:xfrm>
            <a:off x="822960" y="5425440"/>
            <a:ext cx="305409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Credencial digital.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Reconocimiento.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Acceso a actividades especiales.</a:t>
            </a:r>
            <a:endParaRPr lang="en-US" sz="1350" dirty="0"/>
          </a:p>
        </p:txBody>
      </p:sp>
      <p:pic>
        <p:nvPicPr>
          <p:cNvPr id="9" name="Level card 14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3027680"/>
            <a:ext cx="3511296" cy="33731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0" name="Icon FaMedal 148" descr="Med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3233420"/>
            <a:ext cx="685800" cy="685800"/>
          </a:xfrm>
          <a:prstGeom prst="rect">
            <a:avLst/>
          </a:prstGeom>
        </p:spPr>
      </p:pic>
      <p:sp>
        <p:nvSpPr>
          <p:cNvPr id="11" name="Level points 149"/>
          <p:cNvSpPr txBox="1"/>
          <p:nvPr/>
        </p:nvSpPr>
        <p:spPr>
          <a:xfrm>
            <a:off x="5413248" y="3255264"/>
            <a:ext cx="2231136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250</a:t>
            </a:r>
            <a:pPr algn="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puntos</a:t>
            </a:r>
            <a:endParaRPr lang="en-US" sz="3400" dirty="0"/>
          </a:p>
        </p:txBody>
      </p:sp>
      <p:sp>
        <p:nvSpPr>
          <p:cNvPr id="12" name="Level name 150"/>
          <p:cNvSpPr txBox="1"/>
          <p:nvPr/>
        </p:nvSpPr>
        <p:spPr>
          <a:xfrm>
            <a:off x="4636008" y="4003040"/>
            <a:ext cx="2962656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chemeClr val="bg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EMBAJADOR</a:t>
            </a:r>
            <a:endParaRPr lang="en-US" sz="1100" dirty="0"/>
          </a:p>
          <a:p>
            <a:pPr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PLUS</a:t>
            </a:r>
            <a:endParaRPr lang="en-US" sz="1100" dirty="0"/>
          </a:p>
        </p:txBody>
      </p:sp>
      <p:sp>
        <p:nvSpPr>
          <p:cNvPr id="13" name="Level items 151"/>
          <p:cNvSpPr txBox="1"/>
          <p:nvPr/>
        </p:nvSpPr>
        <p:spPr>
          <a:xfrm>
            <a:off x="4636008" y="4775200"/>
            <a:ext cx="3054096" cy="150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Todo lo anterior.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Reconocimiento.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Acceso a actividades especiales.</a:t>
            </a:r>
            <a:endParaRPr lang="en-US" sz="1350" dirty="0"/>
          </a:p>
        </p:txBody>
      </p:sp>
      <p:pic>
        <p:nvPicPr>
          <p:cNvPr id="14" name="Level card 15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2377440"/>
            <a:ext cx="3511296" cy="40233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5" name="Icon FaCrown 153" descr="Crow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2583180"/>
            <a:ext cx="685800" cy="685800"/>
          </a:xfrm>
          <a:prstGeom prst="rect">
            <a:avLst/>
          </a:prstGeom>
        </p:spPr>
      </p:pic>
      <p:sp>
        <p:nvSpPr>
          <p:cNvPr id="16" name="Level points 154"/>
          <p:cNvSpPr txBox="1"/>
          <p:nvPr/>
        </p:nvSpPr>
        <p:spPr>
          <a:xfrm>
            <a:off x="9226296" y="2605024"/>
            <a:ext cx="2231136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pPr algn="r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puntos</a:t>
            </a:r>
            <a:endParaRPr lang="en-US" sz="3400" dirty="0"/>
          </a:p>
        </p:txBody>
      </p:sp>
      <p:sp>
        <p:nvSpPr>
          <p:cNvPr id="17" name="Level name 155"/>
          <p:cNvSpPr txBox="1"/>
          <p:nvPr/>
        </p:nvSpPr>
        <p:spPr>
          <a:xfrm>
            <a:off x="8449056" y="3352800"/>
            <a:ext cx="2962656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EMBAJADOR</a:t>
            </a:r>
            <a:endParaRPr lang="en-US" sz="1100" dirty="0"/>
          </a:p>
          <a:p>
            <a:pPr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ÉLITE</a:t>
            </a:r>
            <a:endParaRPr lang="en-US" sz="1100" dirty="0"/>
          </a:p>
        </p:txBody>
      </p:sp>
      <p:sp>
        <p:nvSpPr>
          <p:cNvPr id="18" name="Level items 156"/>
          <p:cNvSpPr txBox="1"/>
          <p:nvPr/>
        </p:nvSpPr>
        <p:spPr>
          <a:xfrm>
            <a:off x="8449056" y="4124960"/>
            <a:ext cx="3054096" cy="215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Todo lo anterior.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Experiencias especiales con autoridades.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Participación en campañas institucionales.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Reconocimiento como embajador del semestre.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157"/>
          <p:cNvSpPr txBox="1"/>
          <p:nvPr/>
        </p:nvSpPr>
        <p:spPr>
          <a:xfrm>
            <a:off x="1005840" y="146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9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70078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Kit del embajador</a:t>
            </a:r>
            <a:endParaRPr lang="en-US" sz="3000" dirty="0"/>
          </a:p>
        </p:txBody>
      </p:sp>
      <p:sp>
        <p:nvSpPr>
          <p:cNvPr id="4" name="Subtitle 158"/>
          <p:cNvSpPr txBox="1"/>
          <p:nvPr/>
        </p:nvSpPr>
        <p:spPr>
          <a:xfrm>
            <a:off x="548640" y="23042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 damos todas las herramientas para compartir Westhill de forma fácil y auténtica</a:t>
            </a:r>
            <a:endParaRPr lang="en-US" sz="1600" dirty="0"/>
          </a:p>
        </p:txBody>
      </p:sp>
      <p:pic>
        <p:nvPicPr>
          <p:cNvPr id="5" name="Kit tile 15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53577"/>
            <a:ext cx="2606040" cy="16664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6" name="Watermark FaQrcode 16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954892"/>
            <a:ext cx="868680" cy="868680"/>
          </a:xfrm>
          <a:prstGeom prst="rect">
            <a:avLst/>
          </a:prstGeom>
        </p:spPr>
      </p:pic>
      <p:pic>
        <p:nvPicPr>
          <p:cNvPr id="7" name="Icon FaQrcode 161" descr="Qr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44519"/>
            <a:ext cx="713232" cy="713232"/>
          </a:xfrm>
          <a:prstGeom prst="rect">
            <a:avLst/>
          </a:prstGeom>
        </p:spPr>
      </p:pic>
      <p:sp>
        <p:nvSpPr>
          <p:cNvPr id="8" name="Kit label 162"/>
          <p:cNvSpPr txBox="1"/>
          <p:nvPr/>
        </p:nvSpPr>
        <p:spPr>
          <a:xfrm>
            <a:off x="822960" y="3845530"/>
            <a:ext cx="2148840" cy="571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Código QR personalizado.</a:t>
            </a:r>
            <a:endParaRPr lang="en-US" sz="1500" dirty="0"/>
          </a:p>
        </p:txBody>
      </p:sp>
      <p:pic>
        <p:nvPicPr>
          <p:cNvPr id="9" name="Kit tile 16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853577"/>
            <a:ext cx="2606040" cy="16664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0" name="Icon FaWhatsapp 164" descr="Whatsap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5888" y="3044519"/>
            <a:ext cx="713232" cy="713232"/>
          </a:xfrm>
          <a:prstGeom prst="rect">
            <a:avLst/>
          </a:prstGeom>
        </p:spPr>
      </p:pic>
      <p:sp>
        <p:nvSpPr>
          <p:cNvPr id="11" name="Kit label 165"/>
          <p:cNvSpPr txBox="1"/>
          <p:nvPr/>
        </p:nvSpPr>
        <p:spPr>
          <a:xfrm>
            <a:off x="3675888" y="3845530"/>
            <a:ext cx="2148840" cy="571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Imágenes para WhatsApp</a:t>
            </a:r>
            <a:endParaRPr lang="en-US" sz="1500" dirty="0"/>
          </a:p>
        </p:txBody>
      </p:sp>
      <p:pic>
        <p:nvPicPr>
          <p:cNvPr id="12" name="Kit tile 16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2853577"/>
            <a:ext cx="2606040" cy="16664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3" name="Icon FaInstagram 167" descr="Instagram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816" y="3044519"/>
            <a:ext cx="713232" cy="713232"/>
          </a:xfrm>
          <a:prstGeom prst="rect">
            <a:avLst/>
          </a:prstGeom>
        </p:spPr>
      </p:pic>
      <p:sp>
        <p:nvSpPr>
          <p:cNvPr id="14" name="Kit label 168"/>
          <p:cNvSpPr txBox="1"/>
          <p:nvPr/>
        </p:nvSpPr>
        <p:spPr>
          <a:xfrm>
            <a:off x="6528816" y="3845530"/>
            <a:ext cx="2148840" cy="571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Historias de Instagram</a:t>
            </a:r>
            <a:endParaRPr lang="en-US" sz="1500" dirty="0"/>
          </a:p>
        </p:txBody>
      </p:sp>
      <p:pic>
        <p:nvPicPr>
          <p:cNvPr id="15" name="Kit tile 169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7424" y="2853577"/>
            <a:ext cx="2606040" cy="16664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6" name="Icon FaVideo 170" descr="Vide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1744" y="3044519"/>
            <a:ext cx="713232" cy="713232"/>
          </a:xfrm>
          <a:prstGeom prst="rect">
            <a:avLst/>
          </a:prstGeom>
        </p:spPr>
      </p:pic>
      <p:sp>
        <p:nvSpPr>
          <p:cNvPr id="17" name="Kit label 171"/>
          <p:cNvSpPr txBox="1"/>
          <p:nvPr/>
        </p:nvSpPr>
        <p:spPr>
          <a:xfrm>
            <a:off x="9381744" y="3845530"/>
            <a:ext cx="2148840" cy="571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Videos cortos</a:t>
            </a:r>
            <a:endParaRPr lang="en-US" sz="1500" dirty="0"/>
          </a:p>
        </p:txBody>
      </p:sp>
      <p:pic>
        <p:nvPicPr>
          <p:cNvPr id="18" name="Kit tile 172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4734320"/>
            <a:ext cx="2606040" cy="16664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9" name="Icon FaEnvelopeOpenText 173" descr="EnvelopeOpenTex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" y="4925261"/>
            <a:ext cx="713232" cy="713232"/>
          </a:xfrm>
          <a:prstGeom prst="rect">
            <a:avLst/>
          </a:prstGeom>
        </p:spPr>
      </p:pic>
      <p:sp>
        <p:nvSpPr>
          <p:cNvPr id="20" name="Kit label 174"/>
          <p:cNvSpPr txBox="1"/>
          <p:nvPr/>
        </p:nvSpPr>
        <p:spPr>
          <a:xfrm>
            <a:off x="822960" y="5726272"/>
            <a:ext cx="2148840" cy="571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Invitaciones a eventos</a:t>
            </a:r>
            <a:endParaRPr lang="en-US" sz="1500" dirty="0"/>
          </a:p>
        </p:txBody>
      </p:sp>
      <p:pic>
        <p:nvPicPr>
          <p:cNvPr id="21" name="Kit tile 175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1568" y="4734320"/>
            <a:ext cx="2606040" cy="16664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2" name="Icon FaBookOpen 176" descr="BookOpe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75888" y="4925261"/>
            <a:ext cx="713232" cy="713232"/>
          </a:xfrm>
          <a:prstGeom prst="rect">
            <a:avLst/>
          </a:prstGeom>
        </p:spPr>
      </p:pic>
      <p:sp>
        <p:nvSpPr>
          <p:cNvPr id="23" name="Kit label 177"/>
          <p:cNvSpPr txBox="1"/>
          <p:nvPr/>
        </p:nvSpPr>
        <p:spPr>
          <a:xfrm>
            <a:off x="3675888" y="5726272"/>
            <a:ext cx="2148840" cy="571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Información de las licenciaturas</a:t>
            </a:r>
            <a:endParaRPr lang="en-US" sz="1500" dirty="0"/>
          </a:p>
        </p:txBody>
      </p:sp>
      <p:pic>
        <p:nvPicPr>
          <p:cNvPr id="24" name="Kit tile 178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54496" y="4734320"/>
            <a:ext cx="2606040" cy="16664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5" name="Icon FaCommentDots 179" descr="CommentDots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28816" y="4925261"/>
            <a:ext cx="713232" cy="713232"/>
          </a:xfrm>
          <a:prstGeom prst="rect">
            <a:avLst/>
          </a:prstGeom>
        </p:spPr>
      </p:pic>
      <p:sp>
        <p:nvSpPr>
          <p:cNvPr id="26" name="Kit label 180"/>
          <p:cNvSpPr txBox="1"/>
          <p:nvPr/>
        </p:nvSpPr>
        <p:spPr>
          <a:xfrm>
            <a:off x="6528816" y="5726272"/>
            <a:ext cx="2148840" cy="571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Mensajes sugeridos</a:t>
            </a:r>
            <a:endParaRPr lang="en-US" sz="1500" dirty="0"/>
          </a:p>
        </p:txBody>
      </p:sp>
      <p:pic>
        <p:nvPicPr>
          <p:cNvPr id="27" name="Kit tile 181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07424" y="4734320"/>
            <a:ext cx="2606040" cy="16664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8" name="Icon FaCalendarDays 182" descr="CalendarDays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81744" y="4925261"/>
            <a:ext cx="713232" cy="713232"/>
          </a:xfrm>
          <a:prstGeom prst="rect">
            <a:avLst/>
          </a:prstGeom>
        </p:spPr>
      </p:pic>
      <p:sp>
        <p:nvSpPr>
          <p:cNvPr id="29" name="Kit label 183"/>
          <p:cNvSpPr txBox="1"/>
          <p:nvPr/>
        </p:nvSpPr>
        <p:spPr>
          <a:xfrm>
            <a:off x="9381744" y="5726272"/>
            <a:ext cx="2148840" cy="571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Calendarios de eventos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184"/>
          <p:cNvSpPr txBox="1"/>
          <p:nvPr/>
        </p:nvSpPr>
        <p:spPr>
          <a:xfrm>
            <a:off x="1005840" y="146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9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70078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Reconocimientos</a:t>
            </a:r>
            <a:endParaRPr lang="en-US" sz="3000" dirty="0"/>
          </a:p>
        </p:txBody>
      </p:sp>
      <p:pic>
        <p:nvPicPr>
          <p:cNvPr id="4" name="Recognition card 18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18080"/>
            <a:ext cx="5396332" cy="39827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5" name="Icon FaStar 186" descr="S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725420"/>
            <a:ext cx="1051560" cy="1051560"/>
          </a:xfrm>
          <a:prstGeom prst="rect">
            <a:avLst/>
          </a:prstGeom>
        </p:spPr>
      </p:pic>
      <p:sp>
        <p:nvSpPr>
          <p:cNvPr id="6" name="Recognition title 187"/>
          <p:cNvSpPr txBox="1"/>
          <p:nvPr/>
        </p:nvSpPr>
        <p:spPr>
          <a:xfrm>
            <a:off x="2240280" y="2783840"/>
            <a:ext cx="3384652" cy="93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EMBAJADOR</a:t>
            </a:r>
            <a:endParaRPr lang="en-US" sz="12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MES</a:t>
            </a:r>
            <a:endParaRPr lang="en-US" sz="1200" dirty="0"/>
          </a:p>
        </p:txBody>
      </p:sp>
      <p:pic>
        <p:nvPicPr>
          <p:cNvPr id="7" name="Icon FaBullhorn 188" descr="Bullhor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53840"/>
            <a:ext cx="548640" cy="548640"/>
          </a:xfrm>
          <a:prstGeom prst="rect">
            <a:avLst/>
          </a:prstGeom>
        </p:spPr>
      </p:pic>
      <p:sp>
        <p:nvSpPr>
          <p:cNvPr id="8" name="Recognition item 189"/>
          <p:cNvSpPr txBox="1"/>
          <p:nvPr/>
        </p:nvSpPr>
        <p:spPr>
          <a:xfrm>
            <a:off x="1691640" y="4043680"/>
            <a:ext cx="3933292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Reconocimiento en redes institucionales.</a:t>
            </a:r>
            <a:endParaRPr lang="en-US" sz="1500" dirty="0"/>
          </a:p>
        </p:txBody>
      </p:sp>
      <p:pic>
        <p:nvPicPr>
          <p:cNvPr id="9" name="Icon FaInstagram 190" descr="Instagra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785360"/>
            <a:ext cx="548640" cy="548640"/>
          </a:xfrm>
          <a:prstGeom prst="rect">
            <a:avLst/>
          </a:prstGeom>
        </p:spPr>
      </p:pic>
      <p:sp>
        <p:nvSpPr>
          <p:cNvPr id="10" name="Recognition item 191"/>
          <p:cNvSpPr txBox="1"/>
          <p:nvPr/>
        </p:nvSpPr>
        <p:spPr>
          <a:xfrm>
            <a:off x="1691640" y="4775200"/>
            <a:ext cx="3933292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Historias destacadas en Instagram.</a:t>
            </a:r>
            <a:endParaRPr lang="en-US" sz="1500" dirty="0"/>
          </a:p>
        </p:txBody>
      </p:sp>
      <p:pic>
        <p:nvPicPr>
          <p:cNvPr id="11" name="Icon FaMugHot 192" descr="MugH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516880"/>
            <a:ext cx="548640" cy="548640"/>
          </a:xfrm>
          <a:prstGeom prst="rect">
            <a:avLst/>
          </a:prstGeom>
        </p:spPr>
      </p:pic>
      <p:sp>
        <p:nvSpPr>
          <p:cNvPr id="12" name="Recognition item 193"/>
          <p:cNvSpPr txBox="1"/>
          <p:nvPr/>
        </p:nvSpPr>
        <p:spPr>
          <a:xfrm>
            <a:off x="1691640" y="5506720"/>
            <a:ext cx="3933292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Regalo Especial. (Un desayuno de Starbucks).</a:t>
            </a:r>
            <a:endParaRPr lang="en-US" sz="1500" dirty="0"/>
          </a:p>
        </p:txBody>
      </p:sp>
      <p:pic>
        <p:nvPicPr>
          <p:cNvPr id="13" name="Recognition card 19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6724" y="2418080"/>
            <a:ext cx="5396332" cy="39827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4" name="Watermark FaTrophy 19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9975" y="4648200"/>
            <a:ext cx="1554480" cy="1554480"/>
          </a:xfrm>
          <a:prstGeom prst="rect">
            <a:avLst/>
          </a:prstGeom>
        </p:spPr>
      </p:pic>
      <p:pic>
        <p:nvPicPr>
          <p:cNvPr id="15" name="Icon FaTrophy 196" descr="Troph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8204" y="2725420"/>
            <a:ext cx="1051560" cy="1051560"/>
          </a:xfrm>
          <a:prstGeom prst="rect">
            <a:avLst/>
          </a:prstGeom>
        </p:spPr>
      </p:pic>
      <p:sp>
        <p:nvSpPr>
          <p:cNvPr id="16" name="Recognition title 197"/>
          <p:cNvSpPr txBox="1"/>
          <p:nvPr/>
        </p:nvSpPr>
        <p:spPr>
          <a:xfrm>
            <a:off x="7938364" y="2783840"/>
            <a:ext cx="3384652" cy="93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EMBAJADOR</a:t>
            </a:r>
            <a:endParaRPr lang="en-US" sz="12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SEMESTRE</a:t>
            </a:r>
            <a:endParaRPr lang="en-US" sz="1200" dirty="0"/>
          </a:p>
        </p:txBody>
      </p:sp>
      <p:pic>
        <p:nvPicPr>
          <p:cNvPr id="17" name="Icon FaBullhorn 198" descr="Bullhor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8204" y="4053840"/>
            <a:ext cx="548640" cy="548640"/>
          </a:xfrm>
          <a:prstGeom prst="rect">
            <a:avLst/>
          </a:prstGeom>
        </p:spPr>
      </p:pic>
      <p:sp>
        <p:nvSpPr>
          <p:cNvPr id="18" name="Recognition item 199"/>
          <p:cNvSpPr txBox="1"/>
          <p:nvPr/>
        </p:nvSpPr>
        <p:spPr>
          <a:xfrm>
            <a:off x="7389724" y="4043680"/>
            <a:ext cx="3933292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Reconocimiento en redes institucionales.</a:t>
            </a:r>
            <a:endParaRPr lang="en-US" sz="1500" dirty="0"/>
          </a:p>
        </p:txBody>
      </p:sp>
      <p:pic>
        <p:nvPicPr>
          <p:cNvPr id="19" name="Icon FaStar 200" descr="Sta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8204" y="4785360"/>
            <a:ext cx="548640" cy="548640"/>
          </a:xfrm>
          <a:prstGeom prst="rect">
            <a:avLst/>
          </a:prstGeom>
        </p:spPr>
      </p:pic>
      <p:sp>
        <p:nvSpPr>
          <p:cNvPr id="20" name="Recognition item 201"/>
          <p:cNvSpPr txBox="1"/>
          <p:nvPr/>
        </p:nvSpPr>
        <p:spPr>
          <a:xfrm>
            <a:off x="7389724" y="4775200"/>
            <a:ext cx="3933292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Experiencia especial.</a:t>
            </a:r>
            <a:endParaRPr lang="en-US" sz="1500" dirty="0"/>
          </a:p>
        </p:txBody>
      </p:sp>
      <p:pic>
        <p:nvPicPr>
          <p:cNvPr id="21" name="Icon FaNewspaper 202" descr="Newspape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8204" y="5516880"/>
            <a:ext cx="548640" cy="548640"/>
          </a:xfrm>
          <a:prstGeom prst="rect">
            <a:avLst/>
          </a:prstGeom>
        </p:spPr>
      </p:pic>
      <p:sp>
        <p:nvSpPr>
          <p:cNvPr id="22" name="Recognition item 203"/>
          <p:cNvSpPr txBox="1"/>
          <p:nvPr/>
        </p:nvSpPr>
        <p:spPr>
          <a:xfrm>
            <a:off x="7389724" y="5506720"/>
            <a:ext cx="3933292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Difusión en medios.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6" grpId="0" animBg="1"/>
      <p:bldP spid="18" grpId="0" animBg="1"/>
      <p:bldP spid="20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background 204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 Westhill 20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0"/>
            <a:ext cx="1271016" cy="1526530"/>
          </a:xfrm>
          <a:prstGeom prst="rect">
            <a:avLst/>
          </a:prstGeom>
        </p:spPr>
      </p:pic>
      <p:sp>
        <p:nvSpPr>
          <p:cNvPr id="4" name="Hashtag 206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5" name="Section number 207"/>
          <p:cNvSpPr txBox="1"/>
          <p:nvPr/>
        </p:nvSpPr>
        <p:spPr>
          <a:xfrm>
            <a:off x="566928" y="21488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04</a:t>
            </a:r>
            <a:endParaRPr lang="en-US" sz="8800" dirty="0"/>
          </a:p>
        </p:txBody>
      </p:sp>
      <p:sp>
        <p:nvSpPr>
          <p:cNvPr id="6" name="Section kicker 208"/>
          <p:cNvSpPr txBox="1"/>
          <p:nvPr/>
        </p:nvSpPr>
        <p:spPr>
          <a:xfrm>
            <a:off x="603504" y="3401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SECCIÓN</a:t>
            </a:r>
            <a:endParaRPr lang="en-US" sz="1400" dirty="0"/>
          </a:p>
        </p:txBody>
      </p:sp>
      <p:sp>
        <p:nvSpPr>
          <p:cNvPr id="7" name="Section title 209"/>
          <p:cNvSpPr txBox="1"/>
          <p:nvPr/>
        </p:nvSpPr>
        <p:spPr>
          <a:xfrm>
            <a:off x="566928" y="3730752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</a:t>
            </a:r>
            <a:endParaRPr lang="en-US" sz="3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210"/>
          <p:cNvSpPr txBox="1"/>
          <p:nvPr/>
        </p:nvSpPr>
        <p:spPr>
          <a:xfrm>
            <a:off x="1005840" y="146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9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70078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Vive mi carrera</a:t>
            </a:r>
            <a:endParaRPr lang="en-US" sz="3000" dirty="0"/>
          </a:p>
        </p:txBody>
      </p:sp>
      <p:sp>
        <p:nvSpPr>
          <p:cNvPr id="4" name="Subtitle 211"/>
          <p:cNvSpPr txBox="1"/>
          <p:nvPr/>
        </p:nvSpPr>
        <p:spPr>
          <a:xfrm>
            <a:off x="548640" y="23042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Invita a un prospecto a vivir una experiencia real en tu carrera.</a:t>
            </a:r>
            <a:endParaRPr lang="en-US" sz="1600" dirty="0"/>
          </a:p>
        </p:txBody>
      </p:sp>
      <p:pic>
        <p:nvPicPr>
          <p:cNvPr id="5" name="Campus photo 212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1015" y="2304288"/>
            <a:ext cx="4892040" cy="409651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8000"/>
              </a:srgbClr>
            </a:outerShdw>
          </a:effectLst>
        </p:spPr>
      </p:pic>
      <p:pic>
        <p:nvPicPr>
          <p:cNvPr id="6" name="Vive row 21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38272"/>
            <a:ext cx="5760720" cy="60147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7" name="Icon FaChalkboardUser 214" descr="ChalkboardUs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973832"/>
            <a:ext cx="530352" cy="530352"/>
          </a:xfrm>
          <a:prstGeom prst="rect">
            <a:avLst/>
          </a:prstGeom>
        </p:spPr>
      </p:pic>
      <p:sp>
        <p:nvSpPr>
          <p:cNvPr id="8" name="Vive item 215"/>
          <p:cNvSpPr txBox="1"/>
          <p:nvPr/>
        </p:nvSpPr>
        <p:spPr>
          <a:xfrm>
            <a:off x="1325880" y="2987040"/>
            <a:ext cx="484632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Asiste a una clase.</a:t>
            </a:r>
            <a:endParaRPr lang="en-US" sz="1600" dirty="0"/>
          </a:p>
        </p:txBody>
      </p:sp>
      <p:pic>
        <p:nvPicPr>
          <p:cNvPr id="9" name="Vive row 21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37280"/>
            <a:ext cx="5760720" cy="60147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0" name="Icon FaBuildingColumns 217" descr="BuildingColumn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672840"/>
            <a:ext cx="530352" cy="530352"/>
          </a:xfrm>
          <a:prstGeom prst="rect">
            <a:avLst/>
          </a:prstGeom>
        </p:spPr>
      </p:pic>
      <p:sp>
        <p:nvSpPr>
          <p:cNvPr id="11" name="Vive item 218"/>
          <p:cNvSpPr txBox="1"/>
          <p:nvPr/>
        </p:nvSpPr>
        <p:spPr>
          <a:xfrm>
            <a:off x="1325880" y="3686048"/>
            <a:ext cx="484632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Conoce profesores e instalaciones.</a:t>
            </a:r>
            <a:endParaRPr lang="en-US" sz="1600" dirty="0"/>
          </a:p>
        </p:txBody>
      </p:sp>
      <p:pic>
        <p:nvPicPr>
          <p:cNvPr id="12" name="Vive row 21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336288"/>
            <a:ext cx="5760720" cy="60147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3" name="Icon FaComments 220" descr="Comment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371848"/>
            <a:ext cx="530352" cy="530352"/>
          </a:xfrm>
          <a:prstGeom prst="rect">
            <a:avLst/>
          </a:prstGeom>
        </p:spPr>
      </p:pic>
      <p:sp>
        <p:nvSpPr>
          <p:cNvPr id="14" name="Vive item 221"/>
          <p:cNvSpPr txBox="1"/>
          <p:nvPr/>
        </p:nvSpPr>
        <p:spPr>
          <a:xfrm>
            <a:off x="1325880" y="4385056"/>
            <a:ext cx="484632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Conversa con estudiantes.</a:t>
            </a:r>
            <a:endParaRPr lang="en-US" sz="1600" dirty="0"/>
          </a:p>
        </p:txBody>
      </p:sp>
      <p:pic>
        <p:nvPicPr>
          <p:cNvPr id="15" name="Vive row 22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035296"/>
            <a:ext cx="5760720" cy="60147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6" name="Icon FaFlask 223" descr="Flas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5070856"/>
            <a:ext cx="530352" cy="530352"/>
          </a:xfrm>
          <a:prstGeom prst="rect">
            <a:avLst/>
          </a:prstGeom>
        </p:spPr>
      </p:pic>
      <p:sp>
        <p:nvSpPr>
          <p:cNvPr id="17" name="Vive item 224"/>
          <p:cNvSpPr txBox="1"/>
          <p:nvPr/>
        </p:nvSpPr>
        <p:spPr>
          <a:xfrm>
            <a:off x="1325880" y="5084064"/>
            <a:ext cx="484632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Descubre laboratorios y actividades.</a:t>
            </a:r>
            <a:endParaRPr lang="en-US" sz="1600" dirty="0"/>
          </a:p>
        </p:txBody>
      </p:sp>
      <p:pic>
        <p:nvPicPr>
          <p:cNvPr id="18" name="Vive row 22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5734304"/>
            <a:ext cx="5760720" cy="60147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9" name="Icon FaHandshake 226" descr="Handshak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792" y="5769864"/>
            <a:ext cx="530352" cy="530352"/>
          </a:xfrm>
          <a:prstGeom prst="rect">
            <a:avLst/>
          </a:prstGeom>
        </p:spPr>
      </p:pic>
      <p:sp>
        <p:nvSpPr>
          <p:cNvPr id="20" name="Vive item 227"/>
          <p:cNvSpPr txBox="1"/>
          <p:nvPr/>
        </p:nvSpPr>
        <p:spPr>
          <a:xfrm>
            <a:off x="1325880" y="5783072"/>
            <a:ext cx="484632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Sé su anfitrión.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4" grpId="0" animBg="1"/>
      <p:bldP spid="17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228"/>
          <p:cNvSpPr txBox="1"/>
          <p:nvPr/>
        </p:nvSpPr>
        <p:spPr>
          <a:xfrm>
            <a:off x="1005840" y="146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9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170078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Recomendados</a:t>
            </a:r>
            <a:endParaRPr lang="en-US" sz="3000" dirty="0"/>
          </a:p>
        </p:txBody>
      </p:sp>
      <p:sp>
        <p:nvSpPr>
          <p:cNvPr id="4" name="Intro 229"/>
          <p:cNvSpPr txBox="1"/>
          <p:nvPr/>
        </p:nvSpPr>
        <p:spPr>
          <a:xfrm>
            <a:off x="548640" y="2304288"/>
            <a:ext cx="7543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esta información podemos analizar que los medios de contacto de Recomendados, Ferias Escolares y Página Web son los más importantes generadores de inscritos. Para lo cual la propuesta es la siguiente:</a:t>
            </a:r>
            <a:endParaRPr lang="en-US" sz="1250" dirty="0"/>
          </a:p>
        </p:txBody>
      </p:sp>
      <p:pic>
        <p:nvPicPr>
          <p:cNvPr id="5" name="Program card 23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54404"/>
            <a:ext cx="7543800" cy="1092385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6" name="Icon FaLink 231" descr="L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34836"/>
            <a:ext cx="731520" cy="731520"/>
          </a:xfrm>
          <a:prstGeom prst="rect">
            <a:avLst/>
          </a:prstGeom>
        </p:spPr>
      </p:pic>
      <p:sp>
        <p:nvSpPr>
          <p:cNvPr id="7" name="Program text 232"/>
          <p:cNvSpPr txBox="1"/>
          <p:nvPr/>
        </p:nvSpPr>
        <p:spPr>
          <a:xfrm>
            <a:off x="1737360" y="3015946"/>
            <a:ext cx="6172200" cy="969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Programa de Recomendados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propuesta es convertir la recomendación en un programa comercial estructurado. Cada alumno inscrito recibe un código o enlace personalizado de recomendación.</a:t>
            </a:r>
            <a:endParaRPr lang="en-US" sz="1600" dirty="0"/>
          </a:p>
        </p:txBody>
      </p:sp>
      <p:pic>
        <p:nvPicPr>
          <p:cNvPr id="8" name="Bonus card 23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2181"/>
            <a:ext cx="3634740" cy="1653963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sp>
        <p:nvSpPr>
          <p:cNvPr id="9" name="Bonus title 234"/>
          <p:cNvSpPr txBox="1"/>
          <p:nvPr/>
        </p:nvSpPr>
        <p:spPr>
          <a:xfrm>
            <a:off x="822960" y="4316038"/>
            <a:ext cx="3177540" cy="423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Beneficio económico (Bono especial)</a:t>
            </a:r>
            <a:endParaRPr lang="en-US" sz="1400" dirty="0"/>
          </a:p>
        </p:txBody>
      </p:sp>
      <p:sp>
        <p:nvSpPr>
          <p:cNvPr id="10" name="Bonus row label 235"/>
          <p:cNvSpPr txBox="1"/>
          <p:nvPr/>
        </p:nvSpPr>
        <p:spPr>
          <a:xfrm>
            <a:off x="822960" y="4716066"/>
            <a:ext cx="2011680" cy="346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invitado inscrito</a:t>
            </a:r>
            <a:endParaRPr lang="en-US" sz="1300" dirty="0"/>
          </a:p>
        </p:txBody>
      </p:sp>
      <p:sp>
        <p:nvSpPr>
          <p:cNvPr id="11" name="Bonus row amount 236"/>
          <p:cNvSpPr txBox="1"/>
          <p:nvPr/>
        </p:nvSpPr>
        <p:spPr>
          <a:xfrm>
            <a:off x="2743200" y="4716066"/>
            <a:ext cx="1211580" cy="346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$2,000</a:t>
            </a:r>
            <a:endParaRPr lang="en-US" sz="2000" dirty="0"/>
          </a:p>
        </p:txBody>
      </p:sp>
      <p:sp>
        <p:nvSpPr>
          <p:cNvPr id="12" name="Bonus row label 237"/>
          <p:cNvSpPr txBox="1"/>
          <p:nvPr/>
        </p:nvSpPr>
        <p:spPr>
          <a:xfrm>
            <a:off x="822960" y="5069937"/>
            <a:ext cx="2011680" cy="346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invitados inscritos</a:t>
            </a:r>
            <a:endParaRPr lang="en-US" sz="1300" dirty="0"/>
          </a:p>
        </p:txBody>
      </p:sp>
      <p:sp>
        <p:nvSpPr>
          <p:cNvPr id="13" name="Bonus row amount 238"/>
          <p:cNvSpPr txBox="1"/>
          <p:nvPr/>
        </p:nvSpPr>
        <p:spPr>
          <a:xfrm>
            <a:off x="2743200" y="5069937"/>
            <a:ext cx="1211580" cy="346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$3,500</a:t>
            </a:r>
            <a:endParaRPr lang="en-US" sz="2000" dirty="0"/>
          </a:p>
        </p:txBody>
      </p:sp>
      <p:sp>
        <p:nvSpPr>
          <p:cNvPr id="14" name="Bonus row label 239"/>
          <p:cNvSpPr txBox="1"/>
          <p:nvPr/>
        </p:nvSpPr>
        <p:spPr>
          <a:xfrm>
            <a:off x="822960" y="5423808"/>
            <a:ext cx="2011680" cy="346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invitados inscritos</a:t>
            </a:r>
            <a:endParaRPr lang="en-US" sz="1300" dirty="0"/>
          </a:p>
        </p:txBody>
      </p:sp>
      <p:sp>
        <p:nvSpPr>
          <p:cNvPr id="15" name="Bonus row amount 240"/>
          <p:cNvSpPr txBox="1"/>
          <p:nvPr/>
        </p:nvSpPr>
        <p:spPr>
          <a:xfrm>
            <a:off x="2743200" y="5423808"/>
            <a:ext cx="1211580" cy="346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$5,000</a:t>
            </a:r>
            <a:endParaRPr lang="en-US" sz="2000" dirty="0"/>
          </a:p>
        </p:txBody>
      </p:sp>
      <p:pic>
        <p:nvPicPr>
          <p:cNvPr id="16" name="Belonging card 24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4162181"/>
            <a:ext cx="3634740" cy="1653963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sp>
        <p:nvSpPr>
          <p:cNvPr id="17" name="Belonging title 242"/>
          <p:cNvSpPr txBox="1"/>
          <p:nvPr/>
        </p:nvSpPr>
        <p:spPr>
          <a:xfrm>
            <a:off x="4732020" y="4316038"/>
            <a:ext cx="3177540" cy="423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Beneficio de Pertenencia:</a:t>
            </a:r>
            <a:endParaRPr lang="en-US" sz="1400" dirty="0"/>
          </a:p>
        </p:txBody>
      </p:sp>
      <p:sp>
        <p:nvSpPr>
          <p:cNvPr id="18" name="Belonging items 243"/>
          <p:cNvSpPr txBox="1"/>
          <p:nvPr/>
        </p:nvSpPr>
        <p:spPr>
          <a:xfrm>
            <a:off x="4732020" y="4716066"/>
            <a:ext cx="3177540" cy="1061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Reconocimiento al “Embajador Westhill del mes”. (Historias de Instagram).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Dar un regalo como termo, paraguas, sudadera, etc.</a:t>
            </a:r>
            <a:endParaRPr lang="en-US" sz="1250" dirty="0"/>
          </a:p>
        </p:txBody>
      </p:sp>
      <p:pic>
        <p:nvPicPr>
          <p:cNvPr id="19" name="Bonus note card 24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893072"/>
            <a:ext cx="7543800" cy="507728"/>
          </a:xfrm>
          <a:prstGeom prst="rect">
            <a:avLst/>
          </a:prstGeom>
        </p:spPr>
      </p:pic>
      <p:sp>
        <p:nvSpPr>
          <p:cNvPr id="20" name="Bonus note outline 245"/>
          <p:cNvSpPr/>
          <p:nvPr/>
        </p:nvSpPr>
        <p:spPr>
          <a:xfrm>
            <a:off x="548640" y="5893072"/>
            <a:ext cx="7543800" cy="507728"/>
          </a:xfrm>
          <a:prstGeom prst="roundRect">
            <a:avLst>
              <a:gd name="adj" fmla="val 25214"/>
            </a:avLst>
          </a:prstGeom>
          <a:ln w="19050">
            <a:solidFill>
              <a:schemeClr val="accent2"/>
            </a:solidFill>
            <a:prstDash val="solid"/>
          </a:ln>
        </p:spPr>
      </p:sp>
      <p:pic>
        <p:nvPicPr>
          <p:cNvPr id="21" name="Icon FaCircleInfo 246" descr="CircleInf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5954912"/>
            <a:ext cx="384048" cy="384048"/>
          </a:xfrm>
          <a:prstGeom prst="rect">
            <a:avLst/>
          </a:prstGeom>
        </p:spPr>
      </p:pic>
      <p:sp>
        <p:nvSpPr>
          <p:cNvPr id="22" name="Bonus note 247"/>
          <p:cNvSpPr txBox="1"/>
          <p:nvPr/>
        </p:nvSpPr>
        <p:spPr>
          <a:xfrm>
            <a:off x="1261872" y="5923843"/>
            <a:ext cx="6647688" cy="4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bono se aplica una vez que el referido se encuentra inscrito y salvo a las políticas vigentes de la universidad. No es acumulativo y solo es válido dentro del mes.</a:t>
            </a:r>
            <a:endParaRPr lang="en-US" sz="1100" dirty="0"/>
          </a:p>
        </p:txBody>
      </p:sp>
      <p:pic>
        <p:nvPicPr>
          <p:cNvPr id="23" name="Flyer frame 248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9736" y="2313432"/>
            <a:ext cx="3117327" cy="3968496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4" name="Current flyer 249" descr="Programa de referidos actua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9464" y="2423160"/>
            <a:ext cx="2897871" cy="3749040"/>
          </a:xfrm>
          <a:prstGeom prst="rect">
            <a:avLst/>
          </a:prstGeom>
        </p:spPr>
      </p:pic>
      <p:sp>
        <p:nvSpPr>
          <p:cNvPr id="25" name="Current tag 250"/>
          <p:cNvSpPr txBox="1"/>
          <p:nvPr/>
        </p:nvSpPr>
        <p:spPr>
          <a:xfrm>
            <a:off x="8882344" y="5623560"/>
            <a:ext cx="123444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ACTUAL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2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background 251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 Westhill 25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0"/>
            <a:ext cx="1271016" cy="1526530"/>
          </a:xfrm>
          <a:prstGeom prst="rect">
            <a:avLst/>
          </a:prstGeom>
        </p:spPr>
      </p:pic>
      <p:sp>
        <p:nvSpPr>
          <p:cNvPr id="4" name="Hashtag 253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5" name="Closing hashtag 254"/>
          <p:cNvSpPr txBox="1"/>
          <p:nvPr/>
        </p:nvSpPr>
        <p:spPr>
          <a:xfrm>
            <a:off x="566928" y="2651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#SOMOSWESTHILL</a:t>
            </a:r>
            <a:endParaRPr lang="en-US" sz="3600" dirty="0"/>
          </a:p>
        </p:txBody>
      </p:sp>
      <p:sp>
        <p:nvSpPr>
          <p:cNvPr id="6" name="Closing subtitle 255"/>
          <p:cNvSpPr txBox="1"/>
          <p:nvPr/>
        </p:nvSpPr>
        <p:spPr>
          <a:xfrm>
            <a:off x="566928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Embajadores Westhill 2.0</a:t>
            </a:r>
            <a:endParaRPr lang="en-US" sz="2000" dirty="0"/>
          </a:p>
        </p:txBody>
      </p:sp>
      <p:sp>
        <p:nvSpPr>
          <p:cNvPr id="7" name="Closing date 256"/>
          <p:cNvSpPr txBox="1"/>
          <p:nvPr/>
        </p:nvSpPr>
        <p:spPr>
          <a:xfrm>
            <a:off x="566928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 de Acción Enero 2027</a:t>
            </a:r>
            <a:endParaRPr lang="en-US" sz="1700" dirty="0"/>
          </a:p>
        </p:txBody>
      </p:sp>
      <p:sp>
        <p:nvSpPr>
          <p:cNvPr id="8" name="Handle 257"/>
          <p:cNvSpPr txBox="1"/>
          <p:nvPr/>
        </p:nvSpPr>
        <p:spPr>
          <a:xfrm>
            <a:off x="566928" y="4434840"/>
            <a:ext cx="2651760" cy="51206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@univwesthill</a:t>
            </a:r>
            <a:endParaRPr lang="en-US" sz="16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Westhill Embajadores">
  <a:themeElements>
    <a:clrScheme name="Westhill Embajadores">
      <a:dk1>
        <a:srgbClr val="15243A"/>
      </a:dk1>
      <a:lt1>
        <a:srgbClr val="FFFFFF"/>
      </a:lt1>
      <a:dk2>
        <a:srgbClr val="0E2A47"/>
      </a:dk2>
      <a:lt2>
        <a:srgbClr val="EDF3FA"/>
      </a:lt2>
      <a:accent1>
        <a:srgbClr val="266294"/>
      </a:accent1>
      <a:accent2>
        <a:srgbClr val="F2C94C"/>
      </a:accent2>
      <a:accent3>
        <a:srgbClr val="4A90C8"/>
      </a:accent3>
      <a:accent4>
        <a:srgbClr val="163A5F"/>
      </a:accent4>
      <a:accent5>
        <a:srgbClr val="8FB3D9"/>
      </a:accent5>
      <a:accent6>
        <a:srgbClr val="5B6B7D"/>
      </a:accent6>
      <a:hlink>
        <a:srgbClr val="266294"/>
      </a:hlink>
      <a:folHlink>
        <a:srgbClr val="163A5F"/>
      </a:folHlink>
    </a:clrScheme>
    <a:fontScheme name="Westhill Embajadores">
      <a:majorFont>
        <a:latin typeface="Ralew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alew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Universidad Westhill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Acción Enero 2027 · Embajadores Westhill 2.0</dc:title>
  <dc:subject>PptxGenJS Presentation</dc:subject>
  <dc:creator>Universidad Westhill</dc:creator>
  <cp:lastModifiedBy>Universidad Westhill</cp:lastModifiedBy>
  <cp:revision>1</cp:revision>
  <dcterms:created xsi:type="dcterms:W3CDTF">2026-10-05T18:25:25Z</dcterms:created>
  <dcterms:modified xsi:type="dcterms:W3CDTF">2026-10-05T18:25:25Z</dcterms:modified>
</cp:coreProperties>
</file>
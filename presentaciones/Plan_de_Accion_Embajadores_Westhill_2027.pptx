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8191d600-b0f3-1653-9d45-643ff949d95b}">
          <p14:sldIdLst>
            <p14:sldId id="256"/>
          </p14:sldIdLst>
        </p14:section>
        <p14:section name="Programa" id="{4921094d-6e08-339c-7f71-cd17941236c6}">
          <p14:sldIdLst>
            <p14:sldId id="257"/>
            <p14:sldId id="258"/>
            <p14:sldId id="259"/>
          </p14:sldIdLst>
        </p14:section>
        <p14:section name="Mecánica" id="{c2bc1f54-c368-8692-4f52-f04404107478}">
          <p14:sldIdLst>
            <p14:sldId id="260"/>
            <p14:sldId id="261"/>
            <p14:sldId id="262"/>
            <p14:sldId id="263"/>
          </p14:sldIdLst>
        </p14:section>
        <p14:section name="Niveles y beneficios" id="{ca3d7c0d-a140-af84-4875-f54d21d5e424}">
          <p14:sldIdLst>
            <p14:sldId id="264"/>
            <p14:sldId id="265"/>
            <p14:sldId id="266"/>
            <p14:sldId id="267"/>
          </p14:sldIdLst>
        </p14:section>
        <p14:section name="Iniciativas" id="{c9a26c4e-de80-add2-da2d-be998d52c9a5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ierre" id="{7ebc0626-2682-1bd0-8458-a01450bbb2bf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0720" y="2743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548640" y="10424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800" dirty="0"/>
          </a:p>
        </p:txBody>
      </p:sp>
      <p:sp>
        <p:nvSpPr>
          <p:cNvPr id="6" name="Cover month 5"/>
          <p:cNvSpPr txBox="1"/>
          <p:nvPr/>
        </p:nvSpPr>
        <p:spPr>
          <a:xfrm>
            <a:off x="41148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3400" dirty="0"/>
          </a:p>
        </p:txBody>
      </p:sp>
      <p:sp>
        <p:nvSpPr>
          <p:cNvPr id="7" name="Cover year 6"/>
          <p:cNvSpPr txBox="1"/>
          <p:nvPr/>
        </p:nvSpPr>
        <p:spPr>
          <a:xfrm>
            <a:off x="411480" y="3657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4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4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7" name="Icon FaBullseye 17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8" name="Objective label 18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9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21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2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3" name="Why item 23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4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5" name="Why item 25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6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7" name="Why item 27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8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19" name="Why item 29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30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1" name="Why item 31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4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6" name="Profile kicker 35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6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7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9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1" name="Profile kicker 40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41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2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6" name="Icon FaCrown 45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7" name="Highlight tag 46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7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8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9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2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3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4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5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8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9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7" name="Step head 60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61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0" name="Step card 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4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5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3" name="Step head 66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7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8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6" name="Step card 6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7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8" name="Step number 71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2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0" name="Step head 73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4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5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3" name="Step card 7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7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8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6" name="Step head 79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80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5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8" name="Bonus label 86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7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8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9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90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91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5" name="Bonus amount 93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4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8" name="Bonus note outline 96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0" name="Bonus note 98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10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101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2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3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4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5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6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7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8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3" name="Journey label 109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10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11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7" name="Journey label 113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4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5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6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1" name="Journey label 117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8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9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20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5" name="Journey label 121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2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3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4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29" name="Journey label 125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6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7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8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3" name="Journey label 129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30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31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2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7" name="Journey label 133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4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4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3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6" name="Level points 144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5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6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8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1" name="Level points 149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50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51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3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6" name="Level points 154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5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6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7" name="Icon FaQrcode 16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8" name="Kit label 162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1" name="Kit label 165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4" name="Kit label 168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7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7" name="Kit label 171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0" name="Kit label 174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3" name="Kit label 177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6" name="Kit label 180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8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29" name="Kit label 183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6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6" name="Recognition title 187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8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8" name="Recognition item 189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90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0" name="Recognition item 191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2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2" name="Recognition item 193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5" name="Icon FaTrophy 196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6" name="Recognition title 197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8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8" name="Recognition item 199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200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0" name="Recognition item 201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2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2" name="Recognition item 203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7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8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9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1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11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4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8" name="Vive item 215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7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1" name="Vive item 218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20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4" name="Vive item 221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3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7" name="Vive item 224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6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0" name="Vive item 227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9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3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7" name="Program text 232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4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5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6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7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8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9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40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2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3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0" name="Bonus note outline 245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6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2" name="Bonus note 247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9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5" name="Current tag 250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5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4" name="Subtitle 25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5" name="Process card 2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Process number 254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Process step 255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8" name="Process detail 256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9" name="Process screenshot 257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0" name="Process screenshot 258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Icon FaChevronRight 259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2" name="Process card 26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Process number 261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rocess step 262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5" name="Process detail 263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6" name="Process screenshot 264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7" name="Icon FaChevronRight 265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8" name="Process card 26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Process number 267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Process step 268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1" name="Process detail 269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2" name="Process screenshot 270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3" name="Icon FaChevronRight 271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4" name="Process card 27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Process number 273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Process step 274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7" name="Process detail 275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8" name="Process screenshot 276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7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Tablero de control de Admisiones</a:t>
            </a:r>
            <a:endParaRPr lang="en-US" sz="3000" dirty="0"/>
          </a:p>
        </p:txBody>
      </p:sp>
      <p:sp>
        <p:nvSpPr>
          <p:cNvPr id="4" name="Subtitle 27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actualiza solo con cada registro nuevo</a:t>
            </a:r>
            <a:endParaRPr lang="en-US" sz="1600" dirty="0"/>
          </a:p>
        </p:txBody>
      </p:sp>
      <p:pic>
        <p:nvPicPr>
          <p:cNvPr id="5" name="Dashboard screenshot frame 27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4983480" cy="397394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Dashboard screenshot 280" descr="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441448"/>
            <a:ext cx="4764024" cy="3754493"/>
          </a:xfrm>
          <a:prstGeom prst="rect">
            <a:avLst/>
          </a:prstGeom>
        </p:spPr>
      </p:pic>
      <p:pic>
        <p:nvPicPr>
          <p:cNvPr id="7" name="Rankings screenshot frame 2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331720"/>
            <a:ext cx="5882335" cy="176021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Rankings screenshot 282" descr="Rankings screens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441448"/>
            <a:ext cx="5662879" cy="1540763"/>
          </a:xfrm>
          <a:prstGeom prst="rect">
            <a:avLst/>
          </a:prstGeom>
        </p:spPr>
      </p:pic>
      <p:pic>
        <p:nvPicPr>
          <p:cNvPr id="9" name="Dashboard note 28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27481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ChartLine 284" descr="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4370069"/>
            <a:ext cx="457200" cy="457200"/>
          </a:xfrm>
          <a:prstGeom prst="rect">
            <a:avLst/>
          </a:prstGeom>
        </p:spPr>
      </p:pic>
      <p:sp>
        <p:nvSpPr>
          <p:cNvPr id="11" name="Dashboard note text 285"/>
          <p:cNvSpPr txBox="1"/>
          <p:nvPr/>
        </p:nvSpPr>
        <p:spPr>
          <a:xfrm>
            <a:off x="6537960" y="432053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Indicadores al momento: registros totales, referidores, registros de hoy y últimos 7 días.</a:t>
            </a:r>
            <a:endParaRPr lang="en-US" sz="1300" dirty="0"/>
          </a:p>
        </p:txBody>
      </p:sp>
      <p:pic>
        <p:nvPicPr>
          <p:cNvPr id="12" name="Dashboard note 28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5013959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3" name="Icon FaRankingStar 287" descr="Ranking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5109210"/>
            <a:ext cx="457200" cy="457200"/>
          </a:xfrm>
          <a:prstGeom prst="rect">
            <a:avLst/>
          </a:prstGeom>
        </p:spPr>
      </p:pic>
      <p:sp>
        <p:nvSpPr>
          <p:cNvPr id="14" name="Dashboard note text 288"/>
          <p:cNvSpPr txBox="1"/>
          <p:nvPr/>
        </p:nvSpPr>
        <p:spPr>
          <a:xfrm>
            <a:off x="6537960" y="5059679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Ranking de referidores para reconocer a los embajadores más activos.</a:t>
            </a:r>
            <a:endParaRPr lang="en-US" sz="1300" dirty="0"/>
          </a:p>
        </p:txBody>
      </p:sp>
      <p:pic>
        <p:nvPicPr>
          <p:cNvPr id="15" name="Dashboard note 289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5753100"/>
            <a:ext cx="5882335" cy="6477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ListCheck 290" descr="ListChec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0" y="5848350"/>
            <a:ext cx="457200" cy="457200"/>
          </a:xfrm>
          <a:prstGeom prst="rect">
            <a:avLst/>
          </a:prstGeom>
        </p:spPr>
      </p:pic>
      <p:sp>
        <p:nvSpPr>
          <p:cNvPr id="17" name="Dashboard note text 291"/>
          <p:cNvSpPr txBox="1"/>
          <p:nvPr/>
        </p:nvSpPr>
        <p:spPr>
          <a:xfrm>
            <a:off x="6537960" y="5798820"/>
            <a:ext cx="4922215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por nivel, por día y los últimos invitados con quién los refirió.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9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datos de referidos</a:t>
            </a:r>
            <a:endParaRPr lang="en-US" sz="3000" dirty="0"/>
          </a:p>
        </p:txBody>
      </p:sp>
      <p:sp>
        <p:nvSpPr>
          <p:cNvPr id="4" name="Subtitle 293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registro queda vinculado al código del embajador que lo invitó</a:t>
            </a:r>
            <a:endParaRPr lang="en-US" sz="1600" dirty="0"/>
          </a:p>
        </p:txBody>
      </p:sp>
      <p:pic>
        <p:nvPicPr>
          <p:cNvPr id="5" name="Referidores card 29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3977640" cy="2057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Sheet tag 295"/>
          <p:cNvSpPr txBox="1"/>
          <p:nvPr/>
        </p:nvSpPr>
        <p:spPr>
          <a:xfrm>
            <a:off x="731520" y="2487168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00" dirty="0"/>
          </a:p>
        </p:txBody>
      </p:sp>
      <p:sp>
        <p:nvSpPr>
          <p:cNvPr id="7" name="Referidores text 296"/>
          <p:cNvSpPr txBox="1"/>
          <p:nvPr/>
        </p:nvSpPr>
        <p:spPr>
          <a:xfrm>
            <a:off x="731520" y="2852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250" dirty="0"/>
          </a:p>
        </p:txBody>
      </p:sp>
      <p:pic>
        <p:nvPicPr>
          <p:cNvPr id="8" name="Referidores screenshot 297" descr="Hoja Referidor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54439"/>
            <a:ext cx="3611880" cy="870089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4000"/>
              </a:srgbClr>
            </a:outerShdw>
          </a:effectLst>
        </p:spPr>
      </p:pic>
      <p:pic>
        <p:nvPicPr>
          <p:cNvPr id="9" name="Referidos card 29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53712"/>
            <a:ext cx="3977640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0" name="Sheet tag 299"/>
          <p:cNvSpPr txBox="1"/>
          <p:nvPr/>
        </p:nvSpPr>
        <p:spPr>
          <a:xfrm>
            <a:off x="731520" y="4690872"/>
            <a:ext cx="182880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00" dirty="0"/>
          </a:p>
        </p:txBody>
      </p:sp>
      <p:sp>
        <p:nvSpPr>
          <p:cNvPr id="11" name="Referidos text 300"/>
          <p:cNvSpPr txBox="1"/>
          <p:nvPr/>
        </p:nvSpPr>
        <p:spPr>
          <a:xfrm>
            <a:off x="73152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200" dirty="0"/>
          </a:p>
        </p:txBody>
      </p:sp>
      <p:pic>
        <p:nvPicPr>
          <p:cNvPr id="12" name="Referidos screenshot frame 30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331720"/>
            <a:ext cx="6888175" cy="303749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Referidos screenshot 302" descr="Referidos screens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441448"/>
            <a:ext cx="6668719" cy="2818041"/>
          </a:xfrm>
          <a:prstGeom prst="rect">
            <a:avLst/>
          </a:prstGeom>
        </p:spPr>
      </p:pic>
      <p:pic>
        <p:nvPicPr>
          <p:cNvPr id="14" name="Sample data note 30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32704"/>
            <a:ext cx="11094415" cy="502920"/>
          </a:xfrm>
          <a:prstGeom prst="rect">
            <a:avLst/>
          </a:prstGeom>
        </p:spPr>
      </p:pic>
      <p:pic>
        <p:nvPicPr>
          <p:cNvPr id="15" name="Icon FaCircleInfo 304" descr="CircleInf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705856"/>
            <a:ext cx="356616" cy="356616"/>
          </a:xfrm>
          <a:prstGeom prst="rect">
            <a:avLst/>
          </a:prstGeom>
        </p:spPr>
      </p:pic>
      <p:sp>
        <p:nvSpPr>
          <p:cNvPr id="16" name="Sample data note text 305"/>
          <p:cNvSpPr txBox="1"/>
          <p:nvPr/>
        </p:nvSpPr>
        <p:spPr>
          <a:xfrm>
            <a:off x="1170432" y="5632704"/>
            <a:ext cx="10271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de ejemplo para mostrar cómo se verá la información que recibe Admisiones.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306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30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08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309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310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311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Enero 2027</a:t>
            </a:r>
            <a:endParaRPr lang="en-US" sz="1700" dirty="0"/>
          </a:p>
        </p:txBody>
      </p:sp>
      <p:sp>
        <p:nvSpPr>
          <p:cNvPr id="8" name="Handle 312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2026-10-05T19:36:44Z</dcterms:created>
  <dcterms:modified xsi:type="dcterms:W3CDTF">2026-10-05T19:36:44Z</dcterms:modified>
</cp:coreProperties>
</file>
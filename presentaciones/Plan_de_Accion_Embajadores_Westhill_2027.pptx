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fb781b0-2652-2d12-f17f-332db423ab65}">
          <p14:sldIdLst>
            <p14:sldId id="256"/>
          </p14:sldIdLst>
        </p14:section>
        <p14:section name="Programa" id="{50f7bd54-d5c0-4944-ae16-949f60be05a1}">
          <p14:sldIdLst>
            <p14:sldId id="257"/>
            <p14:sldId id="258"/>
          </p14:sldIdLst>
        </p14:section>
        <p14:section name="Mecánica" id="{51b532f8-c22c-f323-d2f9-92167fc66354}">
          <p14:sldIdLst>
            <p14:sldId id="259"/>
            <p14:sldId id="260"/>
            <p14:sldId id="261"/>
          </p14:sldIdLst>
        </p14:section>
        <p14:section name="Niveles y beneficios" id="{f1c0d52c-376c-a8eb-4eb4-95f88d76fb8e}">
          <p14:sldIdLst>
            <p14:sldId id="262"/>
            <p14:sldId id="263"/>
            <p14:sldId id="264"/>
          </p14:sldIdLst>
        </p14:section>
        <p14:section name="Iniciativas" id="{2259c36b-22c9-2f20-d257-28a4fee10654}">
          <p14:sldIdLst>
            <p14:sldId id="265"/>
            <p14:sldId id="266"/>
          </p14:sldIdLst>
        </p14:section>
        <p14:section name="Cierre" id="{7d354eae-5e95-b41f-2ae4-f0c796563da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PLAN DE ACCIÓN  ·  EMBAJADORES WESTHILL 2.0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205" y="292608"/>
            <a:ext cx="59385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#SOMOSWESTHILL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442655" y="6400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@univwesthill</a:t>
            </a:r>
            <a:endParaRPr lang="en-US" sz="10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Spli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PLAN DE ACCIÓN  ·  EMBAJADORES WESTHILL 2.0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</a:rPr>
              <a:t>#SOMOSWESTHILL   ·   @univwesthill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566928"/>
            <a:ext cx="5852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mpus photo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Photo tint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chemeClr val="tx2">
              <a:alpha val="22000"/>
            </a:schemeClr>
          </a:solidFill>
          <a:ln/>
        </p:spPr>
      </p:sp>
      <p:pic>
        <p:nvPicPr>
          <p:cNvPr id="4" name="Logo Westhil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914400" cy="1098223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640080" y="2057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chemeClr val="accent2"/>
                </a:solidFill>
              </a:rPr>
              <a:t>PLAN DE ACCIÓN</a:t>
            </a:r>
            <a:endParaRPr lang="en-US" sz="1800" dirty="0"/>
          </a:p>
        </p:txBody>
      </p:sp>
      <p:sp>
        <p:nvSpPr>
          <p:cNvPr id="6" name="Cover title"/>
          <p:cNvSpPr txBox="1"/>
          <p:nvPr/>
        </p:nvSpPr>
        <p:spPr>
          <a:xfrm>
            <a:off x="640080" y="2514600"/>
            <a:ext cx="6217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Embajadores Westhill 2.0</a:t>
            </a:r>
            <a:endParaRPr lang="en-US" sz="5400" dirty="0"/>
          </a:p>
        </p:txBody>
      </p:sp>
      <p:sp>
        <p:nvSpPr>
          <p:cNvPr id="7" name="Date pill"/>
          <p:cNvSpPr/>
          <p:nvPr/>
        </p:nvSpPr>
        <p:spPr>
          <a:xfrm>
            <a:off x="640080" y="4526280"/>
            <a:ext cx="233172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Date"/>
          <p:cNvSpPr txBox="1"/>
          <p:nvPr/>
        </p:nvSpPr>
        <p:spPr>
          <a:xfrm>
            <a:off x="640080" y="4526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300" kern="0" dirty="0">
                <a:solidFill>
                  <a:schemeClr val="tx2"/>
                </a:solidFill>
              </a:rPr>
              <a:t>ENERO 2027</a:t>
            </a:r>
            <a:endParaRPr lang="en-US" sz="1800" dirty="0"/>
          </a:p>
        </p:txBody>
      </p:sp>
      <p:sp>
        <p:nvSpPr>
          <p:cNvPr id="9" name="Hashtag"/>
          <p:cNvSpPr txBox="1"/>
          <p:nvPr/>
        </p:nvSpPr>
        <p:spPr>
          <a:xfrm>
            <a:off x="640080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5"/>
                </a:solidFill>
              </a:rPr>
              <a:t>#SOMOSWESTHILL</a:t>
            </a:r>
            <a:endParaRPr lang="en-US" sz="1600" dirty="0"/>
          </a:p>
        </p:txBody>
      </p:sp>
      <p:pic>
        <p:nvPicPr>
          <p:cNvPr id="10" name="Paw print 1" descr="Huella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200000">
            <a:off x="4892040" y="5806440"/>
            <a:ext cx="384048" cy="341131"/>
          </a:xfrm>
          <a:prstGeom prst="rect">
            <a:avLst/>
          </a:prstGeom>
        </p:spPr>
      </p:pic>
      <p:pic>
        <p:nvPicPr>
          <p:cNvPr id="11" name="Paw print 2" descr="Huella">    </p:cNvPr>
          <p:cNvPicPr>
            <a:picLocks noChangeAspect="1"/>
          </p:cNvPicPr>
          <p:nvPr/>
        </p:nvPicPr>
        <p:blipFill>
          <a:blip r:embed="rId4">
            <a:alphaModFix amt="75000"/>
          </a:blip>
          <a:stretch>
            <a:fillRect/>
          </a:stretch>
        </p:blipFill>
        <p:spPr>
          <a:xfrm rot="2100000">
            <a:off x="5486400" y="5349240"/>
            <a:ext cx="384048" cy="341131"/>
          </a:xfrm>
          <a:prstGeom prst="rect">
            <a:avLst/>
          </a:prstGeom>
        </p:spPr>
      </p:pic>
      <p:pic>
        <p:nvPicPr>
          <p:cNvPr id="12" name="Paw print 3" descr="Huella">    </p:cNvPr>
          <p:cNvPicPr>
            <a:picLocks noChangeAspect="1"/>
          </p:cNvPicPr>
          <p:nvPr/>
        </p:nvPicPr>
        <p:blipFill>
          <a:blip r:embed="rId5">
            <a:alphaModFix amt="75000"/>
          </a:blip>
          <a:stretch>
            <a:fillRect/>
          </a:stretch>
        </p:blipFill>
        <p:spPr>
          <a:xfrm rot="3300000">
            <a:off x="6172200" y="5074920"/>
            <a:ext cx="384048" cy="3411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Embajadores Westhill 2.0</a:t>
            </a:r>
            <a:endParaRPr lang="en-US" sz="3400" dirty="0"/>
          </a:p>
        </p:txBody>
      </p:sp>
      <p:sp>
        <p:nvSpPr>
          <p:cNvPr id="3" name="Program description"/>
          <p:cNvSpPr txBox="1"/>
          <p:nvPr/>
        </p:nvSpPr>
        <p:spPr>
          <a:xfrm>
            <a:off x="548640" y="16002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800" dirty="0"/>
          </a:p>
        </p:txBody>
      </p:sp>
      <p:sp>
        <p:nvSpPr>
          <p:cNvPr id="4" name="Objective card"/>
          <p:cNvSpPr/>
          <p:nvPr/>
        </p:nvSpPr>
        <p:spPr>
          <a:xfrm>
            <a:off x="548640" y="3246120"/>
            <a:ext cx="6035040" cy="2788920"/>
          </a:xfrm>
          <a:prstGeom prst="roundRect">
            <a:avLst>
              <a:gd name="adj" fmla="val 49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5" name="Icon circle 4"/>
          <p:cNvSpPr/>
          <p:nvPr/>
        </p:nvSpPr>
        <p:spPr>
          <a:xfrm>
            <a:off x="914400" y="3566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 FaBullseye 5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737610"/>
            <a:ext cx="342900" cy="342900"/>
          </a:xfrm>
          <a:prstGeom prst="rect">
            <a:avLst/>
          </a:prstGeom>
        </p:spPr>
      </p:pic>
      <p:sp>
        <p:nvSpPr>
          <p:cNvPr id="7" name="Objective label"/>
          <p:cNvSpPr txBox="1"/>
          <p:nvPr/>
        </p:nvSpPr>
        <p:spPr>
          <a:xfrm>
            <a:off x="1783080" y="3566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OBJETIVO</a:t>
            </a:r>
            <a:endParaRPr lang="en-US" sz="1600" dirty="0"/>
          </a:p>
        </p:txBody>
      </p:sp>
      <p:sp>
        <p:nvSpPr>
          <p:cNvPr id="8" name="Objective text"/>
          <p:cNvSpPr txBox="1"/>
          <p:nvPr/>
        </p:nvSpPr>
        <p:spPr>
          <a:xfrm>
            <a:off x="914400" y="443484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Generar más prospectos e inscritos, fortaleciendo el sentido de pertenencia de nuestros estudiantes y posicionando a Westhill a través de su voz auténtica.</a:t>
            </a:r>
            <a:endParaRPr lang="en-US" sz="1800" dirty="0"/>
          </a:p>
        </p:txBody>
      </p:sp>
      <p:sp>
        <p:nvSpPr>
          <p:cNvPr id="9" name="Why card"/>
          <p:cNvSpPr/>
          <p:nvPr/>
        </p:nvSpPr>
        <p:spPr>
          <a:xfrm>
            <a:off x="6995160" y="1600200"/>
            <a:ext cx="4645152" cy="4434840"/>
          </a:xfrm>
          <a:prstGeom prst="roundRect">
            <a:avLst>
              <a:gd name="adj" fmla="val 3093"/>
            </a:avLst>
          </a:prstGeom>
          <a:solidFill>
            <a:schemeClr val="bg2"/>
          </a:solidFill>
          <a:ln/>
        </p:spPr>
      </p:sp>
      <p:sp>
        <p:nvSpPr>
          <p:cNvPr id="10" name="Why title"/>
          <p:cNvSpPr txBox="1"/>
          <p:nvPr/>
        </p:nvSpPr>
        <p:spPr>
          <a:xfrm>
            <a:off x="7315200" y="1783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¿Por qué ser embajador?</a:t>
            </a:r>
            <a:endParaRPr lang="en-US" sz="2000" dirty="0"/>
          </a:p>
        </p:txBody>
      </p:sp>
      <p:sp>
        <p:nvSpPr>
          <p:cNvPr id="11" name="Icon circle 6"/>
          <p:cNvSpPr/>
          <p:nvPr/>
        </p:nvSpPr>
        <p:spPr>
          <a:xfrm>
            <a:off x="7315200" y="24688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FaHandHoldingHeart 7" descr="FaHandHolding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930" y="2594610"/>
            <a:ext cx="251460" cy="251460"/>
          </a:xfrm>
          <a:prstGeom prst="rect">
            <a:avLst/>
          </a:prstGeom>
        </p:spPr>
      </p:pic>
      <p:sp>
        <p:nvSpPr>
          <p:cNvPr id="13" name="Why item 8"/>
          <p:cNvSpPr txBox="1"/>
          <p:nvPr/>
        </p:nvSpPr>
        <p:spPr>
          <a:xfrm>
            <a:off x="8001000" y="2468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Haces la diferencia en la vida de otros.</a:t>
            </a:r>
            <a:endParaRPr lang="en-US" sz="1500" dirty="0"/>
          </a:p>
        </p:txBody>
      </p:sp>
      <p:sp>
        <p:nvSpPr>
          <p:cNvPr id="14" name="Icon circle 9"/>
          <p:cNvSpPr/>
          <p:nvPr/>
        </p:nvSpPr>
        <p:spPr>
          <a:xfrm>
            <a:off x="7315200" y="3172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FaBuildingColumns 10" descr="FaBuildingColum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930" y="3298698"/>
            <a:ext cx="251460" cy="251460"/>
          </a:xfrm>
          <a:prstGeom prst="rect">
            <a:avLst/>
          </a:prstGeom>
        </p:spPr>
      </p:pic>
      <p:sp>
        <p:nvSpPr>
          <p:cNvPr id="16" name="Why item 11"/>
          <p:cNvSpPr txBox="1"/>
          <p:nvPr/>
        </p:nvSpPr>
        <p:spPr>
          <a:xfrm>
            <a:off x="8001000" y="317296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Fortalece tu universidad.</a:t>
            </a:r>
            <a:endParaRPr lang="en-US" sz="1500" dirty="0"/>
          </a:p>
        </p:txBody>
      </p:sp>
      <p:sp>
        <p:nvSpPr>
          <p:cNvPr id="17" name="Icon circle 12"/>
          <p:cNvSpPr/>
          <p:nvPr/>
        </p:nvSpPr>
        <p:spPr>
          <a:xfrm>
            <a:off x="7315200" y="387705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 FaRankingStar 13" descr="FaRanking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0" y="4002786"/>
            <a:ext cx="251460" cy="251460"/>
          </a:xfrm>
          <a:prstGeom prst="rect">
            <a:avLst/>
          </a:prstGeom>
        </p:spPr>
      </p:pic>
      <p:sp>
        <p:nvSpPr>
          <p:cNvPr id="19" name="Why item 14"/>
          <p:cNvSpPr txBox="1"/>
          <p:nvPr/>
        </p:nvSpPr>
        <p:spPr>
          <a:xfrm>
            <a:off x="8001000" y="38770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Desarrollas habilidades de liderazgo.</a:t>
            </a:r>
            <a:endParaRPr lang="en-US" sz="1500" dirty="0"/>
          </a:p>
        </p:txBody>
      </p:sp>
      <p:sp>
        <p:nvSpPr>
          <p:cNvPr id="20" name="Icon circle 15"/>
          <p:cNvSpPr/>
          <p:nvPr/>
        </p:nvSpPr>
        <p:spPr>
          <a:xfrm>
            <a:off x="7315200" y="458114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 FaGift 16" descr="FaGi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0930" y="4706874"/>
            <a:ext cx="251460" cy="251460"/>
          </a:xfrm>
          <a:prstGeom prst="rect">
            <a:avLst/>
          </a:prstGeom>
        </p:spPr>
      </p:pic>
      <p:sp>
        <p:nvSpPr>
          <p:cNvPr id="22" name="Why item 17"/>
          <p:cNvSpPr txBox="1"/>
          <p:nvPr/>
        </p:nvSpPr>
        <p:spPr>
          <a:xfrm>
            <a:off x="8001000" y="458114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Obtienes incentivos y reconocimientos.</a:t>
            </a:r>
            <a:endParaRPr lang="en-US" sz="1500" dirty="0"/>
          </a:p>
        </p:txBody>
      </p:sp>
      <p:sp>
        <p:nvSpPr>
          <p:cNvPr id="23" name="Icon circle 18"/>
          <p:cNvSpPr/>
          <p:nvPr/>
        </p:nvSpPr>
        <p:spPr>
          <a:xfrm>
            <a:off x="7315200" y="52852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 FaStar 19" descr="Fa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0930" y="5410962"/>
            <a:ext cx="251460" cy="251460"/>
          </a:xfrm>
          <a:prstGeom prst="rect">
            <a:avLst/>
          </a:prstGeom>
        </p:spPr>
      </p:pic>
      <p:sp>
        <p:nvSpPr>
          <p:cNvPr id="25" name="Why item 20"/>
          <p:cNvSpPr txBox="1"/>
          <p:nvPr/>
        </p:nvSpPr>
        <p:spPr>
          <a:xfrm>
            <a:off x="8001000" y="52852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basa en 3 perfiles</a:t>
            </a:r>
            <a:endParaRPr lang="en-US" sz="3400" dirty="0"/>
          </a:p>
        </p:txBody>
      </p:sp>
      <p:sp>
        <p:nvSpPr>
          <p:cNvPr id="3" name="Profile card 21"/>
          <p:cNvSpPr/>
          <p:nvPr/>
        </p:nvSpPr>
        <p:spPr>
          <a:xfrm>
            <a:off x="548640" y="1554480"/>
            <a:ext cx="3511296" cy="45262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4" name="Icon circle 22"/>
          <p:cNvSpPr/>
          <p:nvPr/>
        </p:nvSpPr>
        <p:spPr>
          <a:xfrm>
            <a:off x="868680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FaShareNodes 23" descr="FaShareNo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68830"/>
            <a:ext cx="388620" cy="388620"/>
          </a:xfrm>
          <a:prstGeom prst="rect">
            <a:avLst/>
          </a:prstGeom>
        </p:spPr>
      </p:pic>
      <p:sp>
        <p:nvSpPr>
          <p:cNvPr id="6" name="Profile kicker 24"/>
          <p:cNvSpPr txBox="1"/>
          <p:nvPr/>
        </p:nvSpPr>
        <p:spPr>
          <a:xfrm>
            <a:off x="868680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EMBAJADOR</a:t>
            </a:r>
            <a:endParaRPr lang="en-US" sz="1200" dirty="0"/>
          </a:p>
        </p:txBody>
      </p:sp>
      <p:sp>
        <p:nvSpPr>
          <p:cNvPr id="7" name="Profile name 25"/>
          <p:cNvSpPr txBox="1"/>
          <p:nvPr/>
        </p:nvSpPr>
        <p:spPr>
          <a:xfrm>
            <a:off x="868680" y="309067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</a:t>
            </a:r>
            <a:endParaRPr lang="en-US" sz="2800" dirty="0"/>
          </a:p>
        </p:txBody>
      </p:sp>
      <p:sp>
        <p:nvSpPr>
          <p:cNvPr id="8" name="Profile items 26"/>
          <p:cNvSpPr txBox="1"/>
          <p:nvPr/>
        </p:nvSpPr>
        <p:spPr>
          <a:xfrm>
            <a:off x="868680" y="379476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Comparte Westhill con amigos, familiares y conocidos.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Invita a eventos.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Genera prospectos con tu código o enlace personal.</a:t>
            </a:r>
            <a:endParaRPr lang="en-US" sz="1400" dirty="0"/>
          </a:p>
        </p:txBody>
      </p:sp>
      <p:sp>
        <p:nvSpPr>
          <p:cNvPr id="9" name="Profile card 27"/>
          <p:cNvSpPr/>
          <p:nvPr/>
        </p:nvSpPr>
        <p:spPr>
          <a:xfrm>
            <a:off x="4361688" y="1554480"/>
            <a:ext cx="3511296" cy="45262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10" name="Icon circle 28"/>
          <p:cNvSpPr/>
          <p:nvPr/>
        </p:nvSpPr>
        <p:spPr>
          <a:xfrm>
            <a:off x="4681728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FaUserGraduate 29" descr="FaUserGradu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038" y="2068830"/>
            <a:ext cx="388620" cy="388620"/>
          </a:xfrm>
          <a:prstGeom prst="rect">
            <a:avLst/>
          </a:prstGeom>
        </p:spPr>
      </p:pic>
      <p:sp>
        <p:nvSpPr>
          <p:cNvPr id="12" name="Profile kicker 30"/>
          <p:cNvSpPr txBox="1"/>
          <p:nvPr/>
        </p:nvSpPr>
        <p:spPr>
          <a:xfrm>
            <a:off x="4681728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EMBAJADOR</a:t>
            </a:r>
            <a:endParaRPr lang="en-US" sz="1200" dirty="0"/>
          </a:p>
        </p:txBody>
      </p:sp>
      <p:sp>
        <p:nvSpPr>
          <p:cNvPr id="13" name="Profile name 31"/>
          <p:cNvSpPr txBox="1"/>
          <p:nvPr/>
        </p:nvSpPr>
        <p:spPr>
          <a:xfrm>
            <a:off x="4681728" y="309067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</a:t>
            </a:r>
            <a:endParaRPr lang="en-US" sz="2800" dirty="0"/>
          </a:p>
        </p:txBody>
      </p:sp>
      <p:sp>
        <p:nvSpPr>
          <p:cNvPr id="14" name="Profile items 32"/>
          <p:cNvSpPr txBox="1"/>
          <p:nvPr/>
        </p:nvSpPr>
        <p:spPr>
          <a:xfrm>
            <a:off x="4681728" y="379476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Participa en eventos, ferias y webinars.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Comparte tu experiencia como estudiante.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Graba testimonios y contenido.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Acompaña a prospectos en visitas.</a:t>
            </a:r>
            <a:endParaRPr lang="en-US" sz="1400" dirty="0"/>
          </a:p>
        </p:txBody>
      </p:sp>
      <p:sp>
        <p:nvSpPr>
          <p:cNvPr id="15" name="Profile card 33"/>
          <p:cNvSpPr/>
          <p:nvPr/>
        </p:nvSpPr>
        <p:spPr>
          <a:xfrm>
            <a:off x="8174736" y="1554480"/>
            <a:ext cx="3511296" cy="4526280"/>
          </a:xfrm>
          <a:prstGeom prst="roundRect">
            <a:avLst>
              <a:gd name="adj" fmla="val 39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16" name="Icon circle 34"/>
          <p:cNvSpPr/>
          <p:nvPr/>
        </p:nvSpPr>
        <p:spPr>
          <a:xfrm>
            <a:off x="8494776" y="187452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con FaCrown 35" descr="Fa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086" y="2068830"/>
            <a:ext cx="388620" cy="388620"/>
          </a:xfrm>
          <a:prstGeom prst="rect">
            <a:avLst/>
          </a:prstGeom>
        </p:spPr>
      </p:pic>
      <p:sp>
        <p:nvSpPr>
          <p:cNvPr id="18" name="Profile kicker 36"/>
          <p:cNvSpPr txBox="1"/>
          <p:nvPr/>
        </p:nvSpPr>
        <p:spPr>
          <a:xfrm>
            <a:off x="8494776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EMBAJADOR</a:t>
            </a:r>
            <a:endParaRPr lang="en-US" sz="1200" dirty="0"/>
          </a:p>
        </p:txBody>
      </p:sp>
      <p:sp>
        <p:nvSpPr>
          <p:cNvPr id="19" name="Profile name 37"/>
          <p:cNvSpPr txBox="1"/>
          <p:nvPr/>
        </p:nvSpPr>
        <p:spPr>
          <a:xfrm>
            <a:off x="8494776" y="309067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</a:t>
            </a:r>
            <a:endParaRPr lang="en-US" sz="2800" dirty="0"/>
          </a:p>
        </p:txBody>
      </p:sp>
      <p:sp>
        <p:nvSpPr>
          <p:cNvPr id="20" name="Profile items 38"/>
          <p:cNvSpPr txBox="1"/>
          <p:nvPr/>
        </p:nvSpPr>
        <p:spPr>
          <a:xfrm>
            <a:off x="8494776" y="379476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Es un alumno destacado que representa a Westhill.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Participa en campañas institucionales.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Apoya en eventos de atracción.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funciona?</a:t>
            </a:r>
            <a:endParaRPr lang="en-US" sz="3400" dirty="0"/>
          </a:p>
        </p:txBody>
      </p:sp>
      <p:sp>
        <p:nvSpPr>
          <p:cNvPr id="3" name="Step card 39"/>
          <p:cNvSpPr/>
          <p:nvPr/>
        </p:nvSpPr>
        <p:spPr>
          <a:xfrm>
            <a:off x="54864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tep number 40"/>
          <p:cNvSpPr txBox="1"/>
          <p:nvPr/>
        </p:nvSpPr>
        <p:spPr>
          <a:xfrm>
            <a:off x="82296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Icon circle 41"/>
          <p:cNvSpPr/>
          <p:nvPr/>
        </p:nvSpPr>
        <p:spPr>
          <a:xfrm>
            <a:off x="2011680" y="20116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FaQrcode 42" descr="FaQr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5990" y="2205990"/>
            <a:ext cx="388620" cy="388620"/>
          </a:xfrm>
          <a:prstGeom prst="rect">
            <a:avLst/>
          </a:prstGeom>
        </p:spPr>
      </p:pic>
      <p:sp>
        <p:nvSpPr>
          <p:cNvPr id="7" name="Step head 43"/>
          <p:cNvSpPr txBox="1"/>
          <p:nvPr/>
        </p:nvSpPr>
        <p:spPr>
          <a:xfrm>
            <a:off x="82296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Comparte</a:t>
            </a:r>
            <a:endParaRPr lang="en-US" sz="2200" dirty="0"/>
          </a:p>
        </p:txBody>
      </p:sp>
      <p:sp>
        <p:nvSpPr>
          <p:cNvPr id="8" name="Step body 44"/>
          <p:cNvSpPr txBox="1"/>
          <p:nvPr/>
        </p:nvSpPr>
        <p:spPr>
          <a:xfrm>
            <a:off x="82296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QR personalizado</a:t>
            </a:r>
            <a:endParaRPr lang="en-US" sz="1700" dirty="0"/>
          </a:p>
        </p:txBody>
      </p:sp>
      <p:sp>
        <p:nvSpPr>
          <p:cNvPr id="9" name="Icon circle 45"/>
          <p:cNvSpPr/>
          <p:nvPr/>
        </p:nvSpPr>
        <p:spPr>
          <a:xfrm>
            <a:off x="3022092" y="354787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 FaChevronRight 46" descr="FaChevron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734" y="3658514"/>
            <a:ext cx="181051" cy="181051"/>
          </a:xfrm>
          <a:prstGeom prst="rect">
            <a:avLst/>
          </a:prstGeom>
        </p:spPr>
      </p:pic>
      <p:sp>
        <p:nvSpPr>
          <p:cNvPr id="11" name="Step card 47"/>
          <p:cNvSpPr/>
          <p:nvPr/>
        </p:nvSpPr>
        <p:spPr>
          <a:xfrm>
            <a:off x="338328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2" name="Step number 48"/>
          <p:cNvSpPr txBox="1"/>
          <p:nvPr/>
        </p:nvSpPr>
        <p:spPr>
          <a:xfrm>
            <a:off x="36576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Icon circle 49"/>
          <p:cNvSpPr/>
          <p:nvPr/>
        </p:nvSpPr>
        <p:spPr>
          <a:xfrm>
            <a:off x="4846320" y="20116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FaCalendarCheck 50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630" y="2205990"/>
            <a:ext cx="388620" cy="388620"/>
          </a:xfrm>
          <a:prstGeom prst="rect">
            <a:avLst/>
          </a:prstGeom>
        </p:spPr>
      </p:pic>
      <p:sp>
        <p:nvSpPr>
          <p:cNvPr id="15" name="Step head 51"/>
          <p:cNvSpPr txBox="1"/>
          <p:nvPr/>
        </p:nvSpPr>
        <p:spPr>
          <a:xfrm>
            <a:off x="365760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referidos</a:t>
            </a:r>
            <a:endParaRPr lang="en-US" sz="2200" dirty="0"/>
          </a:p>
        </p:txBody>
      </p:sp>
      <p:sp>
        <p:nvSpPr>
          <p:cNvPr id="16" name="Step body 52"/>
          <p:cNvSpPr txBox="1"/>
          <p:nvPr/>
        </p:nvSpPr>
        <p:spPr>
          <a:xfrm>
            <a:off x="365760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Agendan su visita</a:t>
            </a:r>
            <a:endParaRPr lang="en-US" sz="1700" dirty="0"/>
          </a:p>
        </p:txBody>
      </p:sp>
      <p:sp>
        <p:nvSpPr>
          <p:cNvPr id="17" name="Icon circle 53"/>
          <p:cNvSpPr/>
          <p:nvPr/>
        </p:nvSpPr>
        <p:spPr>
          <a:xfrm>
            <a:off x="5856732" y="354787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 FaChevronRight 54" descr="Fa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374" y="3658514"/>
            <a:ext cx="181051" cy="181051"/>
          </a:xfrm>
          <a:prstGeom prst="rect">
            <a:avLst/>
          </a:prstGeom>
        </p:spPr>
      </p:pic>
      <p:sp>
        <p:nvSpPr>
          <p:cNvPr id="19" name="Step card 55"/>
          <p:cNvSpPr/>
          <p:nvPr/>
        </p:nvSpPr>
        <p:spPr>
          <a:xfrm>
            <a:off x="621792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20" name="Step number 56"/>
          <p:cNvSpPr txBox="1"/>
          <p:nvPr/>
        </p:nvSpPr>
        <p:spPr>
          <a:xfrm>
            <a:off x="649224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Icon circle 57"/>
          <p:cNvSpPr/>
          <p:nvPr/>
        </p:nvSpPr>
        <p:spPr>
          <a:xfrm>
            <a:off x="7680960" y="20116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con FaMoneyBillWave 58" descr="FaMoneyBillW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270" y="2205990"/>
            <a:ext cx="388620" cy="388620"/>
          </a:xfrm>
          <a:prstGeom prst="rect">
            <a:avLst/>
          </a:prstGeom>
        </p:spPr>
      </p:pic>
      <p:sp>
        <p:nvSpPr>
          <p:cNvPr id="23" name="Step head 59"/>
          <p:cNvSpPr txBox="1"/>
          <p:nvPr/>
        </p:nvSpPr>
        <p:spPr>
          <a:xfrm>
            <a:off x="649224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se inscribe</a:t>
            </a:r>
            <a:endParaRPr lang="en-US" sz="2200" dirty="0"/>
          </a:p>
        </p:txBody>
      </p:sp>
      <p:sp>
        <p:nvSpPr>
          <p:cNvPr id="24" name="Step body 60"/>
          <p:cNvSpPr txBox="1"/>
          <p:nvPr/>
        </p:nvSpPr>
        <p:spPr>
          <a:xfrm>
            <a:off x="649224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Recibes un Bono económico</a:t>
            </a:r>
            <a:endParaRPr lang="en-US" sz="1700" dirty="0"/>
          </a:p>
        </p:txBody>
      </p:sp>
      <p:sp>
        <p:nvSpPr>
          <p:cNvPr id="25" name="Icon circle 61"/>
          <p:cNvSpPr/>
          <p:nvPr/>
        </p:nvSpPr>
        <p:spPr>
          <a:xfrm>
            <a:off x="8691372" y="354787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Icon FaChevronRight 62" descr="Fa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2014" y="3658514"/>
            <a:ext cx="181051" cy="181051"/>
          </a:xfrm>
          <a:prstGeom prst="rect">
            <a:avLst/>
          </a:prstGeom>
        </p:spPr>
      </p:pic>
      <p:sp>
        <p:nvSpPr>
          <p:cNvPr id="27" name="Step card 63"/>
          <p:cNvSpPr/>
          <p:nvPr/>
        </p:nvSpPr>
        <p:spPr>
          <a:xfrm>
            <a:off x="905256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8" name="Step number 64"/>
          <p:cNvSpPr txBox="1"/>
          <p:nvPr/>
        </p:nvSpPr>
        <p:spPr>
          <a:xfrm>
            <a:off x="932688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29" name="Icon circle 65"/>
          <p:cNvSpPr/>
          <p:nvPr/>
        </p:nvSpPr>
        <p:spPr>
          <a:xfrm>
            <a:off x="10515600" y="20116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 FaTrophy 66" descr="Fa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09910" y="2205990"/>
            <a:ext cx="388620" cy="388620"/>
          </a:xfrm>
          <a:prstGeom prst="rect">
            <a:avLst/>
          </a:prstGeom>
        </p:spPr>
      </p:pic>
      <p:sp>
        <p:nvSpPr>
          <p:cNvPr id="31" name="Step head 67"/>
          <p:cNvSpPr txBox="1"/>
          <p:nvPr/>
        </p:nvSpPr>
        <p:spPr>
          <a:xfrm>
            <a:off x="932688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Acumulas Puntos.</a:t>
            </a:r>
            <a:endParaRPr lang="en-US" sz="2200" dirty="0"/>
          </a:p>
        </p:txBody>
      </p:sp>
      <p:sp>
        <p:nvSpPr>
          <p:cNvPr id="32" name="Step body 68"/>
          <p:cNvSpPr txBox="1"/>
          <p:nvPr/>
        </p:nvSpPr>
        <p:spPr>
          <a:xfrm>
            <a:off x="932688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chemeClr val="tx1"/>
                </a:solidFill>
              </a:rPr>
              <a:t>Subes de nivel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chemeClr val="tx1"/>
                </a:solidFill>
              </a:rPr>
              <a:t>Beneficios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puntos</a:t>
            </a:r>
            <a:endParaRPr lang="en-US" sz="3400" dirty="0"/>
          </a:p>
        </p:txBody>
      </p:sp>
      <p:graphicFrame>
        <p:nvGraphicFramePr>
          <p:cNvPr id="6" name="Poi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Actividades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un referido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asiste a eventos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agenda entrevista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inicia admisión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se inscribe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Participar en eventos promocionales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Participar en ferias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Grabar testimonios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Invitar a 5 prospectos a un evento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Bonus card"/>
          <p:cNvSpPr/>
          <p:nvPr/>
        </p:nvSpPr>
        <p:spPr>
          <a:xfrm>
            <a:off x="7635240" y="1554480"/>
            <a:ext cx="4007815" cy="4297680"/>
          </a:xfrm>
          <a:prstGeom prst="roundRect">
            <a:avLst>
              <a:gd name="adj" fmla="val 342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5" name="Icon circle 69"/>
          <p:cNvSpPr/>
          <p:nvPr/>
        </p:nvSpPr>
        <p:spPr>
          <a:xfrm>
            <a:off x="7955280" y="1783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 FaMoneyBillWave 70" descr="FaMoneyBillW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0" y="1943100"/>
            <a:ext cx="320040" cy="320040"/>
          </a:xfrm>
          <a:prstGeom prst="rect">
            <a:avLst/>
          </a:prstGeom>
        </p:spPr>
      </p:pic>
      <p:sp>
        <p:nvSpPr>
          <p:cNvPr id="7" name="Bonus label"/>
          <p:cNvSpPr txBox="1"/>
          <p:nvPr/>
        </p:nvSpPr>
        <p:spPr>
          <a:xfrm>
            <a:off x="8732520" y="178308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BONO ECONÓMICO</a:t>
            </a:r>
            <a:endParaRPr lang="en-US" sz="1700" dirty="0"/>
          </a:p>
        </p:txBody>
      </p:sp>
      <p:sp>
        <p:nvSpPr>
          <p:cNvPr id="8" name="Bonus amount 71"/>
          <p:cNvSpPr txBox="1"/>
          <p:nvPr/>
        </p:nvSpPr>
        <p:spPr>
          <a:xfrm>
            <a:off x="79552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$2,000</a:t>
            </a:r>
            <a:endParaRPr lang="en-US" sz="3200" dirty="0"/>
          </a:p>
        </p:txBody>
      </p:sp>
      <p:sp>
        <p:nvSpPr>
          <p:cNvPr id="9" name="Bonus label 72"/>
          <p:cNvSpPr txBox="1"/>
          <p:nvPr/>
        </p:nvSpPr>
        <p:spPr>
          <a:xfrm>
            <a:off x="9829800" y="269748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 invitado inscrito</a:t>
            </a:r>
            <a:endParaRPr lang="en-US" sz="1500" dirty="0"/>
          </a:p>
        </p:txBody>
      </p:sp>
      <p:sp>
        <p:nvSpPr>
          <p:cNvPr id="10" name="Divider 73"/>
          <p:cNvSpPr/>
          <p:nvPr/>
        </p:nvSpPr>
        <p:spPr>
          <a:xfrm>
            <a:off x="7955280" y="3474720"/>
            <a:ext cx="3367735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Bonus amount 74"/>
          <p:cNvSpPr txBox="1"/>
          <p:nvPr/>
        </p:nvSpPr>
        <p:spPr>
          <a:xfrm>
            <a:off x="795528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$3,500</a:t>
            </a:r>
            <a:endParaRPr lang="en-US" sz="3200" dirty="0"/>
          </a:p>
        </p:txBody>
      </p:sp>
      <p:sp>
        <p:nvSpPr>
          <p:cNvPr id="12" name="Bonus label 75"/>
          <p:cNvSpPr txBox="1"/>
          <p:nvPr/>
        </p:nvSpPr>
        <p:spPr>
          <a:xfrm>
            <a:off x="9829800" y="37033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2 invitados inscritos</a:t>
            </a:r>
            <a:endParaRPr lang="en-US" sz="1500" dirty="0"/>
          </a:p>
        </p:txBody>
      </p:sp>
      <p:sp>
        <p:nvSpPr>
          <p:cNvPr id="13" name="Divider 76"/>
          <p:cNvSpPr/>
          <p:nvPr/>
        </p:nvSpPr>
        <p:spPr>
          <a:xfrm>
            <a:off x="7955280" y="4480560"/>
            <a:ext cx="3367735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Bonus amount 77"/>
          <p:cNvSpPr txBox="1"/>
          <p:nvPr/>
        </p:nvSpPr>
        <p:spPr>
          <a:xfrm>
            <a:off x="7955280" y="4709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$5,000</a:t>
            </a:r>
            <a:endParaRPr lang="en-US" sz="3200" dirty="0"/>
          </a:p>
        </p:txBody>
      </p:sp>
      <p:sp>
        <p:nvSpPr>
          <p:cNvPr id="15" name="Bonus label 78"/>
          <p:cNvSpPr txBox="1"/>
          <p:nvPr/>
        </p:nvSpPr>
        <p:spPr>
          <a:xfrm>
            <a:off x="9829800" y="470916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3 invitados inscritos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embajador</a:t>
            </a:r>
            <a:endParaRPr lang="en-US" sz="3400" dirty="0"/>
          </a:p>
        </p:txBody>
      </p:sp>
      <p:sp>
        <p:nvSpPr>
          <p:cNvPr id="3" name="Subtitle 79"/>
          <p:cNvSpPr txBox="1"/>
          <p:nvPr/>
        </p:nvSpPr>
        <p:spPr>
          <a:xfrm>
            <a:off x="548640" y="13258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El verdadero valor del programa es el siguiente recorrido:</a:t>
            </a:r>
            <a:endParaRPr lang="en-US" sz="1800" dirty="0"/>
          </a:p>
        </p:txBody>
      </p:sp>
      <p:pic>
        <p:nvPicPr>
          <p:cNvPr id="4" name="Paw print 80" descr="Huella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 rot="9000000">
            <a:off x="1883664" y="3867912"/>
            <a:ext cx="347472" cy="308643"/>
          </a:xfrm>
          <a:prstGeom prst="rect">
            <a:avLst/>
          </a:prstGeom>
        </p:spPr>
      </p:pic>
      <p:pic>
        <p:nvPicPr>
          <p:cNvPr id="5" name="Paw print 81" descr="Huella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 rot="1800000">
            <a:off x="3529584" y="3867912"/>
            <a:ext cx="347472" cy="308643"/>
          </a:xfrm>
          <a:prstGeom prst="rect">
            <a:avLst/>
          </a:prstGeom>
        </p:spPr>
      </p:pic>
      <p:pic>
        <p:nvPicPr>
          <p:cNvPr id="6" name="Paw print 82" descr="Huella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 rot="9000000">
            <a:off x="5175504" y="3867912"/>
            <a:ext cx="347472" cy="308643"/>
          </a:xfrm>
          <a:prstGeom prst="rect">
            <a:avLst/>
          </a:prstGeom>
        </p:spPr>
      </p:pic>
      <p:pic>
        <p:nvPicPr>
          <p:cNvPr id="7" name="Paw print 83" descr="Huella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 rot="1800000">
            <a:off x="6821424" y="3867912"/>
            <a:ext cx="347472" cy="308643"/>
          </a:xfrm>
          <a:prstGeom prst="rect">
            <a:avLst/>
          </a:prstGeom>
        </p:spPr>
      </p:pic>
      <p:pic>
        <p:nvPicPr>
          <p:cNvPr id="8" name="Paw print 84" descr="Huella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 rot="9000000">
            <a:off x="8467344" y="3867912"/>
            <a:ext cx="347472" cy="308643"/>
          </a:xfrm>
          <a:prstGeom prst="rect">
            <a:avLst/>
          </a:prstGeom>
        </p:spPr>
      </p:pic>
      <p:pic>
        <p:nvPicPr>
          <p:cNvPr id="9" name="Paw print 85" descr="Huella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rot="1800000">
            <a:off x="10113264" y="3867912"/>
            <a:ext cx="347472" cy="308643"/>
          </a:xfrm>
          <a:prstGeom prst="rect">
            <a:avLst/>
          </a:prstGeom>
        </p:spPr>
      </p:pic>
      <p:sp>
        <p:nvSpPr>
          <p:cNvPr id="10" name="Journey node 86"/>
          <p:cNvSpPr/>
          <p:nvPr/>
        </p:nvSpPr>
        <p:spPr>
          <a:xfrm>
            <a:off x="594360" y="2560320"/>
            <a:ext cx="1280160" cy="1280160"/>
          </a:xfrm>
          <a:prstGeom prst="ellipse">
            <a:avLst/>
          </a:prstGeom>
          <a:solidFill>
            <a:schemeClr val="tx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1" name="Journey icon 87" descr="Alumn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404" y="2912364"/>
            <a:ext cx="576072" cy="576072"/>
          </a:xfrm>
          <a:prstGeom prst="rect">
            <a:avLst/>
          </a:prstGeom>
        </p:spPr>
      </p:pic>
      <p:sp>
        <p:nvSpPr>
          <p:cNvPr id="12" name="Journey label 88"/>
          <p:cNvSpPr txBox="1"/>
          <p:nvPr/>
        </p:nvSpPr>
        <p:spPr>
          <a:xfrm>
            <a:off x="36576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Alumno</a:t>
            </a:r>
            <a:endParaRPr lang="en-US" sz="1600" dirty="0"/>
          </a:p>
        </p:txBody>
      </p:sp>
      <p:sp>
        <p:nvSpPr>
          <p:cNvPr id="13" name="Journey step 89"/>
          <p:cNvSpPr txBox="1"/>
          <p:nvPr/>
        </p:nvSpPr>
        <p:spPr>
          <a:xfrm>
            <a:off x="152704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Journey node 90"/>
          <p:cNvSpPr/>
          <p:nvPr/>
        </p:nvSpPr>
        <p:spPr>
          <a:xfrm>
            <a:off x="2240280" y="420624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5" name="Journey icon 91" descr="Compar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2324" y="4558284"/>
            <a:ext cx="576072" cy="576072"/>
          </a:xfrm>
          <a:prstGeom prst="rect">
            <a:avLst/>
          </a:prstGeom>
        </p:spPr>
      </p:pic>
      <p:sp>
        <p:nvSpPr>
          <p:cNvPr id="16" name="Journey label 92"/>
          <p:cNvSpPr txBox="1"/>
          <p:nvPr/>
        </p:nvSpPr>
        <p:spPr>
          <a:xfrm>
            <a:off x="2011680" y="5596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Comparte</a:t>
            </a:r>
            <a:endParaRPr lang="en-US" sz="1600" dirty="0"/>
          </a:p>
        </p:txBody>
      </p:sp>
      <p:sp>
        <p:nvSpPr>
          <p:cNvPr id="17" name="Journey step 93"/>
          <p:cNvSpPr txBox="1"/>
          <p:nvPr/>
        </p:nvSpPr>
        <p:spPr>
          <a:xfrm>
            <a:off x="3172968" y="41330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Journey node 94"/>
          <p:cNvSpPr/>
          <p:nvPr/>
        </p:nvSpPr>
        <p:spPr>
          <a:xfrm>
            <a:off x="3886200" y="256032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9" name="Journey icon 95" descr="Prospect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8244" y="2912364"/>
            <a:ext cx="576072" cy="576072"/>
          </a:xfrm>
          <a:prstGeom prst="rect">
            <a:avLst/>
          </a:prstGeom>
        </p:spPr>
      </p:pic>
      <p:sp>
        <p:nvSpPr>
          <p:cNvPr id="20" name="Journey label 96"/>
          <p:cNvSpPr txBox="1"/>
          <p:nvPr/>
        </p:nvSpPr>
        <p:spPr>
          <a:xfrm>
            <a:off x="365760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Prospectos</a:t>
            </a:r>
            <a:endParaRPr lang="en-US" sz="1600" dirty="0"/>
          </a:p>
        </p:txBody>
      </p:sp>
      <p:sp>
        <p:nvSpPr>
          <p:cNvPr id="21" name="Journey step 97"/>
          <p:cNvSpPr txBox="1"/>
          <p:nvPr/>
        </p:nvSpPr>
        <p:spPr>
          <a:xfrm>
            <a:off x="481888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Journey node 98"/>
          <p:cNvSpPr/>
          <p:nvPr/>
        </p:nvSpPr>
        <p:spPr>
          <a:xfrm>
            <a:off x="5532120" y="420624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23" name="Journey icon 99" descr="Evento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4164" y="4558284"/>
            <a:ext cx="576072" cy="576072"/>
          </a:xfrm>
          <a:prstGeom prst="rect">
            <a:avLst/>
          </a:prstGeom>
        </p:spPr>
      </p:pic>
      <p:sp>
        <p:nvSpPr>
          <p:cNvPr id="24" name="Journey label 100"/>
          <p:cNvSpPr txBox="1"/>
          <p:nvPr/>
        </p:nvSpPr>
        <p:spPr>
          <a:xfrm>
            <a:off x="5303520" y="5596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Eventos</a:t>
            </a:r>
            <a:endParaRPr lang="en-US" sz="1600" dirty="0"/>
          </a:p>
        </p:txBody>
      </p:sp>
      <p:sp>
        <p:nvSpPr>
          <p:cNvPr id="25" name="Journey step 101"/>
          <p:cNvSpPr txBox="1"/>
          <p:nvPr/>
        </p:nvSpPr>
        <p:spPr>
          <a:xfrm>
            <a:off x="6464808" y="41330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Journey node 102"/>
          <p:cNvSpPr/>
          <p:nvPr/>
        </p:nvSpPr>
        <p:spPr>
          <a:xfrm>
            <a:off x="7178040" y="256032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27" name="Journey icon 103" descr="Aseso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30084" y="2912364"/>
            <a:ext cx="576072" cy="576072"/>
          </a:xfrm>
          <a:prstGeom prst="rect">
            <a:avLst/>
          </a:prstGeom>
        </p:spPr>
      </p:pic>
      <p:sp>
        <p:nvSpPr>
          <p:cNvPr id="28" name="Journey label 104"/>
          <p:cNvSpPr txBox="1"/>
          <p:nvPr/>
        </p:nvSpPr>
        <p:spPr>
          <a:xfrm>
            <a:off x="694944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</a:t>
            </a:r>
            <a:endParaRPr lang="en-US" sz="1600" dirty="0"/>
          </a:p>
        </p:txBody>
      </p:sp>
      <p:sp>
        <p:nvSpPr>
          <p:cNvPr id="29" name="Journey step 105"/>
          <p:cNvSpPr txBox="1"/>
          <p:nvPr/>
        </p:nvSpPr>
        <p:spPr>
          <a:xfrm>
            <a:off x="811072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0" name="Journey node 106"/>
          <p:cNvSpPr/>
          <p:nvPr/>
        </p:nvSpPr>
        <p:spPr>
          <a:xfrm>
            <a:off x="8823960" y="420624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31" name="Journey icon 107" descr="Inscripció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6004" y="4558284"/>
            <a:ext cx="576072" cy="576072"/>
          </a:xfrm>
          <a:prstGeom prst="rect">
            <a:avLst/>
          </a:prstGeom>
        </p:spPr>
      </p:pic>
      <p:sp>
        <p:nvSpPr>
          <p:cNvPr id="32" name="Journey label 108"/>
          <p:cNvSpPr txBox="1"/>
          <p:nvPr/>
        </p:nvSpPr>
        <p:spPr>
          <a:xfrm>
            <a:off x="8595360" y="5596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Inscripción</a:t>
            </a:r>
            <a:endParaRPr lang="en-US" sz="1600" dirty="0"/>
          </a:p>
        </p:txBody>
      </p:sp>
      <p:sp>
        <p:nvSpPr>
          <p:cNvPr id="33" name="Journey step 109"/>
          <p:cNvSpPr txBox="1"/>
          <p:nvPr/>
        </p:nvSpPr>
        <p:spPr>
          <a:xfrm>
            <a:off x="9756648" y="41330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Journey node 110"/>
          <p:cNvSpPr/>
          <p:nvPr/>
        </p:nvSpPr>
        <p:spPr>
          <a:xfrm>
            <a:off x="10469880" y="2560320"/>
            <a:ext cx="1280160" cy="1280160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35" name="Journey icon 111" descr="Recompensa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1924" y="2912364"/>
            <a:ext cx="576072" cy="576072"/>
          </a:xfrm>
          <a:prstGeom prst="rect">
            <a:avLst/>
          </a:prstGeom>
        </p:spPr>
      </p:pic>
      <p:sp>
        <p:nvSpPr>
          <p:cNvPr id="36" name="Journey label 112"/>
          <p:cNvSpPr txBox="1"/>
          <p:nvPr/>
        </p:nvSpPr>
        <p:spPr>
          <a:xfrm>
            <a:off x="1024128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Recompensa</a:t>
            </a:r>
            <a:endParaRPr lang="en-US" sz="1600" dirty="0"/>
          </a:p>
        </p:txBody>
      </p:sp>
      <p:sp>
        <p:nvSpPr>
          <p:cNvPr id="37" name="Journey step 113"/>
          <p:cNvSpPr txBox="1"/>
          <p:nvPr/>
        </p:nvSpPr>
        <p:spPr>
          <a:xfrm>
            <a:off x="1140256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Niveles de embajador</a:t>
            </a:r>
            <a:endParaRPr lang="en-US" sz="3400" dirty="0"/>
          </a:p>
        </p:txBody>
      </p:sp>
      <p:sp>
        <p:nvSpPr>
          <p:cNvPr id="3" name="Level card 114"/>
          <p:cNvSpPr/>
          <p:nvPr/>
        </p:nvSpPr>
        <p:spPr>
          <a:xfrm>
            <a:off x="548640" y="3017520"/>
            <a:ext cx="3511296" cy="30175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4" name="Icon circle 115"/>
          <p:cNvSpPr/>
          <p:nvPr/>
        </p:nvSpPr>
        <p:spPr>
          <a:xfrm>
            <a:off x="822960" y="3291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FaSeedling 116" descr="FaSeed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3451860"/>
            <a:ext cx="320040" cy="320040"/>
          </a:xfrm>
          <a:prstGeom prst="rect">
            <a:avLst/>
          </a:prstGeom>
        </p:spPr>
      </p:pic>
      <p:sp>
        <p:nvSpPr>
          <p:cNvPr id="6" name="Level points 117"/>
          <p:cNvSpPr txBox="1"/>
          <p:nvPr/>
        </p:nvSpPr>
        <p:spPr>
          <a:xfrm>
            <a:off x="1600200" y="3264408"/>
            <a:ext cx="2276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pPr algn="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18"/>
          <p:cNvSpPr txBox="1"/>
          <p:nvPr/>
        </p:nvSpPr>
        <p:spPr>
          <a:xfrm>
            <a:off x="822960" y="40690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 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1300" dirty="0"/>
          </a:p>
        </p:txBody>
      </p:sp>
      <p:sp>
        <p:nvSpPr>
          <p:cNvPr id="8" name="Level items 119"/>
          <p:cNvSpPr txBox="1"/>
          <p:nvPr/>
        </p:nvSpPr>
        <p:spPr>
          <a:xfrm>
            <a:off x="822960" y="4937760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Credencial digital.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Reconocimiento.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Acceso a actividades especiales.</a:t>
            </a:r>
            <a:endParaRPr lang="en-US" sz="1400" dirty="0"/>
          </a:p>
        </p:txBody>
      </p:sp>
      <p:sp>
        <p:nvSpPr>
          <p:cNvPr id="9" name="Level card 120"/>
          <p:cNvSpPr/>
          <p:nvPr/>
        </p:nvSpPr>
        <p:spPr>
          <a:xfrm>
            <a:off x="4361688" y="2286000"/>
            <a:ext cx="3511296" cy="3749040"/>
          </a:xfrm>
          <a:prstGeom prst="roundRect">
            <a:avLst>
              <a:gd name="adj" fmla="val 3906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10" name="Icon circle 121"/>
          <p:cNvSpPr/>
          <p:nvPr/>
        </p:nvSpPr>
        <p:spPr>
          <a:xfrm>
            <a:off x="4636008" y="256032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Icon FaMedal 122" descr="Fa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720340"/>
            <a:ext cx="320040" cy="320040"/>
          </a:xfrm>
          <a:prstGeom prst="rect">
            <a:avLst/>
          </a:prstGeom>
        </p:spPr>
      </p:pic>
      <p:sp>
        <p:nvSpPr>
          <p:cNvPr id="12" name="Level points 123"/>
          <p:cNvSpPr txBox="1"/>
          <p:nvPr/>
        </p:nvSpPr>
        <p:spPr>
          <a:xfrm>
            <a:off x="5413248" y="2532888"/>
            <a:ext cx="2276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pPr algn="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puntos</a:t>
            </a:r>
            <a:endParaRPr lang="en-US" sz="3400" dirty="0"/>
          </a:p>
        </p:txBody>
      </p:sp>
      <p:sp>
        <p:nvSpPr>
          <p:cNvPr id="13" name="Level name 124"/>
          <p:cNvSpPr txBox="1"/>
          <p:nvPr/>
        </p:nvSpPr>
        <p:spPr>
          <a:xfrm>
            <a:off x="4636008" y="333756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 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</a:t>
            </a:r>
            <a:endParaRPr lang="en-US" sz="1300" dirty="0"/>
          </a:p>
        </p:txBody>
      </p:sp>
      <p:sp>
        <p:nvSpPr>
          <p:cNvPr id="14" name="Level items 125"/>
          <p:cNvSpPr txBox="1"/>
          <p:nvPr/>
        </p:nvSpPr>
        <p:spPr>
          <a:xfrm>
            <a:off x="4636008" y="4206240"/>
            <a:ext cx="305409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Todo lo anterior.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Reconocimiento.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Acceso a actividades especiales.</a:t>
            </a:r>
            <a:endParaRPr lang="en-US" sz="1400" dirty="0"/>
          </a:p>
        </p:txBody>
      </p:sp>
      <p:sp>
        <p:nvSpPr>
          <p:cNvPr id="15" name="Level card 126"/>
          <p:cNvSpPr/>
          <p:nvPr/>
        </p:nvSpPr>
        <p:spPr>
          <a:xfrm>
            <a:off x="8174736" y="1554480"/>
            <a:ext cx="3511296" cy="4480560"/>
          </a:xfrm>
          <a:prstGeom prst="roundRect">
            <a:avLst>
              <a:gd name="adj" fmla="val 39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16" name="Icon circle 127"/>
          <p:cNvSpPr/>
          <p:nvPr/>
        </p:nvSpPr>
        <p:spPr>
          <a:xfrm>
            <a:off x="8449056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con FaCrown 128" descr="Fa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076" y="1988820"/>
            <a:ext cx="320040" cy="320040"/>
          </a:xfrm>
          <a:prstGeom prst="rect">
            <a:avLst/>
          </a:prstGeom>
        </p:spPr>
      </p:pic>
      <p:sp>
        <p:nvSpPr>
          <p:cNvPr id="18" name="Level points 129"/>
          <p:cNvSpPr txBox="1"/>
          <p:nvPr/>
        </p:nvSpPr>
        <p:spPr>
          <a:xfrm>
            <a:off x="9226296" y="1801368"/>
            <a:ext cx="2276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pPr algn="r"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puntos</a:t>
            </a:r>
            <a:endParaRPr lang="en-US" sz="3400" dirty="0"/>
          </a:p>
        </p:txBody>
      </p:sp>
      <p:sp>
        <p:nvSpPr>
          <p:cNvPr id="19" name="Level name 130"/>
          <p:cNvSpPr txBox="1"/>
          <p:nvPr/>
        </p:nvSpPr>
        <p:spPr>
          <a:xfrm>
            <a:off x="8449056" y="260604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 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ÉLITE</a:t>
            </a:r>
            <a:endParaRPr lang="en-US" sz="1300" dirty="0"/>
          </a:p>
        </p:txBody>
      </p:sp>
      <p:sp>
        <p:nvSpPr>
          <p:cNvPr id="20" name="Level items 131"/>
          <p:cNvSpPr txBox="1"/>
          <p:nvPr/>
        </p:nvSpPr>
        <p:spPr>
          <a:xfrm>
            <a:off x="8449056" y="3474720"/>
            <a:ext cx="30540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Todo lo anterior.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Experiencias especiales con autoridades.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Participación en campañas institucionales.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Reconocimiento como embajador del semestre.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del embajador</a:t>
            </a:r>
            <a:endParaRPr lang="en-US" sz="3400" dirty="0"/>
          </a:p>
        </p:txBody>
      </p:sp>
      <p:sp>
        <p:nvSpPr>
          <p:cNvPr id="3" name="Subtitle 132"/>
          <p:cNvSpPr txBox="1"/>
          <p:nvPr/>
        </p:nvSpPr>
        <p:spPr>
          <a:xfrm>
            <a:off x="548640" y="13258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Te damos todas las herramientas para compartir Westhill de forma fácil y auténtica</a:t>
            </a:r>
            <a:endParaRPr lang="en-US" sz="1800" dirty="0"/>
          </a:p>
        </p:txBody>
      </p:sp>
      <p:sp>
        <p:nvSpPr>
          <p:cNvPr id="4" name="Kit tile 133"/>
          <p:cNvSpPr/>
          <p:nvPr/>
        </p:nvSpPr>
        <p:spPr>
          <a:xfrm>
            <a:off x="548640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5" name="Icon circle 134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 FaQrcode 135" descr="FaQr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503170"/>
            <a:ext cx="342900" cy="342900"/>
          </a:xfrm>
          <a:prstGeom prst="rect">
            <a:avLst/>
          </a:prstGeom>
        </p:spPr>
      </p:pic>
      <p:sp>
        <p:nvSpPr>
          <p:cNvPr id="7" name="Kit label 136"/>
          <p:cNvSpPr txBox="1"/>
          <p:nvPr/>
        </p:nvSpPr>
        <p:spPr>
          <a:xfrm>
            <a:off x="822960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Código QR personalizado.</a:t>
            </a:r>
            <a:endParaRPr lang="en-US" sz="1600" dirty="0"/>
          </a:p>
        </p:txBody>
      </p:sp>
      <p:sp>
        <p:nvSpPr>
          <p:cNvPr id="8" name="Kit tile 137"/>
          <p:cNvSpPr/>
          <p:nvPr/>
        </p:nvSpPr>
        <p:spPr>
          <a:xfrm>
            <a:off x="3401568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Icon circle 138"/>
          <p:cNvSpPr/>
          <p:nvPr/>
        </p:nvSpPr>
        <p:spPr>
          <a:xfrm>
            <a:off x="3675888" y="23317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FaWhatsapp 139" descr="FaWhatsap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338" y="2503170"/>
            <a:ext cx="342900" cy="342900"/>
          </a:xfrm>
          <a:prstGeom prst="rect">
            <a:avLst/>
          </a:prstGeom>
        </p:spPr>
      </p:pic>
      <p:sp>
        <p:nvSpPr>
          <p:cNvPr id="11" name="Kit label 140"/>
          <p:cNvSpPr txBox="1"/>
          <p:nvPr/>
        </p:nvSpPr>
        <p:spPr>
          <a:xfrm>
            <a:off x="3675888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Imágenes para WhatsApp</a:t>
            </a:r>
            <a:endParaRPr lang="en-US" sz="1600" dirty="0"/>
          </a:p>
        </p:txBody>
      </p:sp>
      <p:sp>
        <p:nvSpPr>
          <p:cNvPr id="12" name="Kit tile 141"/>
          <p:cNvSpPr/>
          <p:nvPr/>
        </p:nvSpPr>
        <p:spPr>
          <a:xfrm>
            <a:off x="6254496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3" name="Icon circle 142"/>
          <p:cNvSpPr/>
          <p:nvPr/>
        </p:nvSpPr>
        <p:spPr>
          <a:xfrm>
            <a:off x="6528816" y="23317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FaInstagram 143" descr="FaInsta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0266" y="2503170"/>
            <a:ext cx="342900" cy="342900"/>
          </a:xfrm>
          <a:prstGeom prst="rect">
            <a:avLst/>
          </a:prstGeom>
        </p:spPr>
      </p:pic>
      <p:sp>
        <p:nvSpPr>
          <p:cNvPr id="15" name="Kit label 144"/>
          <p:cNvSpPr txBox="1"/>
          <p:nvPr/>
        </p:nvSpPr>
        <p:spPr>
          <a:xfrm>
            <a:off x="6528816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Historias de Instagram</a:t>
            </a:r>
            <a:endParaRPr lang="en-US" sz="1600" dirty="0"/>
          </a:p>
        </p:txBody>
      </p:sp>
      <p:sp>
        <p:nvSpPr>
          <p:cNvPr id="16" name="Kit tile 145"/>
          <p:cNvSpPr/>
          <p:nvPr/>
        </p:nvSpPr>
        <p:spPr>
          <a:xfrm>
            <a:off x="9107424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con circle 146"/>
          <p:cNvSpPr/>
          <p:nvPr/>
        </p:nvSpPr>
        <p:spPr>
          <a:xfrm>
            <a:off x="9381744" y="23317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 FaVideo 147" descr="FaVide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3194" y="2503170"/>
            <a:ext cx="342900" cy="342900"/>
          </a:xfrm>
          <a:prstGeom prst="rect">
            <a:avLst/>
          </a:prstGeom>
        </p:spPr>
      </p:pic>
      <p:sp>
        <p:nvSpPr>
          <p:cNvPr id="19" name="Kit label 148"/>
          <p:cNvSpPr txBox="1"/>
          <p:nvPr/>
        </p:nvSpPr>
        <p:spPr>
          <a:xfrm>
            <a:off x="9381744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Videos cortos</a:t>
            </a:r>
            <a:endParaRPr lang="en-US" sz="1600" dirty="0"/>
          </a:p>
        </p:txBody>
      </p:sp>
      <p:sp>
        <p:nvSpPr>
          <p:cNvPr id="20" name="Kit tile 149"/>
          <p:cNvSpPr/>
          <p:nvPr/>
        </p:nvSpPr>
        <p:spPr>
          <a:xfrm>
            <a:off x="548640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1" name="Icon circle 150"/>
          <p:cNvSpPr/>
          <p:nvPr/>
        </p:nvSpPr>
        <p:spPr>
          <a:xfrm>
            <a:off x="822960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 FaEnvelopeOpenText 151" descr="FaEnvelopeOpenTex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" y="4670298"/>
            <a:ext cx="342900" cy="342900"/>
          </a:xfrm>
          <a:prstGeom prst="rect">
            <a:avLst/>
          </a:prstGeom>
        </p:spPr>
      </p:pic>
      <p:sp>
        <p:nvSpPr>
          <p:cNvPr id="23" name="Kit label 152"/>
          <p:cNvSpPr txBox="1"/>
          <p:nvPr/>
        </p:nvSpPr>
        <p:spPr>
          <a:xfrm>
            <a:off x="822960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Invitaciones a eventos</a:t>
            </a:r>
            <a:endParaRPr lang="en-US" sz="1600" dirty="0"/>
          </a:p>
        </p:txBody>
      </p:sp>
      <p:sp>
        <p:nvSpPr>
          <p:cNvPr id="24" name="Kit tile 153"/>
          <p:cNvSpPr/>
          <p:nvPr/>
        </p:nvSpPr>
        <p:spPr>
          <a:xfrm>
            <a:off x="3401568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5" name="Icon circle 154"/>
          <p:cNvSpPr/>
          <p:nvPr/>
        </p:nvSpPr>
        <p:spPr>
          <a:xfrm>
            <a:off x="3675888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 FaBookOpen 155" descr="FaBook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7338" y="4670298"/>
            <a:ext cx="342900" cy="342900"/>
          </a:xfrm>
          <a:prstGeom prst="rect">
            <a:avLst/>
          </a:prstGeom>
        </p:spPr>
      </p:pic>
      <p:sp>
        <p:nvSpPr>
          <p:cNvPr id="27" name="Kit label 156"/>
          <p:cNvSpPr txBox="1"/>
          <p:nvPr/>
        </p:nvSpPr>
        <p:spPr>
          <a:xfrm>
            <a:off x="3675888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Información de las licenciaturas</a:t>
            </a:r>
            <a:endParaRPr lang="en-US" sz="1600" dirty="0"/>
          </a:p>
        </p:txBody>
      </p:sp>
      <p:sp>
        <p:nvSpPr>
          <p:cNvPr id="28" name="Kit tile 157"/>
          <p:cNvSpPr/>
          <p:nvPr/>
        </p:nvSpPr>
        <p:spPr>
          <a:xfrm>
            <a:off x="6254496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9" name="Icon circle 158"/>
          <p:cNvSpPr/>
          <p:nvPr/>
        </p:nvSpPr>
        <p:spPr>
          <a:xfrm>
            <a:off x="6528816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 FaCommentDots 159" descr="FaCommentDo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0266" y="4670298"/>
            <a:ext cx="342900" cy="342900"/>
          </a:xfrm>
          <a:prstGeom prst="rect">
            <a:avLst/>
          </a:prstGeom>
        </p:spPr>
      </p:pic>
      <p:sp>
        <p:nvSpPr>
          <p:cNvPr id="31" name="Kit label 160"/>
          <p:cNvSpPr txBox="1"/>
          <p:nvPr/>
        </p:nvSpPr>
        <p:spPr>
          <a:xfrm>
            <a:off x="6528816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Mensajes sugeridos</a:t>
            </a:r>
            <a:endParaRPr lang="en-US" sz="1600" dirty="0"/>
          </a:p>
        </p:txBody>
      </p:sp>
      <p:sp>
        <p:nvSpPr>
          <p:cNvPr id="32" name="Kit tile 161"/>
          <p:cNvSpPr/>
          <p:nvPr/>
        </p:nvSpPr>
        <p:spPr>
          <a:xfrm>
            <a:off x="9107424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3" name="Icon circle 162"/>
          <p:cNvSpPr/>
          <p:nvPr/>
        </p:nvSpPr>
        <p:spPr>
          <a:xfrm>
            <a:off x="9381744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 FaCalendarDays 163" descr="FaCalendarDay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3194" y="4670298"/>
            <a:ext cx="342900" cy="342900"/>
          </a:xfrm>
          <a:prstGeom prst="rect">
            <a:avLst/>
          </a:prstGeom>
        </p:spPr>
      </p:pic>
      <p:sp>
        <p:nvSpPr>
          <p:cNvPr id="35" name="Kit label 164"/>
          <p:cNvSpPr txBox="1"/>
          <p:nvPr/>
        </p:nvSpPr>
        <p:spPr>
          <a:xfrm>
            <a:off x="9381744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Calendarios de eventos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Reconocimientos</a:t>
            </a:r>
            <a:endParaRPr lang="en-US" sz="3400" dirty="0"/>
          </a:p>
        </p:txBody>
      </p:sp>
      <p:sp>
        <p:nvSpPr>
          <p:cNvPr id="3" name="Recognition card 165"/>
          <p:cNvSpPr/>
          <p:nvPr/>
        </p:nvSpPr>
        <p:spPr>
          <a:xfrm>
            <a:off x="548640" y="1554480"/>
            <a:ext cx="5396332" cy="4480560"/>
          </a:xfrm>
          <a:prstGeom prst="roundRect">
            <a:avLst>
              <a:gd name="adj" fmla="val 3061"/>
            </a:avLst>
          </a:prstGeom>
          <a:solidFill>
            <a:schemeClr val="bg2"/>
          </a:solidFill>
          <a:ln/>
        </p:spPr>
      </p:sp>
      <p:sp>
        <p:nvSpPr>
          <p:cNvPr id="4" name="Icon circle 166"/>
          <p:cNvSpPr/>
          <p:nvPr/>
        </p:nvSpPr>
        <p:spPr>
          <a:xfrm>
            <a:off x="960120" y="196596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FaStar 167" descr="Fa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228850"/>
            <a:ext cx="525780" cy="525780"/>
          </a:xfrm>
          <a:prstGeom prst="rect">
            <a:avLst/>
          </a:prstGeom>
        </p:spPr>
      </p:pic>
      <p:sp>
        <p:nvSpPr>
          <p:cNvPr id="6" name="Recognition title 168"/>
          <p:cNvSpPr txBox="1"/>
          <p:nvPr/>
        </p:nvSpPr>
        <p:spPr>
          <a:xfrm>
            <a:off x="2240280" y="196596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MES</a:t>
            </a:r>
            <a:endParaRPr lang="en-US" sz="1400" dirty="0"/>
          </a:p>
        </p:txBody>
      </p:sp>
      <p:sp>
        <p:nvSpPr>
          <p:cNvPr id="7" name="Icon circle 169"/>
          <p:cNvSpPr/>
          <p:nvPr/>
        </p:nvSpPr>
        <p:spPr>
          <a:xfrm>
            <a:off x="960120" y="34290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8" name="Icon FaBullhorn 170" descr="FaBullhor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566160"/>
            <a:ext cx="274320" cy="274320"/>
          </a:xfrm>
          <a:prstGeom prst="rect">
            <a:avLst/>
          </a:prstGeom>
        </p:spPr>
      </p:pic>
      <p:sp>
        <p:nvSpPr>
          <p:cNvPr id="9" name="Recognition item 171"/>
          <p:cNvSpPr txBox="1"/>
          <p:nvPr/>
        </p:nvSpPr>
        <p:spPr>
          <a:xfrm>
            <a:off x="1691640" y="338328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Reconocimiento en redes institucionales.</a:t>
            </a:r>
            <a:endParaRPr lang="en-US" sz="1600" dirty="0"/>
          </a:p>
        </p:txBody>
      </p:sp>
      <p:sp>
        <p:nvSpPr>
          <p:cNvPr id="10" name="Icon circle 172"/>
          <p:cNvSpPr/>
          <p:nvPr/>
        </p:nvSpPr>
        <p:spPr>
          <a:xfrm>
            <a:off x="960120" y="425196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Icon FaInstagram 173" descr="FaInsta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389120"/>
            <a:ext cx="274320" cy="274320"/>
          </a:xfrm>
          <a:prstGeom prst="rect">
            <a:avLst/>
          </a:prstGeom>
        </p:spPr>
      </p:pic>
      <p:sp>
        <p:nvSpPr>
          <p:cNvPr id="12" name="Recognition item 174"/>
          <p:cNvSpPr txBox="1"/>
          <p:nvPr/>
        </p:nvSpPr>
        <p:spPr>
          <a:xfrm>
            <a:off x="1691640" y="420624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destacadas en Instagram.</a:t>
            </a:r>
            <a:endParaRPr lang="en-US" sz="1600" dirty="0"/>
          </a:p>
        </p:txBody>
      </p:sp>
      <p:sp>
        <p:nvSpPr>
          <p:cNvPr id="13" name="Icon circle 175"/>
          <p:cNvSpPr/>
          <p:nvPr/>
        </p:nvSpPr>
        <p:spPr>
          <a:xfrm>
            <a:off x="960120" y="507492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4" name="Icon FaMugHot 176" descr="FaMug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212080"/>
            <a:ext cx="274320" cy="274320"/>
          </a:xfrm>
          <a:prstGeom prst="rect">
            <a:avLst/>
          </a:prstGeom>
        </p:spPr>
      </p:pic>
      <p:sp>
        <p:nvSpPr>
          <p:cNvPr id="15" name="Recognition item 177"/>
          <p:cNvSpPr txBox="1"/>
          <p:nvPr/>
        </p:nvSpPr>
        <p:spPr>
          <a:xfrm>
            <a:off x="1691640" y="50292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Regalo Especial. (Un desayuno de Starbucks).</a:t>
            </a:r>
            <a:endParaRPr lang="en-US" sz="1600" dirty="0"/>
          </a:p>
        </p:txBody>
      </p:sp>
      <p:sp>
        <p:nvSpPr>
          <p:cNvPr id="16" name="Recognition card 178"/>
          <p:cNvSpPr/>
          <p:nvPr/>
        </p:nvSpPr>
        <p:spPr>
          <a:xfrm>
            <a:off x="6246724" y="1554480"/>
            <a:ext cx="5396332" cy="4480560"/>
          </a:xfrm>
          <a:prstGeom prst="roundRect">
            <a:avLst>
              <a:gd name="adj" fmla="val 306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17" name="Icon circle 179"/>
          <p:cNvSpPr/>
          <p:nvPr/>
        </p:nvSpPr>
        <p:spPr>
          <a:xfrm>
            <a:off x="6658204" y="196596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 FaTrophy 180" descr="Fa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094" y="2228850"/>
            <a:ext cx="525780" cy="525780"/>
          </a:xfrm>
          <a:prstGeom prst="rect">
            <a:avLst/>
          </a:prstGeom>
        </p:spPr>
      </p:pic>
      <p:sp>
        <p:nvSpPr>
          <p:cNvPr id="19" name="Recognition title 181"/>
          <p:cNvSpPr txBox="1"/>
          <p:nvPr/>
        </p:nvSpPr>
        <p:spPr>
          <a:xfrm>
            <a:off x="7938364" y="196596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SEMESTRE</a:t>
            </a:r>
            <a:endParaRPr lang="en-US" sz="1400" dirty="0"/>
          </a:p>
        </p:txBody>
      </p:sp>
      <p:sp>
        <p:nvSpPr>
          <p:cNvPr id="20" name="Icon circle 182"/>
          <p:cNvSpPr/>
          <p:nvPr/>
        </p:nvSpPr>
        <p:spPr>
          <a:xfrm>
            <a:off x="6658204" y="3429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con FaBullhorn 183" descr="FaBullhor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5364" y="3566160"/>
            <a:ext cx="274320" cy="274320"/>
          </a:xfrm>
          <a:prstGeom prst="rect">
            <a:avLst/>
          </a:prstGeom>
        </p:spPr>
      </p:pic>
      <p:sp>
        <p:nvSpPr>
          <p:cNvPr id="22" name="Recognition item 184"/>
          <p:cNvSpPr txBox="1"/>
          <p:nvPr/>
        </p:nvSpPr>
        <p:spPr>
          <a:xfrm>
            <a:off x="7389724" y="338328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Reconocimiento en redes institucionales.</a:t>
            </a:r>
            <a:endParaRPr lang="en-US" sz="1600" dirty="0"/>
          </a:p>
        </p:txBody>
      </p:sp>
      <p:sp>
        <p:nvSpPr>
          <p:cNvPr id="23" name="Icon circle 185"/>
          <p:cNvSpPr/>
          <p:nvPr/>
        </p:nvSpPr>
        <p:spPr>
          <a:xfrm>
            <a:off x="6658204" y="425196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con FaStar 186" descr="Fa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5364" y="4389120"/>
            <a:ext cx="274320" cy="274320"/>
          </a:xfrm>
          <a:prstGeom prst="rect">
            <a:avLst/>
          </a:prstGeom>
        </p:spPr>
      </p:pic>
      <p:sp>
        <p:nvSpPr>
          <p:cNvPr id="25" name="Recognition item 187"/>
          <p:cNvSpPr txBox="1"/>
          <p:nvPr/>
        </p:nvSpPr>
        <p:spPr>
          <a:xfrm>
            <a:off x="7389724" y="420624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Experiencia especial.</a:t>
            </a:r>
            <a:endParaRPr lang="en-US" sz="1600" dirty="0"/>
          </a:p>
        </p:txBody>
      </p:sp>
      <p:sp>
        <p:nvSpPr>
          <p:cNvPr id="26" name="Icon circle 188"/>
          <p:cNvSpPr/>
          <p:nvPr/>
        </p:nvSpPr>
        <p:spPr>
          <a:xfrm>
            <a:off x="6658204" y="50749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con FaNewspaper 189" descr="FaNewspa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5364" y="5212080"/>
            <a:ext cx="274320" cy="274320"/>
          </a:xfrm>
          <a:prstGeom prst="rect">
            <a:avLst/>
          </a:prstGeom>
        </p:spPr>
      </p:pic>
      <p:sp>
        <p:nvSpPr>
          <p:cNvPr id="28" name="Recognition item 190"/>
          <p:cNvSpPr txBox="1"/>
          <p:nvPr/>
        </p:nvSpPr>
        <p:spPr>
          <a:xfrm>
            <a:off x="7389724" y="50292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Difusión en medios.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mpus photo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sp>
        <p:nvSpPr>
          <p:cNvPr id="3" name="Photo tint"/>
          <p:cNvSpPr/>
          <p:nvPr/>
        </p:nvSpPr>
        <p:spPr>
          <a:xfrm>
            <a:off x="6705295" y="0"/>
            <a:ext cx="5486400" cy="6858000"/>
          </a:xfrm>
          <a:prstGeom prst="rect">
            <a:avLst/>
          </a:prstGeom>
          <a:solidFill>
            <a:schemeClr val="tx2">
              <a:alpha val="20000"/>
            </a:schemeClr>
          </a:solidFill>
          <a:ln/>
        </p:spPr>
      </p:sp>
      <p:pic>
        <p:nvPicPr>
          <p:cNvPr id="4" name="Logo Westhil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205" y="292608"/>
            <a:ext cx="593850" cy="713232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2" type="title" hasCustomPrompt="1"/>
          </p:nvPr>
        </p:nvSpPr>
        <p:spPr>
          <a:xfrm>
            <a:off x="548640" y="56692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 mi carrera</a:t>
            </a:r>
            <a:endParaRPr lang="en-US" sz="3400" dirty="0"/>
          </a:p>
        </p:txBody>
      </p:sp>
      <p:sp>
        <p:nvSpPr>
          <p:cNvPr id="6" name="Subtitle"/>
          <p:cNvSpPr txBox="1"/>
          <p:nvPr/>
        </p:nvSpPr>
        <p:spPr>
          <a:xfrm>
            <a:off x="548640" y="132588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Invita a un prospecto a vivir una experiencia real en tu carrera.</a:t>
            </a:r>
            <a:endParaRPr lang="en-US" sz="1800" dirty="0"/>
          </a:p>
        </p:txBody>
      </p:sp>
      <p:sp>
        <p:nvSpPr>
          <p:cNvPr id="7" name="Icon circle 191"/>
          <p:cNvSpPr/>
          <p:nvPr/>
        </p:nvSpPr>
        <p:spPr>
          <a:xfrm>
            <a:off x="548640" y="2194560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 FaChalkboardUser 192" descr="Fa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340864"/>
            <a:ext cx="292608" cy="292608"/>
          </a:xfrm>
          <a:prstGeom prst="rect">
            <a:avLst/>
          </a:prstGeom>
        </p:spPr>
      </p:pic>
      <p:sp>
        <p:nvSpPr>
          <p:cNvPr id="9" name="Vive item 193"/>
          <p:cNvSpPr txBox="1"/>
          <p:nvPr/>
        </p:nvSpPr>
        <p:spPr>
          <a:xfrm>
            <a:off x="1371600" y="219456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Asiste a una clase.</a:t>
            </a:r>
            <a:endParaRPr lang="en-US" sz="1800" dirty="0"/>
          </a:p>
        </p:txBody>
      </p:sp>
      <p:sp>
        <p:nvSpPr>
          <p:cNvPr id="10" name="Icon circle 194"/>
          <p:cNvSpPr/>
          <p:nvPr/>
        </p:nvSpPr>
        <p:spPr>
          <a:xfrm>
            <a:off x="548640" y="2980944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FaBuildingColumns 195" descr="FaBuildingColum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127248"/>
            <a:ext cx="292608" cy="292608"/>
          </a:xfrm>
          <a:prstGeom prst="rect">
            <a:avLst/>
          </a:prstGeom>
        </p:spPr>
      </p:pic>
      <p:sp>
        <p:nvSpPr>
          <p:cNvPr id="12" name="Vive item 196"/>
          <p:cNvSpPr txBox="1"/>
          <p:nvPr/>
        </p:nvSpPr>
        <p:spPr>
          <a:xfrm>
            <a:off x="1371600" y="2980944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Conoce profesores e instalaciones.</a:t>
            </a:r>
            <a:endParaRPr lang="en-US" sz="1800" dirty="0"/>
          </a:p>
        </p:txBody>
      </p:sp>
      <p:sp>
        <p:nvSpPr>
          <p:cNvPr id="13" name="Icon circle 197"/>
          <p:cNvSpPr/>
          <p:nvPr/>
        </p:nvSpPr>
        <p:spPr>
          <a:xfrm>
            <a:off x="548640" y="3767328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FaComments 198" descr="FaCommen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3913632"/>
            <a:ext cx="292608" cy="292608"/>
          </a:xfrm>
          <a:prstGeom prst="rect">
            <a:avLst/>
          </a:prstGeom>
        </p:spPr>
      </p:pic>
      <p:sp>
        <p:nvSpPr>
          <p:cNvPr id="15" name="Vive item 199"/>
          <p:cNvSpPr txBox="1"/>
          <p:nvPr/>
        </p:nvSpPr>
        <p:spPr>
          <a:xfrm>
            <a:off x="1371600" y="3767328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Conversa con estudiantes.</a:t>
            </a:r>
            <a:endParaRPr lang="en-US" sz="1800" dirty="0"/>
          </a:p>
        </p:txBody>
      </p:sp>
      <p:sp>
        <p:nvSpPr>
          <p:cNvPr id="16" name="Icon circle 200"/>
          <p:cNvSpPr/>
          <p:nvPr/>
        </p:nvSpPr>
        <p:spPr>
          <a:xfrm>
            <a:off x="548640" y="4553712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 FaFlask 201" descr="FaFlas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4700016"/>
            <a:ext cx="292608" cy="292608"/>
          </a:xfrm>
          <a:prstGeom prst="rect">
            <a:avLst/>
          </a:prstGeom>
        </p:spPr>
      </p:pic>
      <p:sp>
        <p:nvSpPr>
          <p:cNvPr id="18" name="Vive item 202"/>
          <p:cNvSpPr txBox="1"/>
          <p:nvPr/>
        </p:nvSpPr>
        <p:spPr>
          <a:xfrm>
            <a:off x="1371600" y="4553712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Descubre laboratorios y actividades.</a:t>
            </a:r>
            <a:endParaRPr lang="en-US" sz="1800" dirty="0"/>
          </a:p>
        </p:txBody>
      </p:sp>
      <p:sp>
        <p:nvSpPr>
          <p:cNvPr id="19" name="Icon circle 203"/>
          <p:cNvSpPr/>
          <p:nvPr/>
        </p:nvSpPr>
        <p:spPr>
          <a:xfrm>
            <a:off x="548640" y="5340096"/>
            <a:ext cx="585216" cy="58521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 FaHandshake 204" descr="Fa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" y="5486400"/>
            <a:ext cx="292608" cy="292608"/>
          </a:xfrm>
          <a:prstGeom prst="rect">
            <a:avLst/>
          </a:prstGeom>
        </p:spPr>
      </p:pic>
      <p:sp>
        <p:nvSpPr>
          <p:cNvPr id="21" name="Vive item 205"/>
          <p:cNvSpPr txBox="1"/>
          <p:nvPr/>
        </p:nvSpPr>
        <p:spPr>
          <a:xfrm>
            <a:off x="1371600" y="5340096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Sé su anfitrión.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Recomendados</a:t>
            </a:r>
            <a:endParaRPr lang="en-US" sz="34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400" dirty="0"/>
          </a:p>
        </p:txBody>
      </p:sp>
      <p:sp>
        <p:nvSpPr>
          <p:cNvPr id="4" name="Program card"/>
          <p:cNvSpPr/>
          <p:nvPr/>
        </p:nvSpPr>
        <p:spPr>
          <a:xfrm>
            <a:off x="548640" y="2286000"/>
            <a:ext cx="73152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Icon circle 206"/>
          <p:cNvSpPr/>
          <p:nvPr/>
        </p:nvSpPr>
        <p:spPr>
          <a:xfrm>
            <a:off x="822960" y="2514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FaLink 207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86050"/>
            <a:ext cx="342900" cy="342900"/>
          </a:xfrm>
          <a:prstGeom prst="rect">
            <a:avLst/>
          </a:prstGeom>
        </p:spPr>
      </p:pic>
      <p:sp>
        <p:nvSpPr>
          <p:cNvPr id="7" name="Program text"/>
          <p:cNvSpPr txBox="1"/>
          <p:nvPr/>
        </p:nvSpPr>
        <p:spPr>
          <a:xfrm>
            <a:off x="1737360" y="23774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Programa de Recomendados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propuesta es convertir la recomendación en un programa comercial estructurado. Cada alumno inscrito recibe un código o enlace personalizado de recomendación.</a:t>
            </a:r>
            <a:endParaRPr lang="en-US" sz="1700" dirty="0"/>
          </a:p>
        </p:txBody>
      </p:sp>
      <p:sp>
        <p:nvSpPr>
          <p:cNvPr id="8" name="Bonus card"/>
          <p:cNvSpPr/>
          <p:nvPr/>
        </p:nvSpPr>
        <p:spPr>
          <a:xfrm>
            <a:off x="548640" y="361188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9" name="Bonus title"/>
          <p:cNvSpPr txBox="1"/>
          <p:nvPr/>
        </p:nvSpPr>
        <p:spPr>
          <a:xfrm>
            <a:off x="82296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Beneficio económico (Bono especial)</a:t>
            </a:r>
            <a:endParaRPr lang="en-US" sz="1500" dirty="0"/>
          </a:p>
        </p:txBody>
      </p:sp>
      <p:sp>
        <p:nvSpPr>
          <p:cNvPr id="10" name="Bonus row label 208"/>
          <p:cNvSpPr txBox="1"/>
          <p:nvPr/>
        </p:nvSpPr>
        <p:spPr>
          <a:xfrm>
            <a:off x="822960" y="4389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 invitado inscrito</a:t>
            </a:r>
            <a:endParaRPr lang="en-US" sz="1400" dirty="0"/>
          </a:p>
        </p:txBody>
      </p:sp>
      <p:sp>
        <p:nvSpPr>
          <p:cNvPr id="11" name="Bonus row amount 209"/>
          <p:cNvSpPr txBox="1"/>
          <p:nvPr/>
        </p:nvSpPr>
        <p:spPr>
          <a:xfrm>
            <a:off x="2697480" y="43891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$2,000</a:t>
            </a:r>
            <a:endParaRPr lang="en-US" sz="2200" dirty="0"/>
          </a:p>
        </p:txBody>
      </p:sp>
      <p:sp>
        <p:nvSpPr>
          <p:cNvPr id="12" name="Bonus row label 210"/>
          <p:cNvSpPr txBox="1"/>
          <p:nvPr/>
        </p:nvSpPr>
        <p:spPr>
          <a:xfrm>
            <a:off x="822960" y="4937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 invitados inscritos</a:t>
            </a:r>
            <a:endParaRPr lang="en-US" sz="1400" dirty="0"/>
          </a:p>
        </p:txBody>
      </p:sp>
      <p:sp>
        <p:nvSpPr>
          <p:cNvPr id="13" name="Bonus row amount 211"/>
          <p:cNvSpPr txBox="1"/>
          <p:nvPr/>
        </p:nvSpPr>
        <p:spPr>
          <a:xfrm>
            <a:off x="2697480" y="49377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$3,500</a:t>
            </a:r>
            <a:endParaRPr lang="en-US" sz="2200" dirty="0"/>
          </a:p>
        </p:txBody>
      </p:sp>
      <p:sp>
        <p:nvSpPr>
          <p:cNvPr id="14" name="Bonus row label 212"/>
          <p:cNvSpPr txBox="1"/>
          <p:nvPr/>
        </p:nvSpPr>
        <p:spPr>
          <a:xfrm>
            <a:off x="822960" y="5486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 invitados inscritos</a:t>
            </a:r>
            <a:endParaRPr lang="en-US" sz="1400" dirty="0"/>
          </a:p>
        </p:txBody>
      </p:sp>
      <p:sp>
        <p:nvSpPr>
          <p:cNvPr id="15" name="Bonus row amount 213"/>
          <p:cNvSpPr txBox="1"/>
          <p:nvPr/>
        </p:nvSpPr>
        <p:spPr>
          <a:xfrm>
            <a:off x="2697480" y="54864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$5,000</a:t>
            </a:r>
            <a:endParaRPr lang="en-US" sz="2200" dirty="0"/>
          </a:p>
        </p:txBody>
      </p:sp>
      <p:sp>
        <p:nvSpPr>
          <p:cNvPr id="16" name="Belonging card"/>
          <p:cNvSpPr/>
          <p:nvPr/>
        </p:nvSpPr>
        <p:spPr>
          <a:xfrm>
            <a:off x="4343400" y="361188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7" name="Belonging title"/>
          <p:cNvSpPr txBox="1"/>
          <p:nvPr/>
        </p:nvSpPr>
        <p:spPr>
          <a:xfrm>
            <a:off x="461772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Beneficio de Pertenencia:</a:t>
            </a:r>
            <a:endParaRPr lang="en-US" sz="1500" dirty="0"/>
          </a:p>
        </p:txBody>
      </p:sp>
      <p:sp>
        <p:nvSpPr>
          <p:cNvPr id="18" name="Belonging items"/>
          <p:cNvSpPr txBox="1"/>
          <p:nvPr/>
        </p:nvSpPr>
        <p:spPr>
          <a:xfrm>
            <a:off x="4617720" y="438912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Reconocimiento al “Embajador Westhill del mes”. (Historias de Instagram).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Dar un regalo como termo, paraguas, sudadera, etc.</a:t>
            </a:r>
            <a:endParaRPr lang="en-US" sz="1400" dirty="0"/>
          </a:p>
        </p:txBody>
      </p:sp>
      <p:pic>
        <p:nvPicPr>
          <p:cNvPr id="19" name="Current flyer" descr="Programa de referidos actu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405" y="1463040"/>
            <a:ext cx="3498650" cy="452628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pic>
      <p:sp>
        <p:nvSpPr>
          <p:cNvPr id="20" name="Current tag"/>
          <p:cNvSpPr txBox="1"/>
          <p:nvPr/>
        </p:nvSpPr>
        <p:spPr>
          <a:xfrm>
            <a:off x="8327285" y="544068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chemeClr val="tx2"/>
                </a:solidFill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Westhil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1097280"/>
            <a:ext cx="1371600" cy="1647334"/>
          </a:xfrm>
          <a:prstGeom prst="rect">
            <a:avLst/>
          </a:prstGeom>
        </p:spPr>
      </p:pic>
      <p:sp>
        <p:nvSpPr>
          <p:cNvPr id="3" name="Closing hashtag"/>
          <p:cNvSpPr txBox="1"/>
          <p:nvPr/>
        </p:nvSpPr>
        <p:spPr>
          <a:xfrm>
            <a:off x="914400" y="30175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#SOMOSWESTHILL</a:t>
            </a:r>
            <a:endParaRPr lang="en-US" sz="5400" dirty="0"/>
          </a:p>
        </p:txBody>
      </p:sp>
      <p:sp>
        <p:nvSpPr>
          <p:cNvPr id="4" name="Closing subtitle"/>
          <p:cNvSpPr txBox="1"/>
          <p:nvPr/>
        </p:nvSpPr>
        <p:spPr>
          <a:xfrm>
            <a:off x="914400" y="39776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Embajadores Westhill 2.0  ·  Plan de Acción Enero 2027</a:t>
            </a:r>
            <a:endParaRPr lang="en-US" sz="1800" dirty="0"/>
          </a:p>
        </p:txBody>
      </p:sp>
      <p:sp>
        <p:nvSpPr>
          <p:cNvPr id="5" name="Handle pill"/>
          <p:cNvSpPr/>
          <p:nvPr/>
        </p:nvSpPr>
        <p:spPr>
          <a:xfrm>
            <a:off x="4769968" y="4754880"/>
            <a:ext cx="26517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Handle"/>
          <p:cNvSpPr txBox="1"/>
          <p:nvPr/>
        </p:nvSpPr>
        <p:spPr>
          <a:xfrm>
            <a:off x="4769968" y="4754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@univwesthill</a:t>
            </a:r>
            <a:endParaRPr lang="en-US" sz="1800" dirty="0"/>
          </a:p>
        </p:txBody>
      </p:sp>
      <p:pic>
        <p:nvPicPr>
          <p:cNvPr id="7" name="Paw print 214" descr="Huella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822960" y="5943600"/>
            <a:ext cx="384048" cy="341131"/>
          </a:xfrm>
          <a:prstGeom prst="rect">
            <a:avLst/>
          </a:prstGeom>
        </p:spPr>
      </p:pic>
      <p:pic>
        <p:nvPicPr>
          <p:cNvPr id="8" name="Paw print 215" descr="Huella">    </p:cNvPr>
          <p:cNvPicPr>
            <a:picLocks noChangeAspect="1"/>
          </p:cNvPicPr>
          <p:nvPr/>
        </p:nvPicPr>
        <p:blipFill>
          <a:blip r:embed="rId3">
            <a:alphaModFix amt="60000"/>
          </a:blip>
          <a:stretch>
            <a:fillRect/>
          </a:stretch>
        </p:blipFill>
        <p:spPr>
          <a:xfrm rot="900000">
            <a:off x="1463040" y="5532120"/>
            <a:ext cx="384048" cy="341131"/>
          </a:xfrm>
          <a:prstGeom prst="rect">
            <a:avLst/>
          </a:prstGeom>
        </p:spPr>
      </p:pic>
      <p:pic>
        <p:nvPicPr>
          <p:cNvPr id="9" name="Paw print 216" descr="Huella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 rot="1800000">
            <a:off x="2194560" y="5852160"/>
            <a:ext cx="384048" cy="341131"/>
          </a:xfrm>
          <a:prstGeom prst="rect">
            <a:avLst/>
          </a:prstGeom>
        </p:spPr>
      </p:pic>
      <p:pic>
        <p:nvPicPr>
          <p:cNvPr id="10" name="Paw print 217" descr="Huella">    </p:cNvPr>
          <p:cNvPicPr>
            <a:picLocks noChangeAspect="1"/>
          </p:cNvPicPr>
          <p:nvPr/>
        </p:nvPicPr>
        <p:blipFill>
          <a:blip r:embed="rId5">
            <a:alphaModFix amt="60000"/>
          </a:blip>
          <a:stretch>
            <a:fillRect/>
          </a:stretch>
        </p:blipFill>
        <p:spPr>
          <a:xfrm rot="12000000">
            <a:off x="9448495" y="685800"/>
            <a:ext cx="384048" cy="341131"/>
          </a:xfrm>
          <a:prstGeom prst="rect">
            <a:avLst/>
          </a:prstGeom>
        </p:spPr>
      </p:pic>
      <p:pic>
        <p:nvPicPr>
          <p:cNvPr id="11" name="Paw print 218" descr="Huella">    </p:cNvPr>
          <p:cNvPicPr>
            <a:picLocks noChangeAspect="1"/>
          </p:cNvPicPr>
          <p:nvPr/>
        </p:nvPicPr>
        <p:blipFill>
          <a:blip r:embed="rId6">
            <a:alphaModFix amt="60000"/>
          </a:blip>
          <a:stretch>
            <a:fillRect/>
          </a:stretch>
        </p:blipFill>
        <p:spPr>
          <a:xfrm rot="12900000">
            <a:off x="10180015" y="320040"/>
            <a:ext cx="384048" cy="341131"/>
          </a:xfrm>
          <a:prstGeom prst="rect">
            <a:avLst/>
          </a:prstGeom>
        </p:spPr>
      </p:pic>
      <p:pic>
        <p:nvPicPr>
          <p:cNvPr id="12" name="Paw print 219" descr="Huella">    </p:cNvPr>
          <p:cNvPicPr>
            <a:picLocks noChangeAspect="1"/>
          </p:cNvPicPr>
          <p:nvPr/>
        </p:nvPicPr>
        <p:blipFill>
          <a:blip r:embed="rId7">
            <a:alphaModFix amt="60000"/>
          </a:blip>
          <a:stretch>
            <a:fillRect/>
          </a:stretch>
        </p:blipFill>
        <p:spPr>
          <a:xfrm rot="13800000">
            <a:off x="10865815" y="685800"/>
            <a:ext cx="384048" cy="3411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2026-10-05T17:21:12Z</dcterms:created>
  <dcterms:modified xsi:type="dcterms:W3CDTF">2026-10-05T17:21:12Z</dcterms:modified>
</cp:coreProperties>
</file>
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5ed663c1-4d67-179e-8ad0-65576f58654e}">
          <p14:sldIdLst>
            <p14:sldId id="256"/>
          </p14:sldIdLst>
        </p14:section>
        <p14:section name="Programa" id="{1658d82f-43a6-a5c3-e0c9-87c4a060b240}">
          <p14:sldIdLst>
            <p14:sldId id="257"/>
            <p14:sldId id="258"/>
            <p14:sldId id="259"/>
          </p14:sldIdLst>
        </p14:section>
        <p14:section name="Mecánica" id="{d3092ee3-eb27-82a5-9cb6-6df4bb0d5b52}">
          <p14:sldIdLst>
            <p14:sldId id="260"/>
            <p14:sldId id="261"/>
            <p14:sldId id="262"/>
            <p14:sldId id="263"/>
          </p14:sldIdLst>
        </p14:section>
        <p14:section name="Niveles y beneficios" id="{1426c3fd-da88-0f96-eeca-bfe6c4eed89a}">
          <p14:sldIdLst>
            <p14:sldId id="264"/>
            <p14:sldId id="265"/>
            <p14:sldId id="266"/>
            <p14:sldId id="267"/>
          </p14:sldIdLst>
        </p14:section>
        <p14:section name="Iniciativas" id="{1e290dd4-c974-6914-e2be-feeacac9f72e}">
          <p14:sldIdLst>
            <p14:sldId id="268"/>
            <p14:sldId id="269"/>
            <p14:sldId id="270"/>
            <p14:sldId id="271"/>
          </p14:sldIdLst>
        </p14:section>
        <p14:section name="Cierre" id="{77b96178-d16b-a4b5-fd68-ddee941c5e71}">
          <p14:sldIdLst>
            <p14:sldId id="27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943" y="-36576"/>
            <a:ext cx="896112" cy="107625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760720" y="274320"/>
            <a:ext cx="4480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</a:t>
            </a:r>
            <a:endParaRPr lang="en-US" sz="3000" dirty="0"/>
          </a:p>
        </p:txBody>
      </p:sp>
      <p:sp>
        <p:nvSpPr>
          <p:cNvPr id="5" name="Text 1"/>
          <p:cNvSpPr/>
          <p:nvPr/>
        </p:nvSpPr>
        <p:spPr>
          <a:xfrm>
            <a:off x="548640" y="1042416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1050" dirty="0"/>
          </a:p>
        </p:txBody>
      </p:sp>
      <p:sp>
        <p:nvSpPr>
          <p:cNvPr id="6" name="Text 2"/>
          <p:cNvSpPr/>
          <p:nvPr/>
        </p:nvSpPr>
        <p:spPr>
          <a:xfrm>
            <a:off x="8351215" y="6510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7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Int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pn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pn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png"/><Relationship Id="rId17" Type="http://schemas.openxmlformats.org/officeDocument/2006/relationships/image" Target="../media/image-11-17.png"/><Relationship Id="rId18" Type="http://schemas.openxmlformats.org/officeDocument/2006/relationships/slideLayout" Target="../slideLayouts/slideLayout2.xml"/><Relationship Id="rId1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jpe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slideLayout" Target="../slideLayouts/slideLayout2.xml"/><Relationship Id="rId1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over title 4"/>
          <p:cNvSpPr txBox="1"/>
          <p:nvPr/>
        </p:nvSpPr>
        <p:spPr>
          <a:xfrm>
            <a:off x="411480" y="2514600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</a:t>
            </a:r>
            <a:endParaRPr lang="en-US" sz="3800" dirty="0"/>
          </a:p>
        </p:txBody>
      </p:sp>
      <p:sp>
        <p:nvSpPr>
          <p:cNvPr id="6" name="Cover month 5"/>
          <p:cNvSpPr txBox="1"/>
          <p:nvPr/>
        </p:nvSpPr>
        <p:spPr>
          <a:xfrm>
            <a:off x="411480" y="31546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ENERO</a:t>
            </a:r>
            <a:endParaRPr lang="en-US" sz="3400" dirty="0"/>
          </a:p>
        </p:txBody>
      </p:sp>
      <p:sp>
        <p:nvSpPr>
          <p:cNvPr id="7" name="Cover year 6"/>
          <p:cNvSpPr txBox="1"/>
          <p:nvPr/>
        </p:nvSpPr>
        <p:spPr>
          <a:xfrm>
            <a:off x="411480" y="365760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2027</a:t>
            </a:r>
            <a:endParaRPr lang="en-US" sz="4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9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0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8800" dirty="0"/>
          </a:p>
        </p:txBody>
      </p:sp>
      <p:sp>
        <p:nvSpPr>
          <p:cNvPr id="6" name="Section kicker 11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2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3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3000" dirty="0"/>
          </a:p>
        </p:txBody>
      </p:sp>
      <p:sp>
        <p:nvSpPr>
          <p:cNvPr id="4" name="Program description 14"/>
          <p:cNvSpPr txBox="1"/>
          <p:nvPr/>
        </p:nvSpPr>
        <p:spPr>
          <a:xfrm>
            <a:off x="548640" y="2055553"/>
            <a:ext cx="603504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programa de Embajadores Westhill es una iniciativa para que nuestros estudiantes compartan su experiencia, representen a la Universidad y ayuden a más jóvenes a descubrir su camino profesional.</a:t>
            </a:r>
            <a:endParaRPr lang="en-US" sz="1700" dirty="0"/>
          </a:p>
        </p:txBody>
      </p:sp>
      <p:pic>
        <p:nvPicPr>
          <p:cNvPr id="5" name="Objective card 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23425"/>
            <a:ext cx="603504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Bullseye 1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3741189"/>
            <a:ext cx="1645920" cy="1645920"/>
          </a:xfrm>
          <a:prstGeom prst="rect">
            <a:avLst/>
          </a:prstGeom>
        </p:spPr>
      </p:pic>
      <p:pic>
        <p:nvPicPr>
          <p:cNvPr id="7" name="Icon FaBullseye 17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929611"/>
            <a:ext cx="731520" cy="731520"/>
          </a:xfrm>
          <a:prstGeom prst="rect">
            <a:avLst/>
          </a:prstGeom>
        </p:spPr>
      </p:pic>
      <p:sp>
        <p:nvSpPr>
          <p:cNvPr id="8" name="Objective label 18"/>
          <p:cNvSpPr txBox="1"/>
          <p:nvPr/>
        </p:nvSpPr>
        <p:spPr>
          <a:xfrm>
            <a:off x="1828800" y="3937000"/>
            <a:ext cx="365760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</a:t>
            </a:r>
            <a:endParaRPr lang="en-US" sz="1600" dirty="0"/>
          </a:p>
        </p:txBody>
      </p:sp>
      <p:sp>
        <p:nvSpPr>
          <p:cNvPr id="9" name="Objective text 19"/>
          <p:cNvSpPr txBox="1"/>
          <p:nvPr/>
        </p:nvSpPr>
        <p:spPr>
          <a:xfrm>
            <a:off x="914400" y="4832927"/>
            <a:ext cx="5303520" cy="1388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más prospectos e inscritos, fortaleciendo el sentido de pertenencia de nuestros estudiantes y posicionando a Westhill a través de su voz auténtica.</a:t>
            </a:r>
            <a:endParaRPr lang="en-US" sz="1700" dirty="0"/>
          </a:p>
        </p:txBody>
      </p:sp>
      <p:pic>
        <p:nvPicPr>
          <p:cNvPr id="10" name="Why card 20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055553"/>
            <a:ext cx="4690872" cy="4345247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1" name="Why title 21"/>
          <p:cNvSpPr txBox="1"/>
          <p:nvPr/>
        </p:nvSpPr>
        <p:spPr>
          <a:xfrm>
            <a:off x="7269480" y="2234738"/>
            <a:ext cx="420624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ser embajador?</a:t>
            </a:r>
            <a:endParaRPr lang="en-US" sz="1900" dirty="0"/>
          </a:p>
        </p:txBody>
      </p:sp>
      <p:pic>
        <p:nvPicPr>
          <p:cNvPr id="12" name="Icon FaHandHoldingHeart 22" descr="HandHoldingHear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9480" y="2901511"/>
            <a:ext cx="512064" cy="512064"/>
          </a:xfrm>
          <a:prstGeom prst="rect">
            <a:avLst/>
          </a:prstGeom>
        </p:spPr>
      </p:pic>
      <p:sp>
        <p:nvSpPr>
          <p:cNvPr id="13" name="Why item 23"/>
          <p:cNvSpPr txBox="1"/>
          <p:nvPr/>
        </p:nvSpPr>
        <p:spPr>
          <a:xfrm>
            <a:off x="7955280" y="2906684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Haces la diferencia en la vida de otros.</a:t>
            </a:r>
            <a:endParaRPr lang="en-US" sz="1500" dirty="0"/>
          </a:p>
        </p:txBody>
      </p:sp>
      <p:pic>
        <p:nvPicPr>
          <p:cNvPr id="14" name="Icon FaBuildingColumns 24" descr="BuildingColumn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3582416"/>
            <a:ext cx="512064" cy="512064"/>
          </a:xfrm>
          <a:prstGeom prst="rect">
            <a:avLst/>
          </a:prstGeom>
        </p:spPr>
      </p:pic>
      <p:sp>
        <p:nvSpPr>
          <p:cNvPr id="15" name="Why item 25"/>
          <p:cNvSpPr txBox="1"/>
          <p:nvPr/>
        </p:nvSpPr>
        <p:spPr>
          <a:xfrm>
            <a:off x="7955280" y="358758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Fortalece tu universidad.</a:t>
            </a:r>
            <a:endParaRPr lang="en-US" sz="1500" dirty="0"/>
          </a:p>
        </p:txBody>
      </p:sp>
      <p:pic>
        <p:nvPicPr>
          <p:cNvPr id="16" name="Icon FaRankingStar 26" descr="RankingSta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9480" y="4263321"/>
            <a:ext cx="512064" cy="512064"/>
          </a:xfrm>
          <a:prstGeom prst="rect">
            <a:avLst/>
          </a:prstGeom>
        </p:spPr>
      </p:pic>
      <p:sp>
        <p:nvSpPr>
          <p:cNvPr id="17" name="Why item 27"/>
          <p:cNvSpPr txBox="1"/>
          <p:nvPr/>
        </p:nvSpPr>
        <p:spPr>
          <a:xfrm>
            <a:off x="7955280" y="426849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Desarrollas habilidades de liderazgo.</a:t>
            </a:r>
            <a:endParaRPr lang="en-US" sz="1500" dirty="0"/>
          </a:p>
        </p:txBody>
      </p:sp>
      <p:pic>
        <p:nvPicPr>
          <p:cNvPr id="18" name="Icon FaGift 28" descr="Gif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69480" y="4944225"/>
            <a:ext cx="512064" cy="512064"/>
          </a:xfrm>
          <a:prstGeom prst="rect">
            <a:avLst/>
          </a:prstGeom>
        </p:spPr>
      </p:pic>
      <p:sp>
        <p:nvSpPr>
          <p:cNvPr id="19" name="Why item 29"/>
          <p:cNvSpPr txBox="1"/>
          <p:nvPr/>
        </p:nvSpPr>
        <p:spPr>
          <a:xfrm>
            <a:off x="7955280" y="4949398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Obtienes incentivos y reconocimientos.</a:t>
            </a:r>
            <a:endParaRPr lang="en-US" sz="1500" dirty="0"/>
          </a:p>
        </p:txBody>
      </p:sp>
      <p:pic>
        <p:nvPicPr>
          <p:cNvPr id="20" name="Icon FaStar 30" descr="St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9480" y="5625130"/>
            <a:ext cx="512064" cy="512064"/>
          </a:xfrm>
          <a:prstGeom prst="rect">
            <a:avLst/>
          </a:prstGeom>
        </p:spPr>
      </p:pic>
      <p:sp>
        <p:nvSpPr>
          <p:cNvPr id="21" name="Why item 31"/>
          <p:cNvSpPr txBox="1"/>
          <p:nvPr/>
        </p:nvSpPr>
        <p:spPr>
          <a:xfrm>
            <a:off x="7955280" y="5630303"/>
            <a:ext cx="3520440" cy="5017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Vives experiencias únicas.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8" grpId="0" animBg="1"/>
      <p:bldP spid="9" grpId="0" animBg="1"/>
      <p:bldP spid="11" grpId="0" animBg="1"/>
      <p:bldP spid="13" grpId="0" animBg="1"/>
      <p:bldP spid="15" grpId="0" animBg="1"/>
      <p:bldP spid="17" grpId="0" animBg="1"/>
      <p:bldP spid="19" grpId="0" animBg="1"/>
      <p:bldP spid="2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32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basa en 3 perfiles</a:t>
            </a:r>
            <a:endParaRPr lang="en-US" sz="3000" dirty="0"/>
          </a:p>
        </p:txBody>
      </p:sp>
      <p:pic>
        <p:nvPicPr>
          <p:cNvPr id="4" name="Profile card 3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hareNodes 34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316018"/>
            <a:ext cx="822960" cy="822960"/>
          </a:xfrm>
          <a:prstGeom prst="rect">
            <a:avLst/>
          </a:prstGeom>
        </p:spPr>
      </p:pic>
      <p:sp>
        <p:nvSpPr>
          <p:cNvPr id="6" name="Profile kicker 35"/>
          <p:cNvSpPr txBox="1"/>
          <p:nvPr/>
        </p:nvSpPr>
        <p:spPr>
          <a:xfrm>
            <a:off x="868680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7" name="Profile name 36"/>
          <p:cNvSpPr txBox="1"/>
          <p:nvPr/>
        </p:nvSpPr>
        <p:spPr>
          <a:xfrm>
            <a:off x="868680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</a:t>
            </a:r>
            <a:endParaRPr lang="en-US" sz="2700" dirty="0"/>
          </a:p>
        </p:txBody>
      </p:sp>
      <p:sp>
        <p:nvSpPr>
          <p:cNvPr id="8" name="Profile items 37"/>
          <p:cNvSpPr txBox="1"/>
          <p:nvPr/>
        </p:nvSpPr>
        <p:spPr>
          <a:xfrm>
            <a:off x="868680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Westhill con amigos, familiares y conocidos.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eventos.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prospectos con tu código o enlace personal.</a:t>
            </a:r>
            <a:endParaRPr lang="en-US" sz="1400" dirty="0"/>
          </a:p>
        </p:txBody>
      </p:sp>
      <p:pic>
        <p:nvPicPr>
          <p:cNvPr id="9" name="Profile card 3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UserGraduate 39" descr="UserGradua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81728" y="2316018"/>
            <a:ext cx="822960" cy="822960"/>
          </a:xfrm>
          <a:prstGeom prst="rect">
            <a:avLst/>
          </a:prstGeom>
        </p:spPr>
      </p:pic>
      <p:sp>
        <p:nvSpPr>
          <p:cNvPr id="11" name="Profile kicker 40"/>
          <p:cNvSpPr txBox="1"/>
          <p:nvPr/>
        </p:nvSpPr>
        <p:spPr>
          <a:xfrm>
            <a:off x="4681728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2" name="Profile name 41"/>
          <p:cNvSpPr txBox="1"/>
          <p:nvPr/>
        </p:nvSpPr>
        <p:spPr>
          <a:xfrm>
            <a:off x="4681728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2700" dirty="0"/>
          </a:p>
        </p:txBody>
      </p:sp>
      <p:sp>
        <p:nvSpPr>
          <p:cNvPr id="13" name="Profile items 42"/>
          <p:cNvSpPr txBox="1"/>
          <p:nvPr/>
        </p:nvSpPr>
        <p:spPr>
          <a:xfrm>
            <a:off x="4681728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eventos, ferias y webinars.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 como estudiante.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Graba testimonios y contenido.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Acompaña a prospectos en visitas.</a:t>
            </a:r>
            <a:endParaRPr lang="en-US" sz="1400" dirty="0"/>
          </a:p>
        </p:txBody>
      </p:sp>
      <p:pic>
        <p:nvPicPr>
          <p:cNvPr id="14" name="Profile card 4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2010756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Watermark FaCrown 4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68712" y="5134956"/>
            <a:ext cx="1143000" cy="1143000"/>
          </a:xfrm>
          <a:prstGeom prst="rect">
            <a:avLst/>
          </a:prstGeom>
        </p:spPr>
      </p:pic>
      <p:pic>
        <p:nvPicPr>
          <p:cNvPr id="16" name="Icon FaCrown 45" descr="C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4776" y="2316018"/>
            <a:ext cx="822960" cy="822960"/>
          </a:xfrm>
          <a:prstGeom prst="rect">
            <a:avLst/>
          </a:prstGeom>
        </p:spPr>
      </p:pic>
      <p:sp>
        <p:nvSpPr>
          <p:cNvPr id="17" name="Highlight tag 46"/>
          <p:cNvSpPr txBox="1"/>
          <p:nvPr/>
        </p:nvSpPr>
        <p:spPr>
          <a:xfrm>
            <a:off x="10085832" y="2458720"/>
            <a:ext cx="1280160" cy="322534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DESTACADO</a:t>
            </a:r>
            <a:endParaRPr lang="en-US" sz="1000" dirty="0"/>
          </a:p>
        </p:txBody>
      </p:sp>
      <p:sp>
        <p:nvSpPr>
          <p:cNvPr id="18" name="Profile kicker 47"/>
          <p:cNvSpPr txBox="1"/>
          <p:nvPr/>
        </p:nvSpPr>
        <p:spPr>
          <a:xfrm>
            <a:off x="8494776" y="3309851"/>
            <a:ext cx="2871216" cy="2687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</p:txBody>
      </p:sp>
      <p:sp>
        <p:nvSpPr>
          <p:cNvPr id="19" name="Profile name 48"/>
          <p:cNvSpPr txBox="1"/>
          <p:nvPr/>
        </p:nvSpPr>
        <p:spPr>
          <a:xfrm>
            <a:off x="8494776" y="3578629"/>
            <a:ext cx="2871216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LÍDER</a:t>
            </a:r>
            <a:endParaRPr lang="en-US" sz="2700" dirty="0"/>
          </a:p>
        </p:txBody>
      </p:sp>
      <p:sp>
        <p:nvSpPr>
          <p:cNvPr id="20" name="Profile items 49"/>
          <p:cNvSpPr txBox="1"/>
          <p:nvPr/>
        </p:nvSpPr>
        <p:spPr>
          <a:xfrm>
            <a:off x="8494776" y="4250575"/>
            <a:ext cx="2962656" cy="20606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 un alumno destacado que representa a Westhill.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campañas institucionales.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Apoya en eventos de atracción.</a:t>
            </a:r>
            <a:endParaRPr lang="en-US" sz="140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Puede ser parte de videos y material de promoción.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50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5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52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53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8800" dirty="0"/>
          </a:p>
        </p:txBody>
      </p:sp>
      <p:sp>
        <p:nvSpPr>
          <p:cNvPr id="6" name="Section kicker 54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55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56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funciona?</a:t>
            </a:r>
            <a:endParaRPr lang="en-US" sz="3000" dirty="0"/>
          </a:p>
        </p:txBody>
      </p:sp>
      <p:pic>
        <p:nvPicPr>
          <p:cNvPr id="4" name="Step card 5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5" name="Step number 58"/>
          <p:cNvSpPr txBox="1"/>
          <p:nvPr/>
        </p:nvSpPr>
        <p:spPr>
          <a:xfrm>
            <a:off x="82296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4000" dirty="0"/>
          </a:p>
        </p:txBody>
      </p:sp>
      <p:pic>
        <p:nvPicPr>
          <p:cNvPr id="6" name="Icon FaQrcode 59" descr="Qr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405611"/>
            <a:ext cx="822960" cy="822960"/>
          </a:xfrm>
          <a:prstGeom prst="rect">
            <a:avLst/>
          </a:prstGeom>
        </p:spPr>
      </p:pic>
      <p:sp>
        <p:nvSpPr>
          <p:cNvPr id="7" name="Step head 60"/>
          <p:cNvSpPr txBox="1"/>
          <p:nvPr/>
        </p:nvSpPr>
        <p:spPr>
          <a:xfrm>
            <a:off x="82296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2000" dirty="0"/>
          </a:p>
        </p:txBody>
      </p:sp>
      <p:sp>
        <p:nvSpPr>
          <p:cNvPr id="8" name="Step body 61"/>
          <p:cNvSpPr txBox="1"/>
          <p:nvPr/>
        </p:nvSpPr>
        <p:spPr>
          <a:xfrm>
            <a:off x="82296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QR personalizado</a:t>
            </a:r>
            <a:endParaRPr lang="en-US" sz="1600" dirty="0"/>
          </a:p>
        </p:txBody>
      </p:sp>
      <p:pic>
        <p:nvPicPr>
          <p:cNvPr id="9" name="Icon FaChevronRight 62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3804" y="3717544"/>
            <a:ext cx="438912" cy="438912"/>
          </a:xfrm>
          <a:prstGeom prst="rect">
            <a:avLst/>
          </a:prstGeom>
        </p:spPr>
      </p:pic>
      <p:pic>
        <p:nvPicPr>
          <p:cNvPr id="10" name="Step card 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1" name="Step number 64"/>
          <p:cNvSpPr txBox="1"/>
          <p:nvPr/>
        </p:nvSpPr>
        <p:spPr>
          <a:xfrm>
            <a:off x="365760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4000" dirty="0"/>
          </a:p>
        </p:txBody>
      </p:sp>
      <p:pic>
        <p:nvPicPr>
          <p:cNvPr id="12" name="Icon FaCalendarCheck 65" descr="Calendar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00600" y="2405611"/>
            <a:ext cx="822960" cy="822960"/>
          </a:xfrm>
          <a:prstGeom prst="rect">
            <a:avLst/>
          </a:prstGeom>
        </p:spPr>
      </p:pic>
      <p:sp>
        <p:nvSpPr>
          <p:cNvPr id="13" name="Step head 66"/>
          <p:cNvSpPr txBox="1"/>
          <p:nvPr/>
        </p:nvSpPr>
        <p:spPr>
          <a:xfrm>
            <a:off x="365760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Tus referidos</a:t>
            </a:r>
            <a:endParaRPr lang="en-US" sz="2000" dirty="0"/>
          </a:p>
        </p:txBody>
      </p:sp>
      <p:sp>
        <p:nvSpPr>
          <p:cNvPr id="14" name="Step body 67"/>
          <p:cNvSpPr txBox="1"/>
          <p:nvPr/>
        </p:nvSpPr>
        <p:spPr>
          <a:xfrm>
            <a:off x="365760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Agendan su visita</a:t>
            </a:r>
            <a:endParaRPr lang="en-US" sz="1600" dirty="0"/>
          </a:p>
        </p:txBody>
      </p:sp>
      <p:pic>
        <p:nvPicPr>
          <p:cNvPr id="15" name="Icon FaChevronRight 68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38444" y="3717544"/>
            <a:ext cx="438912" cy="438912"/>
          </a:xfrm>
          <a:prstGeom prst="rect">
            <a:avLst/>
          </a:prstGeom>
        </p:spPr>
      </p:pic>
      <p:pic>
        <p:nvPicPr>
          <p:cNvPr id="16" name="Step card 69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7" name="Watermark FaMoneyBillWave 70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4956695"/>
            <a:ext cx="1051560" cy="1051560"/>
          </a:xfrm>
          <a:prstGeom prst="rect">
            <a:avLst/>
          </a:prstGeom>
        </p:spPr>
      </p:pic>
      <p:sp>
        <p:nvSpPr>
          <p:cNvPr id="18" name="Step number 71"/>
          <p:cNvSpPr txBox="1"/>
          <p:nvPr/>
        </p:nvSpPr>
        <p:spPr>
          <a:xfrm>
            <a:off x="649224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4000" dirty="0"/>
          </a:p>
        </p:txBody>
      </p:sp>
      <p:pic>
        <p:nvPicPr>
          <p:cNvPr id="19" name="Icon FaMoneyBillWave 72" descr="MoneyBillWav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635240" y="2405611"/>
            <a:ext cx="822960" cy="822960"/>
          </a:xfrm>
          <a:prstGeom prst="rect">
            <a:avLst/>
          </a:prstGeom>
        </p:spPr>
      </p:pic>
      <p:sp>
        <p:nvSpPr>
          <p:cNvPr id="20" name="Step head 73"/>
          <p:cNvSpPr txBox="1"/>
          <p:nvPr/>
        </p:nvSpPr>
        <p:spPr>
          <a:xfrm>
            <a:off x="649224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 se inscribe</a:t>
            </a:r>
            <a:endParaRPr lang="en-US" sz="2000" dirty="0"/>
          </a:p>
        </p:txBody>
      </p:sp>
      <p:sp>
        <p:nvSpPr>
          <p:cNvPr id="21" name="Step body 74"/>
          <p:cNvSpPr txBox="1"/>
          <p:nvPr/>
        </p:nvSpPr>
        <p:spPr>
          <a:xfrm>
            <a:off x="649224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Recibes un Bono económico</a:t>
            </a:r>
            <a:endParaRPr lang="en-US" sz="1600" dirty="0"/>
          </a:p>
        </p:txBody>
      </p:sp>
      <p:pic>
        <p:nvPicPr>
          <p:cNvPr id="22" name="Icon FaChevronRight 75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3084" y="3717544"/>
            <a:ext cx="438912" cy="438912"/>
          </a:xfrm>
          <a:prstGeom prst="rect">
            <a:avLst/>
          </a:prstGeom>
        </p:spPr>
      </p:pic>
      <p:pic>
        <p:nvPicPr>
          <p:cNvPr id="23" name="Step card 76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52560" y="2145145"/>
            <a:ext cx="2514600" cy="40316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24" name="Step number 77"/>
          <p:cNvSpPr txBox="1"/>
          <p:nvPr/>
        </p:nvSpPr>
        <p:spPr>
          <a:xfrm>
            <a:off x="9326880" y="2413924"/>
            <a:ext cx="1188720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4000" dirty="0"/>
          </a:p>
        </p:txBody>
      </p:sp>
      <p:pic>
        <p:nvPicPr>
          <p:cNvPr id="25" name="Icon FaTrophy 78" descr="Trophy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469880" y="2405611"/>
            <a:ext cx="822960" cy="822960"/>
          </a:xfrm>
          <a:prstGeom prst="rect">
            <a:avLst/>
          </a:prstGeom>
        </p:spPr>
      </p:pic>
      <p:sp>
        <p:nvSpPr>
          <p:cNvPr id="26" name="Step head 79"/>
          <p:cNvSpPr txBox="1"/>
          <p:nvPr/>
        </p:nvSpPr>
        <p:spPr>
          <a:xfrm>
            <a:off x="9326880" y="3578629"/>
            <a:ext cx="205740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Acumulas Puntos.</a:t>
            </a:r>
            <a:endParaRPr lang="en-US" sz="2000" dirty="0"/>
          </a:p>
        </p:txBody>
      </p:sp>
      <p:sp>
        <p:nvSpPr>
          <p:cNvPr id="27" name="Step body 80"/>
          <p:cNvSpPr txBox="1"/>
          <p:nvPr/>
        </p:nvSpPr>
        <p:spPr>
          <a:xfrm>
            <a:off x="9326880" y="4474556"/>
            <a:ext cx="205740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Subes de nivel</a:t>
            </a:r>
            <a:endParaRPr lang="en-US" sz="160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11" grpId="0" animBg="1"/>
      <p:bldP spid="13" grpId="0" animBg="1"/>
      <p:bldP spid="14" grpId="0" animBg="1"/>
      <p:bldP spid="18" grpId="0" animBg="1"/>
      <p:bldP spid="20" grpId="0" animBg="1"/>
      <p:bldP spid="21" grpId="0" animBg="1"/>
      <p:bldP spid="24" grpId="0" animBg="1"/>
      <p:bldP spid="26" grpId="0" animBg="1"/>
      <p:bldP spid="2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8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Sistema de puntos</a:t>
            </a:r>
            <a:endParaRPr lang="en-US" sz="3000" dirty="0"/>
          </a:p>
        </p:txBody>
      </p:sp>
      <p:pic>
        <p:nvPicPr>
          <p:cNvPr id="4" name="Table card 8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1949001"/>
            <a:ext cx="6894576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graphicFrame>
        <p:nvGraphicFramePr>
          <p:cNvPr id="8" name="Points table 8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0756"/>
          <a:ext cx="667512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554480"/>
              </a:tblGrid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Actividades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Puntos</a:t>
                      </a:r>
                      <a:endParaRPr lang="en-US" sz="14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Registrar un referido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asiste a eventos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20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agenda entrevista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inicia admisión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Referido se inscribe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4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tx2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100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2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eventos promocionales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Participar en ferias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Grabar testimonios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30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bg1"/>
                    </a:solidFill>
                  </a:tcPr>
                </a:tc>
              </a:tr>
              <a:tr h="3561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chemeClr val="tx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Invitar a 5 prospectos a un evento</a:t>
                      </a:r>
                      <a:endParaRPr lang="en-US" sz="135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1"/>
                          </a:solidFill>
                          <a:latin typeface="Raleway" pitchFamily="34" charset="0"/>
                          <a:ea typeface="Raleway" pitchFamily="34" charset="-122"/>
                          <a:cs typeface="Raleway" pitchFamily="34" charset="-120"/>
                        </a:rPr>
                        <a:t>50</a:t>
                      </a:r>
                      <a:endParaRPr lang="en-US" sz="1500" dirty="0">
                        <a:latin typeface="Raleway" charset="0"/>
                        <a:ea typeface="Raleway" charset="0"/>
                        <a:cs typeface="Raleway" charset="0"/>
                      </a:endParaRPr>
                    </a:p>
                  </a:txBody>
                  <a:tcPr marL="137160" marR="13716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pic>
        <p:nvPicPr>
          <p:cNvPr id="6" name="Bonus card 84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949001"/>
            <a:ext cx="4007815" cy="376495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Icon FaMoneyBillWave 85" descr="MoneyBillWav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0" y="2153036"/>
            <a:ext cx="685800" cy="685800"/>
          </a:xfrm>
          <a:prstGeom prst="rect">
            <a:avLst/>
          </a:prstGeom>
        </p:spPr>
      </p:pic>
      <p:sp>
        <p:nvSpPr>
          <p:cNvPr id="8" name="Bonus label 86"/>
          <p:cNvSpPr txBox="1"/>
          <p:nvPr/>
        </p:nvSpPr>
        <p:spPr>
          <a:xfrm>
            <a:off x="8778240" y="2177950"/>
            <a:ext cx="2727655" cy="635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BONO ECONÓMICO</a:t>
            </a:r>
            <a:endParaRPr lang="en-US" sz="1600" dirty="0"/>
          </a:p>
        </p:txBody>
      </p:sp>
      <p:sp>
        <p:nvSpPr>
          <p:cNvPr id="9" name="Bonus amount 87"/>
          <p:cNvSpPr txBox="1"/>
          <p:nvPr/>
        </p:nvSpPr>
        <p:spPr>
          <a:xfrm>
            <a:off x="8001000" y="2983514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3000" dirty="0"/>
          </a:p>
        </p:txBody>
      </p:sp>
      <p:sp>
        <p:nvSpPr>
          <p:cNvPr id="10" name="Bonus label 88"/>
          <p:cNvSpPr txBox="1"/>
          <p:nvPr/>
        </p:nvSpPr>
        <p:spPr>
          <a:xfrm>
            <a:off x="9921240" y="2983514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400" dirty="0"/>
          </a:p>
        </p:txBody>
      </p:sp>
      <p:sp>
        <p:nvSpPr>
          <p:cNvPr id="11" name="Divider 89"/>
          <p:cNvSpPr/>
          <p:nvPr/>
        </p:nvSpPr>
        <p:spPr>
          <a:xfrm>
            <a:off x="8001000" y="3695802"/>
            <a:ext cx="3276295" cy="0"/>
          </a:xfrm>
          <a:prstGeom prst="line">
            <a:avLst/>
          </a:prstGeom>
          <a:noFill/>
          <a:ln w="12700">
            <a:solidFill>
              <a:srgbClr val="2B5A88"/>
            </a:solidFill>
            <a:prstDash val="solid"/>
          </a:ln>
        </p:spPr>
      </p:sp>
      <p:sp>
        <p:nvSpPr>
          <p:cNvPr id="12" name="Bonus amount 90"/>
          <p:cNvSpPr txBox="1"/>
          <p:nvPr/>
        </p:nvSpPr>
        <p:spPr>
          <a:xfrm>
            <a:off x="8001000" y="3848435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3000" dirty="0"/>
          </a:p>
        </p:txBody>
      </p:sp>
      <p:sp>
        <p:nvSpPr>
          <p:cNvPr id="13" name="Bonus label 91"/>
          <p:cNvSpPr txBox="1"/>
          <p:nvPr/>
        </p:nvSpPr>
        <p:spPr>
          <a:xfrm>
            <a:off x="9921240" y="3848435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400" dirty="0"/>
          </a:p>
        </p:txBody>
      </p:sp>
      <p:pic>
        <p:nvPicPr>
          <p:cNvPr id="14" name="Top bonus highlight 9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8120" y="4586162"/>
            <a:ext cx="3642055" cy="805564"/>
          </a:xfrm>
          <a:prstGeom prst="rect">
            <a:avLst/>
          </a:prstGeom>
        </p:spPr>
      </p:pic>
      <p:sp>
        <p:nvSpPr>
          <p:cNvPr id="15" name="Bonus amount 93"/>
          <p:cNvSpPr txBox="1"/>
          <p:nvPr/>
        </p:nvSpPr>
        <p:spPr>
          <a:xfrm>
            <a:off x="8001000" y="4713356"/>
            <a:ext cx="1920240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3000" dirty="0"/>
          </a:p>
        </p:txBody>
      </p:sp>
      <p:sp>
        <p:nvSpPr>
          <p:cNvPr id="16" name="Bonus label 94"/>
          <p:cNvSpPr txBox="1"/>
          <p:nvPr/>
        </p:nvSpPr>
        <p:spPr>
          <a:xfrm>
            <a:off x="9921240" y="4713356"/>
            <a:ext cx="1538935" cy="5511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400" dirty="0"/>
          </a:p>
        </p:txBody>
      </p:sp>
      <p:pic>
        <p:nvPicPr>
          <p:cNvPr id="17" name="Bonus note card 9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5815706"/>
            <a:ext cx="11204143" cy="559655"/>
          </a:xfrm>
          <a:prstGeom prst="rect">
            <a:avLst/>
          </a:prstGeom>
        </p:spPr>
      </p:pic>
      <p:sp>
        <p:nvSpPr>
          <p:cNvPr id="18" name="Bonus note outline 96"/>
          <p:cNvSpPr/>
          <p:nvPr/>
        </p:nvSpPr>
        <p:spPr>
          <a:xfrm>
            <a:off x="438912" y="5815706"/>
            <a:ext cx="11204143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19" name="Icon FaCircleInfo 97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" y="5903510"/>
            <a:ext cx="384048" cy="384048"/>
          </a:xfrm>
          <a:prstGeom prst="rect">
            <a:avLst/>
          </a:prstGeom>
        </p:spPr>
      </p:pic>
      <p:sp>
        <p:nvSpPr>
          <p:cNvPr id="20" name="Bonus note 98"/>
          <p:cNvSpPr txBox="1"/>
          <p:nvPr/>
        </p:nvSpPr>
        <p:spPr>
          <a:xfrm>
            <a:off x="1152144" y="5849625"/>
            <a:ext cx="10308031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20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99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recorrido del embajador</a:t>
            </a:r>
            <a:endParaRPr lang="en-US" sz="3000" dirty="0"/>
          </a:p>
        </p:txBody>
      </p:sp>
      <p:sp>
        <p:nvSpPr>
          <p:cNvPr id="4" name="Subtitle 100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verdadero valor del programa es el siguiente recorrido:</a:t>
            </a:r>
            <a:endParaRPr lang="en-US" sz="1600" dirty="0"/>
          </a:p>
        </p:txBody>
      </p:sp>
      <p:sp>
        <p:nvSpPr>
          <p:cNvPr id="5" name="Journey connector 101"/>
          <p:cNvSpPr/>
          <p:nvPr/>
        </p:nvSpPr>
        <p:spPr>
          <a:xfrm>
            <a:off x="12344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6" name="Journey connector 102"/>
          <p:cNvSpPr/>
          <p:nvPr/>
        </p:nvSpPr>
        <p:spPr>
          <a:xfrm flipV="1">
            <a:off x="288036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7" name="Journey connector 103"/>
          <p:cNvSpPr/>
          <p:nvPr/>
        </p:nvSpPr>
        <p:spPr>
          <a:xfrm>
            <a:off x="452628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8" name="Journey connector 104"/>
          <p:cNvSpPr/>
          <p:nvPr/>
        </p:nvSpPr>
        <p:spPr>
          <a:xfrm flipV="1">
            <a:off x="617220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9" name="Journey connector 105"/>
          <p:cNvSpPr/>
          <p:nvPr/>
        </p:nvSpPr>
        <p:spPr>
          <a:xfrm>
            <a:off x="781812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0" name="Journey connector 106"/>
          <p:cNvSpPr/>
          <p:nvPr/>
        </p:nvSpPr>
        <p:spPr>
          <a:xfrm flipV="1">
            <a:off x="9464040" y="3623425"/>
            <a:ext cx="1645920" cy="1612669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dash"/>
          </a:ln>
        </p:spPr>
      </p:sp>
      <p:sp>
        <p:nvSpPr>
          <p:cNvPr id="11" name="Journey halo 107"/>
          <p:cNvSpPr/>
          <p:nvPr/>
        </p:nvSpPr>
        <p:spPr>
          <a:xfrm>
            <a:off x="48463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2" name="Icon FaUserGraduate 108" descr="UserGradu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983345"/>
            <a:ext cx="1280160" cy="1280160"/>
          </a:xfrm>
          <a:prstGeom prst="rect">
            <a:avLst/>
          </a:prstGeom>
        </p:spPr>
      </p:pic>
      <p:sp>
        <p:nvSpPr>
          <p:cNvPr id="13" name="Journey label 109"/>
          <p:cNvSpPr txBox="1"/>
          <p:nvPr/>
        </p:nvSpPr>
        <p:spPr>
          <a:xfrm>
            <a:off x="32004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</a:t>
            </a:r>
            <a:endParaRPr lang="en-US" sz="1500" dirty="0"/>
          </a:p>
        </p:txBody>
      </p:sp>
      <p:sp>
        <p:nvSpPr>
          <p:cNvPr id="14" name="Journey step 110"/>
          <p:cNvSpPr txBox="1"/>
          <p:nvPr/>
        </p:nvSpPr>
        <p:spPr>
          <a:xfrm>
            <a:off x="154533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Journey halo 111"/>
          <p:cNvSpPr/>
          <p:nvPr/>
        </p:nvSpPr>
        <p:spPr>
          <a:xfrm>
            <a:off x="213055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16" name="Icon FaShareNodes 112" descr="ShareNod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0280" y="4596015"/>
            <a:ext cx="1280160" cy="1280160"/>
          </a:xfrm>
          <a:prstGeom prst="rect">
            <a:avLst/>
          </a:prstGeom>
        </p:spPr>
      </p:pic>
      <p:sp>
        <p:nvSpPr>
          <p:cNvPr id="17" name="Journey label 113"/>
          <p:cNvSpPr txBox="1"/>
          <p:nvPr/>
        </p:nvSpPr>
        <p:spPr>
          <a:xfrm>
            <a:off x="196596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</a:t>
            </a:r>
            <a:endParaRPr lang="en-US" sz="1500" dirty="0"/>
          </a:p>
        </p:txBody>
      </p:sp>
      <p:sp>
        <p:nvSpPr>
          <p:cNvPr id="18" name="Journey step 114"/>
          <p:cNvSpPr txBox="1"/>
          <p:nvPr/>
        </p:nvSpPr>
        <p:spPr>
          <a:xfrm>
            <a:off x="319125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Journey halo 115"/>
          <p:cNvSpPr/>
          <p:nvPr/>
        </p:nvSpPr>
        <p:spPr>
          <a:xfrm>
            <a:off x="377647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0" name="Icon FaUsers 116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2983345"/>
            <a:ext cx="1280160" cy="1280160"/>
          </a:xfrm>
          <a:prstGeom prst="rect">
            <a:avLst/>
          </a:prstGeom>
        </p:spPr>
      </p:pic>
      <p:sp>
        <p:nvSpPr>
          <p:cNvPr id="21" name="Journey label 117"/>
          <p:cNvSpPr txBox="1"/>
          <p:nvPr/>
        </p:nvSpPr>
        <p:spPr>
          <a:xfrm>
            <a:off x="361188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</a:t>
            </a:r>
            <a:endParaRPr lang="en-US" sz="1500" dirty="0"/>
          </a:p>
        </p:txBody>
      </p:sp>
      <p:sp>
        <p:nvSpPr>
          <p:cNvPr id="22" name="Journey step 118"/>
          <p:cNvSpPr txBox="1"/>
          <p:nvPr/>
        </p:nvSpPr>
        <p:spPr>
          <a:xfrm>
            <a:off x="483717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Journey halo 119"/>
          <p:cNvSpPr/>
          <p:nvPr/>
        </p:nvSpPr>
        <p:spPr>
          <a:xfrm>
            <a:off x="542239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4" name="Icon FaCalendarDays 120" descr="CalendarDay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32120" y="4596015"/>
            <a:ext cx="1280160" cy="1280160"/>
          </a:xfrm>
          <a:prstGeom prst="rect">
            <a:avLst/>
          </a:prstGeom>
        </p:spPr>
      </p:pic>
      <p:sp>
        <p:nvSpPr>
          <p:cNvPr id="25" name="Journey label 121"/>
          <p:cNvSpPr txBox="1"/>
          <p:nvPr/>
        </p:nvSpPr>
        <p:spPr>
          <a:xfrm>
            <a:off x="525780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Eventos</a:t>
            </a:r>
            <a:endParaRPr lang="en-US" sz="1500" dirty="0"/>
          </a:p>
        </p:txBody>
      </p:sp>
      <p:sp>
        <p:nvSpPr>
          <p:cNvPr id="26" name="Journey step 122"/>
          <p:cNvSpPr txBox="1"/>
          <p:nvPr/>
        </p:nvSpPr>
        <p:spPr>
          <a:xfrm>
            <a:off x="648309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Journey halo 123"/>
          <p:cNvSpPr/>
          <p:nvPr/>
        </p:nvSpPr>
        <p:spPr>
          <a:xfrm>
            <a:off x="7068312" y="287361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28" name="Icon FaUserTie 124" descr="UserTi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983345"/>
            <a:ext cx="1280160" cy="1280160"/>
          </a:xfrm>
          <a:prstGeom prst="rect">
            <a:avLst/>
          </a:prstGeom>
        </p:spPr>
      </p:pic>
      <p:sp>
        <p:nvSpPr>
          <p:cNvPr id="29" name="Journey label 125"/>
          <p:cNvSpPr txBox="1"/>
          <p:nvPr/>
        </p:nvSpPr>
        <p:spPr>
          <a:xfrm>
            <a:off x="690372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Asesor</a:t>
            </a:r>
            <a:endParaRPr lang="en-US" sz="1500" dirty="0"/>
          </a:p>
        </p:txBody>
      </p:sp>
      <p:sp>
        <p:nvSpPr>
          <p:cNvPr id="30" name="Journey step 126"/>
          <p:cNvSpPr txBox="1"/>
          <p:nvPr/>
        </p:nvSpPr>
        <p:spPr>
          <a:xfrm>
            <a:off x="8129016" y="3959999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Journey halo 127"/>
          <p:cNvSpPr/>
          <p:nvPr/>
        </p:nvSpPr>
        <p:spPr>
          <a:xfrm>
            <a:off x="8714232" y="4486287"/>
            <a:ext cx="1499616" cy="1499616"/>
          </a:xfrm>
          <a:prstGeom prst="ellipse">
            <a:avLst/>
          </a:prstGeom>
          <a:solidFill>
            <a:schemeClr val="accent1">
              <a:alpha val="15000"/>
            </a:schemeClr>
          </a:solidFill>
          <a:ln/>
        </p:spPr>
      </p:sp>
      <p:pic>
        <p:nvPicPr>
          <p:cNvPr id="32" name="Icon FaFileSignature 128" descr="FileSignatur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4596015"/>
            <a:ext cx="1280160" cy="1280160"/>
          </a:xfrm>
          <a:prstGeom prst="rect">
            <a:avLst/>
          </a:prstGeom>
        </p:spPr>
      </p:pic>
      <p:sp>
        <p:nvSpPr>
          <p:cNvPr id="33" name="Journey label 129"/>
          <p:cNvSpPr txBox="1"/>
          <p:nvPr/>
        </p:nvSpPr>
        <p:spPr>
          <a:xfrm>
            <a:off x="8549640" y="6024511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Inscripción</a:t>
            </a:r>
            <a:endParaRPr lang="en-US" sz="1500" dirty="0"/>
          </a:p>
        </p:txBody>
      </p:sp>
      <p:sp>
        <p:nvSpPr>
          <p:cNvPr id="34" name="Journey step 130"/>
          <p:cNvSpPr txBox="1"/>
          <p:nvPr/>
        </p:nvSpPr>
        <p:spPr>
          <a:xfrm>
            <a:off x="9774936" y="4515473"/>
            <a:ext cx="384048" cy="384048"/>
          </a:xfrm>
          <a:prstGeom prst="ellipse">
            <a:avLst/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Journey halo 131"/>
          <p:cNvSpPr/>
          <p:nvPr/>
        </p:nvSpPr>
        <p:spPr>
          <a:xfrm>
            <a:off x="10360152" y="2873617"/>
            <a:ext cx="1499616" cy="1499616"/>
          </a:xfrm>
          <a:prstGeom prst="ellipse">
            <a:avLst/>
          </a:prstGeom>
          <a:solidFill>
            <a:schemeClr val="accent2">
              <a:alpha val="15000"/>
            </a:schemeClr>
          </a:solidFill>
          <a:ln/>
        </p:spPr>
      </p:sp>
      <p:pic>
        <p:nvPicPr>
          <p:cNvPr id="36" name="Icon FaTrophy 132" descr="Trophy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0" y="2983345"/>
            <a:ext cx="1280160" cy="1280160"/>
          </a:xfrm>
          <a:prstGeom prst="rect">
            <a:avLst/>
          </a:prstGeom>
        </p:spPr>
      </p:pic>
      <p:sp>
        <p:nvSpPr>
          <p:cNvPr id="37" name="Journey label 133"/>
          <p:cNvSpPr txBox="1"/>
          <p:nvPr/>
        </p:nvSpPr>
        <p:spPr>
          <a:xfrm>
            <a:off x="10195560" y="2503516"/>
            <a:ext cx="18288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Recompensa</a:t>
            </a:r>
            <a:endParaRPr lang="en-US" sz="1500" dirty="0"/>
          </a:p>
        </p:txBody>
      </p:sp>
      <p:sp>
        <p:nvSpPr>
          <p:cNvPr id="38" name="Journey step 134"/>
          <p:cNvSpPr txBox="1"/>
          <p:nvPr/>
        </p:nvSpPr>
        <p:spPr>
          <a:xfrm>
            <a:off x="11420856" y="3959999"/>
            <a:ext cx="384048" cy="384048"/>
          </a:xfrm>
          <a:prstGeom prst="ellipse">
            <a:avLst/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18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198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216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3" grpId="0" animBg="1"/>
      <p:bldP spid="14" grpId="0" animBg="1"/>
      <p:bldP spid="5" grpId="0" animBg="1"/>
      <p:bldP spid="15" grpId="0" animBg="1"/>
      <p:bldP spid="17" grpId="0" animBg="1"/>
      <p:bldP spid="18" grpId="0" animBg="1"/>
      <p:bldP spid="6" grpId="0" animBg="1"/>
      <p:bldP spid="19" grpId="0" animBg="1"/>
      <p:bldP spid="21" grpId="0" animBg="1"/>
      <p:bldP spid="22" grpId="0" animBg="1"/>
      <p:bldP spid="7" grpId="0" animBg="1"/>
      <p:bldP spid="23" grpId="0" animBg="1"/>
      <p:bldP spid="25" grpId="0" animBg="1"/>
      <p:bldP spid="26" grpId="0" animBg="1"/>
      <p:bldP spid="8" grpId="0" animBg="1"/>
      <p:bldP spid="27" grpId="0" animBg="1"/>
      <p:bldP spid="29" grpId="0" animBg="1"/>
      <p:bldP spid="30" grpId="0" animBg="1"/>
      <p:bldP spid="9" grpId="0" animBg="1"/>
      <p:bldP spid="31" grpId="0" animBg="1"/>
      <p:bldP spid="33" grpId="0" animBg="1"/>
      <p:bldP spid="34" grpId="0" animBg="1"/>
      <p:bldP spid="10" grpId="0" animBg="1"/>
      <p:bldP spid="35" grpId="0" animBg="1"/>
      <p:bldP spid="37" grpId="0" animBg="1"/>
      <p:bldP spid="3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35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136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137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38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8800" dirty="0"/>
          </a:p>
        </p:txBody>
      </p:sp>
      <p:sp>
        <p:nvSpPr>
          <p:cNvPr id="6" name="Section kicker 139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40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y beneficios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4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Niveles de embajador</a:t>
            </a:r>
            <a:endParaRPr lang="en-US" sz="3000" dirty="0"/>
          </a:p>
        </p:txBody>
      </p:sp>
      <p:pic>
        <p:nvPicPr>
          <p:cNvPr id="4" name="Level card 142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399444"/>
            <a:ext cx="3511296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eedling 143" descr="Seedl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3661295"/>
            <a:ext cx="685800" cy="685800"/>
          </a:xfrm>
          <a:prstGeom prst="rect">
            <a:avLst/>
          </a:prstGeom>
        </p:spPr>
      </p:pic>
      <p:sp>
        <p:nvSpPr>
          <p:cNvPr id="6" name="Level points 144"/>
          <p:cNvSpPr txBox="1"/>
          <p:nvPr/>
        </p:nvSpPr>
        <p:spPr>
          <a:xfrm>
            <a:off x="1600200" y="3650303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100</a:t>
            </a:r>
            <a:pPr algn="r" indent="0" marL="0">
              <a:buNone/>
            </a:pPr>
            <a:r>
              <a:rPr lang="en-US" sz="14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7" name="Level name 145"/>
          <p:cNvSpPr txBox="1"/>
          <p:nvPr/>
        </p:nvSpPr>
        <p:spPr>
          <a:xfrm>
            <a:off x="822960" y="4474556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JUNIOR</a:t>
            </a:r>
            <a:endParaRPr lang="en-US" sz="1100" dirty="0"/>
          </a:p>
        </p:txBody>
      </p:sp>
      <p:sp>
        <p:nvSpPr>
          <p:cNvPr id="8" name="Level items 146"/>
          <p:cNvSpPr txBox="1"/>
          <p:nvPr/>
        </p:nvSpPr>
        <p:spPr>
          <a:xfrm>
            <a:off x="822960" y="5325687"/>
            <a:ext cx="3054096" cy="9407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Credencial digital.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9" name="Level card 147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1688" y="2682702"/>
            <a:ext cx="3511296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0" name="Icon FaMedal 148" descr="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6008" y="2944553"/>
            <a:ext cx="685800" cy="685800"/>
          </a:xfrm>
          <a:prstGeom prst="rect">
            <a:avLst/>
          </a:prstGeom>
        </p:spPr>
      </p:pic>
      <p:sp>
        <p:nvSpPr>
          <p:cNvPr id="11" name="Level points 149"/>
          <p:cNvSpPr txBox="1"/>
          <p:nvPr/>
        </p:nvSpPr>
        <p:spPr>
          <a:xfrm>
            <a:off x="5413248" y="2933561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250</a:t>
            </a:r>
            <a:pPr algn="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2" name="Level name 150"/>
          <p:cNvSpPr txBox="1"/>
          <p:nvPr/>
        </p:nvSpPr>
        <p:spPr>
          <a:xfrm>
            <a:off x="4636008" y="3757815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bg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PLUS</a:t>
            </a:r>
            <a:endParaRPr lang="en-US" sz="1100" dirty="0"/>
          </a:p>
        </p:txBody>
      </p:sp>
      <p:sp>
        <p:nvSpPr>
          <p:cNvPr id="13" name="Level items 151"/>
          <p:cNvSpPr txBox="1"/>
          <p:nvPr/>
        </p:nvSpPr>
        <p:spPr>
          <a:xfrm>
            <a:off x="4636008" y="4608945"/>
            <a:ext cx="3054096" cy="1657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Acceso a actividades especiales.</a:t>
            </a:r>
            <a:endParaRPr lang="en-US" sz="1350" dirty="0"/>
          </a:p>
        </p:txBody>
      </p:sp>
      <p:pic>
        <p:nvPicPr>
          <p:cNvPr id="14" name="Level card 15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1965960"/>
            <a:ext cx="3511296" cy="44348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5" name="Icon FaCrown 153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9056" y="2227811"/>
            <a:ext cx="685800" cy="685800"/>
          </a:xfrm>
          <a:prstGeom prst="rect">
            <a:avLst/>
          </a:prstGeom>
        </p:spPr>
      </p:pic>
      <p:sp>
        <p:nvSpPr>
          <p:cNvPr id="16" name="Level points 154"/>
          <p:cNvSpPr txBox="1"/>
          <p:nvPr/>
        </p:nvSpPr>
        <p:spPr>
          <a:xfrm>
            <a:off x="9226296" y="2216820"/>
            <a:ext cx="223113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500</a:t>
            </a:r>
            <a:pPr algn="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puntos</a:t>
            </a:r>
            <a:endParaRPr lang="en-US" sz="3400" dirty="0"/>
          </a:p>
        </p:txBody>
      </p:sp>
      <p:sp>
        <p:nvSpPr>
          <p:cNvPr id="17" name="Level name 155"/>
          <p:cNvSpPr txBox="1"/>
          <p:nvPr/>
        </p:nvSpPr>
        <p:spPr>
          <a:xfrm>
            <a:off x="8449056" y="3041073"/>
            <a:ext cx="2962656" cy="7615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100" dirty="0"/>
          </a:p>
          <a:p>
            <a:pPr indent="0" marL="0">
              <a:buNone/>
            </a:pPr>
            <a:r>
              <a:rPr lang="en-US" sz="2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ÉLITE</a:t>
            </a:r>
            <a:endParaRPr lang="en-US" sz="1100" dirty="0"/>
          </a:p>
        </p:txBody>
      </p:sp>
      <p:sp>
        <p:nvSpPr>
          <p:cNvPr id="18" name="Level items 156"/>
          <p:cNvSpPr txBox="1"/>
          <p:nvPr/>
        </p:nvSpPr>
        <p:spPr>
          <a:xfrm>
            <a:off x="8449056" y="3892204"/>
            <a:ext cx="3054096" cy="23742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Todo lo anterior.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especiales con autoridades.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 en campañas institucionales.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●"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como embajador del semestre.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1" grpId="0" animBg="1"/>
      <p:bldP spid="12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5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Kit del embajador</a:t>
            </a:r>
            <a:endParaRPr lang="en-US" sz="3000" dirty="0"/>
          </a:p>
        </p:txBody>
      </p:sp>
      <p:sp>
        <p:nvSpPr>
          <p:cNvPr id="4" name="Subtitle 158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 damos todas las herramientas para compartir Westhill de forma fácil y auténtica</a:t>
            </a:r>
            <a:endParaRPr lang="en-US" sz="1600" dirty="0"/>
          </a:p>
        </p:txBody>
      </p:sp>
      <p:pic>
        <p:nvPicPr>
          <p:cNvPr id="5" name="Kit tile 15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Qrcode 16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646890"/>
            <a:ext cx="868680" cy="868680"/>
          </a:xfrm>
          <a:prstGeom prst="rect">
            <a:avLst/>
          </a:prstGeom>
        </p:spPr>
      </p:pic>
      <p:pic>
        <p:nvPicPr>
          <p:cNvPr id="7" name="Icon FaQrcode 161" descr="Qrcod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37735"/>
            <a:ext cx="713232" cy="713232"/>
          </a:xfrm>
          <a:prstGeom prst="rect">
            <a:avLst/>
          </a:prstGeom>
        </p:spPr>
      </p:pic>
      <p:sp>
        <p:nvSpPr>
          <p:cNvPr id="8" name="Kit label 162"/>
          <p:cNvSpPr txBox="1"/>
          <p:nvPr/>
        </p:nvSpPr>
        <p:spPr>
          <a:xfrm>
            <a:off x="822960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Código QR personalizado.</a:t>
            </a:r>
            <a:endParaRPr lang="en-US" sz="1500" dirty="0"/>
          </a:p>
        </p:txBody>
      </p:sp>
      <p:pic>
        <p:nvPicPr>
          <p:cNvPr id="9" name="Kit tile 16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1568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Whatsapp 164" descr="Whatsap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75888" y="2737735"/>
            <a:ext cx="713232" cy="713232"/>
          </a:xfrm>
          <a:prstGeom prst="rect">
            <a:avLst/>
          </a:prstGeom>
        </p:spPr>
      </p:pic>
      <p:sp>
        <p:nvSpPr>
          <p:cNvPr id="11" name="Kit label 165"/>
          <p:cNvSpPr txBox="1"/>
          <p:nvPr/>
        </p:nvSpPr>
        <p:spPr>
          <a:xfrm>
            <a:off x="3675888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Imágenes para WhatsApp</a:t>
            </a:r>
            <a:endParaRPr lang="en-US" sz="1500" dirty="0"/>
          </a:p>
        </p:txBody>
      </p:sp>
      <p:pic>
        <p:nvPicPr>
          <p:cNvPr id="12" name="Kit tile 16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Instagram 167" descr="Instagram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2737735"/>
            <a:ext cx="713232" cy="713232"/>
          </a:xfrm>
          <a:prstGeom prst="rect">
            <a:avLst/>
          </a:prstGeom>
        </p:spPr>
      </p:pic>
      <p:sp>
        <p:nvSpPr>
          <p:cNvPr id="14" name="Kit label 168"/>
          <p:cNvSpPr txBox="1"/>
          <p:nvPr/>
        </p:nvSpPr>
        <p:spPr>
          <a:xfrm>
            <a:off x="6528816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 Instagram</a:t>
            </a:r>
            <a:endParaRPr lang="en-US" sz="1500" dirty="0"/>
          </a:p>
        </p:txBody>
      </p:sp>
      <p:pic>
        <p:nvPicPr>
          <p:cNvPr id="15" name="Kit tile 16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07424" y="2490793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Video 170" descr="Video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81744" y="2737735"/>
            <a:ext cx="713232" cy="713232"/>
          </a:xfrm>
          <a:prstGeom prst="rect">
            <a:avLst/>
          </a:prstGeom>
        </p:spPr>
      </p:pic>
      <p:sp>
        <p:nvSpPr>
          <p:cNvPr id="17" name="Kit label 171"/>
          <p:cNvSpPr txBox="1"/>
          <p:nvPr/>
        </p:nvSpPr>
        <p:spPr>
          <a:xfrm>
            <a:off x="9381744" y="358419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 cortos</a:t>
            </a:r>
            <a:endParaRPr lang="en-US" sz="1500" dirty="0"/>
          </a:p>
        </p:txBody>
      </p:sp>
      <p:pic>
        <p:nvPicPr>
          <p:cNvPr id="18" name="Kit tile 17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9" name="Icon FaEnvelopeOpenText 173" descr="EnvelopeOpenTex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2960" y="4810826"/>
            <a:ext cx="713232" cy="713232"/>
          </a:xfrm>
          <a:prstGeom prst="rect">
            <a:avLst/>
          </a:prstGeom>
        </p:spPr>
      </p:pic>
      <p:sp>
        <p:nvSpPr>
          <p:cNvPr id="20" name="Kit label 174"/>
          <p:cNvSpPr txBox="1"/>
          <p:nvPr/>
        </p:nvSpPr>
        <p:spPr>
          <a:xfrm>
            <a:off x="822960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Invitaciones a eventos</a:t>
            </a:r>
            <a:endParaRPr lang="en-US" sz="1500" dirty="0"/>
          </a:p>
        </p:txBody>
      </p:sp>
      <p:pic>
        <p:nvPicPr>
          <p:cNvPr id="21" name="Kit tile 175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01568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2" name="Icon FaBookOpen 176" descr="BookOpen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675888" y="4810826"/>
            <a:ext cx="713232" cy="713232"/>
          </a:xfrm>
          <a:prstGeom prst="rect">
            <a:avLst/>
          </a:prstGeom>
        </p:spPr>
      </p:pic>
      <p:sp>
        <p:nvSpPr>
          <p:cNvPr id="23" name="Kit label 177"/>
          <p:cNvSpPr txBox="1"/>
          <p:nvPr/>
        </p:nvSpPr>
        <p:spPr>
          <a:xfrm>
            <a:off x="3675888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Información de las licenciaturas</a:t>
            </a:r>
            <a:endParaRPr lang="en-US" sz="1500" dirty="0"/>
          </a:p>
        </p:txBody>
      </p:sp>
      <p:pic>
        <p:nvPicPr>
          <p:cNvPr id="24" name="Kit tile 178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254496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Icon FaCommentDots 179" descr="CommentDots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28816" y="4810826"/>
            <a:ext cx="713232" cy="713232"/>
          </a:xfrm>
          <a:prstGeom prst="rect">
            <a:avLst/>
          </a:prstGeom>
        </p:spPr>
      </p:pic>
      <p:sp>
        <p:nvSpPr>
          <p:cNvPr id="26" name="Kit label 180"/>
          <p:cNvSpPr txBox="1"/>
          <p:nvPr/>
        </p:nvSpPr>
        <p:spPr>
          <a:xfrm>
            <a:off x="6528816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Mensajes sugeridos</a:t>
            </a:r>
            <a:endParaRPr lang="en-US" sz="1500" dirty="0"/>
          </a:p>
        </p:txBody>
      </p:sp>
      <p:pic>
        <p:nvPicPr>
          <p:cNvPr id="27" name="Kit tile 181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107424" y="4563884"/>
            <a:ext cx="2606040" cy="183691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8" name="Icon FaCalendarDays 182" descr="CalendarDays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381744" y="4810826"/>
            <a:ext cx="713232" cy="713232"/>
          </a:xfrm>
          <a:prstGeom prst="rect">
            <a:avLst/>
          </a:prstGeom>
        </p:spPr>
      </p:pic>
      <p:sp>
        <p:nvSpPr>
          <p:cNvPr id="29" name="Kit label 183"/>
          <p:cNvSpPr txBox="1"/>
          <p:nvPr/>
        </p:nvSpPr>
        <p:spPr>
          <a:xfrm>
            <a:off x="9381744" y="5657286"/>
            <a:ext cx="2148840" cy="629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Calendarios de eventos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  <p:bldP spid="23" grpId="0" animBg="1"/>
      <p:bldP spid="26" grpId="0" animBg="1"/>
      <p:bldP spid="2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84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Reconocimientos</a:t>
            </a:r>
            <a:endParaRPr lang="en-US" sz="3000" dirty="0"/>
          </a:p>
        </p:txBody>
      </p:sp>
      <p:pic>
        <p:nvPicPr>
          <p:cNvPr id="4" name="Recognition card 18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Star 186" descr="Sta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2403302"/>
            <a:ext cx="1051560" cy="1051560"/>
          </a:xfrm>
          <a:prstGeom prst="rect">
            <a:avLst/>
          </a:prstGeom>
        </p:spPr>
      </p:pic>
      <p:sp>
        <p:nvSpPr>
          <p:cNvPr id="6" name="Recognition title 187"/>
          <p:cNvSpPr txBox="1"/>
          <p:nvPr/>
        </p:nvSpPr>
        <p:spPr>
          <a:xfrm>
            <a:off x="2240280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MES</a:t>
            </a:r>
            <a:endParaRPr lang="en-US" sz="1200" dirty="0"/>
          </a:p>
        </p:txBody>
      </p:sp>
      <p:pic>
        <p:nvPicPr>
          <p:cNvPr id="7" name="Icon FaBullhorn 188" descr="Bullhor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" y="3841865"/>
            <a:ext cx="548640" cy="548640"/>
          </a:xfrm>
          <a:prstGeom prst="rect">
            <a:avLst/>
          </a:prstGeom>
        </p:spPr>
      </p:pic>
      <p:sp>
        <p:nvSpPr>
          <p:cNvPr id="8" name="Recognition item 189"/>
          <p:cNvSpPr txBox="1"/>
          <p:nvPr/>
        </p:nvSpPr>
        <p:spPr>
          <a:xfrm>
            <a:off x="1691640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9" name="Icon FaInstagram 190" descr="Instagra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648200"/>
            <a:ext cx="548640" cy="548640"/>
          </a:xfrm>
          <a:prstGeom prst="rect">
            <a:avLst/>
          </a:prstGeom>
        </p:spPr>
      </p:pic>
      <p:sp>
        <p:nvSpPr>
          <p:cNvPr id="10" name="Recognition item 191"/>
          <p:cNvSpPr txBox="1"/>
          <p:nvPr/>
        </p:nvSpPr>
        <p:spPr>
          <a:xfrm>
            <a:off x="1691640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Historias destacadas en Instagram.</a:t>
            </a:r>
            <a:endParaRPr lang="en-US" sz="1500" dirty="0"/>
          </a:p>
        </p:txBody>
      </p:sp>
      <p:pic>
        <p:nvPicPr>
          <p:cNvPr id="11" name="Icon FaMugHot 192" descr="MugH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5454535"/>
            <a:ext cx="548640" cy="548640"/>
          </a:xfrm>
          <a:prstGeom prst="rect">
            <a:avLst/>
          </a:prstGeom>
        </p:spPr>
      </p:pic>
      <p:sp>
        <p:nvSpPr>
          <p:cNvPr id="12" name="Recognition item 193"/>
          <p:cNvSpPr txBox="1"/>
          <p:nvPr/>
        </p:nvSpPr>
        <p:spPr>
          <a:xfrm>
            <a:off x="1691640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Regalo Especial. (Un desayuno de Starbucks).</a:t>
            </a:r>
            <a:endParaRPr lang="en-US" sz="1500" dirty="0"/>
          </a:p>
        </p:txBody>
      </p:sp>
      <p:pic>
        <p:nvPicPr>
          <p:cNvPr id="13" name="Recognition card 19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6724" y="2010756"/>
            <a:ext cx="5396332" cy="439004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4" name="Watermark FaTrophy 195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59975" y="4548447"/>
            <a:ext cx="1554480" cy="1554480"/>
          </a:xfrm>
          <a:prstGeom prst="rect">
            <a:avLst/>
          </a:prstGeom>
        </p:spPr>
      </p:pic>
      <p:pic>
        <p:nvPicPr>
          <p:cNvPr id="15" name="Icon FaTrophy 196" descr="Trophy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58204" y="2403302"/>
            <a:ext cx="1051560" cy="1051560"/>
          </a:xfrm>
          <a:prstGeom prst="rect">
            <a:avLst/>
          </a:prstGeom>
        </p:spPr>
      </p:pic>
      <p:sp>
        <p:nvSpPr>
          <p:cNvPr id="16" name="Recognition title 197"/>
          <p:cNvSpPr txBox="1"/>
          <p:nvPr/>
        </p:nvSpPr>
        <p:spPr>
          <a:xfrm>
            <a:off x="7938364" y="2413924"/>
            <a:ext cx="3384652" cy="10303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5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</a:t>
            </a:r>
            <a:endParaRPr lang="en-US" sz="1200" dirty="0"/>
          </a:p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DEL SEMESTRE</a:t>
            </a:r>
            <a:endParaRPr lang="en-US" sz="1200" dirty="0"/>
          </a:p>
        </p:txBody>
      </p:sp>
      <p:pic>
        <p:nvPicPr>
          <p:cNvPr id="17" name="Icon FaBullhorn 198" descr="Bullhor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58204" y="3841865"/>
            <a:ext cx="548640" cy="548640"/>
          </a:xfrm>
          <a:prstGeom prst="rect">
            <a:avLst/>
          </a:prstGeom>
        </p:spPr>
      </p:pic>
      <p:sp>
        <p:nvSpPr>
          <p:cNvPr id="18" name="Recognition item 199"/>
          <p:cNvSpPr txBox="1"/>
          <p:nvPr/>
        </p:nvSpPr>
        <p:spPr>
          <a:xfrm>
            <a:off x="7389724" y="3802611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en redes institucionales.</a:t>
            </a:r>
            <a:endParaRPr lang="en-US" sz="1500" dirty="0"/>
          </a:p>
        </p:txBody>
      </p:sp>
      <p:pic>
        <p:nvPicPr>
          <p:cNvPr id="19" name="Icon FaStar 200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58204" y="4648200"/>
            <a:ext cx="548640" cy="548640"/>
          </a:xfrm>
          <a:prstGeom prst="rect">
            <a:avLst/>
          </a:prstGeom>
        </p:spPr>
      </p:pic>
      <p:sp>
        <p:nvSpPr>
          <p:cNvPr id="20" name="Recognition item 201"/>
          <p:cNvSpPr txBox="1"/>
          <p:nvPr/>
        </p:nvSpPr>
        <p:spPr>
          <a:xfrm>
            <a:off x="7389724" y="4608945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 especial.</a:t>
            </a:r>
            <a:endParaRPr lang="en-US" sz="1500" dirty="0"/>
          </a:p>
        </p:txBody>
      </p:sp>
      <p:pic>
        <p:nvPicPr>
          <p:cNvPr id="21" name="Icon FaNewspaper 202" descr="Newspaper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58204" y="5454535"/>
            <a:ext cx="548640" cy="548640"/>
          </a:xfrm>
          <a:prstGeom prst="rect">
            <a:avLst/>
          </a:prstGeom>
        </p:spPr>
      </p:pic>
      <p:sp>
        <p:nvSpPr>
          <p:cNvPr id="22" name="Recognition item 203"/>
          <p:cNvSpPr txBox="1"/>
          <p:nvPr/>
        </p:nvSpPr>
        <p:spPr>
          <a:xfrm>
            <a:off x="7389724" y="5415280"/>
            <a:ext cx="3933292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Difusión en medios.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2" grpId="0" animBg="1"/>
      <p:bldP spid="16" grpId="0" animBg="1"/>
      <p:bldP spid="18" grpId="0" animBg="1"/>
      <p:bldP spid="20" grpId="0" animBg="1"/>
      <p:bldP spid="2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204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05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206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207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8800" dirty="0"/>
          </a:p>
        </p:txBody>
      </p:sp>
      <p:sp>
        <p:nvSpPr>
          <p:cNvPr id="6" name="Section kicker 208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209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Iniciativas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1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Vive mi carrera</a:t>
            </a:r>
            <a:endParaRPr lang="en-US" sz="3000" dirty="0"/>
          </a:p>
        </p:txBody>
      </p:sp>
      <p:sp>
        <p:nvSpPr>
          <p:cNvPr id="4" name="Subtitle 211"/>
          <p:cNvSpPr txBox="1"/>
          <p:nvPr/>
        </p:nvSpPr>
        <p:spPr>
          <a:xfrm>
            <a:off x="548640" y="182880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un prospecto a vivir una experiencia real en tu carrera.</a:t>
            </a:r>
            <a:endParaRPr lang="en-US" sz="1600" dirty="0"/>
          </a:p>
        </p:txBody>
      </p:sp>
      <p:pic>
        <p:nvPicPr>
          <p:cNvPr id="5" name="Campus photo 212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51015" y="1874520"/>
            <a:ext cx="4892040" cy="44805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8000"/>
              </a:srgbClr>
            </a:outerShdw>
          </a:effectLst>
        </p:spPr>
      </p:pic>
      <p:pic>
        <p:nvPicPr>
          <p:cNvPr id="6" name="Vive row 213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58415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7" name="Icon FaChalkboardUser 214" descr="ChalkboardUs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650467"/>
            <a:ext cx="530352" cy="530352"/>
          </a:xfrm>
          <a:prstGeom prst="rect">
            <a:avLst/>
          </a:prstGeom>
        </p:spPr>
      </p:pic>
      <p:sp>
        <p:nvSpPr>
          <p:cNvPr id="8" name="Vive item 215"/>
          <p:cNvSpPr txBox="1"/>
          <p:nvPr/>
        </p:nvSpPr>
        <p:spPr>
          <a:xfrm>
            <a:off x="1325880" y="263790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Asiste a una clase.</a:t>
            </a:r>
            <a:endParaRPr lang="en-US" sz="1600" dirty="0"/>
          </a:p>
        </p:txBody>
      </p:sp>
      <p:pic>
        <p:nvPicPr>
          <p:cNvPr id="9" name="Vive row 216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354647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BuildingColumns 217" descr="BuildingColumn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" y="3420964"/>
            <a:ext cx="530352" cy="530352"/>
          </a:xfrm>
          <a:prstGeom prst="rect">
            <a:avLst/>
          </a:prstGeom>
        </p:spPr>
      </p:pic>
      <p:sp>
        <p:nvSpPr>
          <p:cNvPr id="11" name="Vive item 218"/>
          <p:cNvSpPr txBox="1"/>
          <p:nvPr/>
        </p:nvSpPr>
        <p:spPr>
          <a:xfrm>
            <a:off x="1325880" y="3408403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profesores e instalaciones.</a:t>
            </a:r>
            <a:endParaRPr lang="en-US" sz="1600" dirty="0"/>
          </a:p>
        </p:txBody>
      </p:sp>
      <p:pic>
        <p:nvPicPr>
          <p:cNvPr id="12" name="Vive row 21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125145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3" name="Icon FaComments 220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4191462"/>
            <a:ext cx="530352" cy="530352"/>
          </a:xfrm>
          <a:prstGeom prst="rect">
            <a:avLst/>
          </a:prstGeom>
        </p:spPr>
      </p:pic>
      <p:sp>
        <p:nvSpPr>
          <p:cNvPr id="14" name="Vive item 221"/>
          <p:cNvSpPr txBox="1"/>
          <p:nvPr/>
        </p:nvSpPr>
        <p:spPr>
          <a:xfrm>
            <a:off x="1325880" y="4178900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Conversa con estudiantes.</a:t>
            </a:r>
            <a:endParaRPr lang="en-US" sz="1600" dirty="0"/>
          </a:p>
        </p:txBody>
      </p:sp>
      <p:pic>
        <p:nvPicPr>
          <p:cNvPr id="15" name="Vive row 22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4895642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Flask 223" descr="Flas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1792" y="4961959"/>
            <a:ext cx="530352" cy="530352"/>
          </a:xfrm>
          <a:prstGeom prst="rect">
            <a:avLst/>
          </a:prstGeom>
        </p:spPr>
      </p:pic>
      <p:sp>
        <p:nvSpPr>
          <p:cNvPr id="17" name="Vive item 224"/>
          <p:cNvSpPr txBox="1"/>
          <p:nvPr/>
        </p:nvSpPr>
        <p:spPr>
          <a:xfrm>
            <a:off x="1325880" y="4949398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laboratorios y actividades.</a:t>
            </a:r>
            <a:endParaRPr lang="en-US" sz="1600" dirty="0"/>
          </a:p>
        </p:txBody>
      </p:sp>
      <p:pic>
        <p:nvPicPr>
          <p:cNvPr id="18" name="Vive row 225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5666140"/>
            <a:ext cx="5760720" cy="66298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9" name="Icon FaHandshake 226" descr="Handshake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21792" y="5732457"/>
            <a:ext cx="530352" cy="530352"/>
          </a:xfrm>
          <a:prstGeom prst="rect">
            <a:avLst/>
          </a:prstGeom>
        </p:spPr>
      </p:pic>
      <p:sp>
        <p:nvSpPr>
          <p:cNvPr id="20" name="Vive item 227"/>
          <p:cNvSpPr txBox="1"/>
          <p:nvPr/>
        </p:nvSpPr>
        <p:spPr>
          <a:xfrm>
            <a:off x="1325880" y="5719895"/>
            <a:ext cx="4846320" cy="5554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Sé su anfitrión.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1" grpId="0" animBg="1"/>
      <p:bldP spid="14" grpId="0" animBg="1"/>
      <p:bldP spid="17" grpId="0" animBg="1"/>
      <p:bldP spid="20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28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Recomendados</a:t>
            </a:r>
            <a:endParaRPr lang="en-US" sz="3000" dirty="0"/>
          </a:p>
        </p:txBody>
      </p:sp>
      <p:sp>
        <p:nvSpPr>
          <p:cNvPr id="4" name="Intro 229"/>
          <p:cNvSpPr txBox="1"/>
          <p:nvPr/>
        </p:nvSpPr>
        <p:spPr>
          <a:xfrm>
            <a:off x="548640" y="1828800"/>
            <a:ext cx="7543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 esta información podemos analizar que los medios de contacto de Recomendados, Ferias Escolares y Página Web son los más importantes generadores de inscritos. Para lo cual la propuesta es la siguiente:</a:t>
            </a:r>
            <a:endParaRPr lang="en-US" sz="1250" dirty="0"/>
          </a:p>
        </p:txBody>
      </p:sp>
      <p:pic>
        <p:nvPicPr>
          <p:cNvPr id="5" name="Program card 2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01931"/>
            <a:ext cx="7543800" cy="120410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Link 231" descr="Lin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38224"/>
            <a:ext cx="731520" cy="731520"/>
          </a:xfrm>
          <a:prstGeom prst="rect">
            <a:avLst/>
          </a:prstGeom>
        </p:spPr>
      </p:pic>
      <p:sp>
        <p:nvSpPr>
          <p:cNvPr id="7" name="Program text 232"/>
          <p:cNvSpPr txBox="1"/>
          <p:nvPr/>
        </p:nvSpPr>
        <p:spPr>
          <a:xfrm>
            <a:off x="1737360" y="2669768"/>
            <a:ext cx="6172200" cy="1068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Programa de Recomendados</a:t>
            </a:r>
            <a:endParaRPr lang="en-US" sz="16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3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convertir la recomendación en un programa comercial estructurado. Cada alumno inscrito recibe un código o enlace personalizado de recomendación.</a:t>
            </a:r>
            <a:endParaRPr lang="en-US" sz="1600" dirty="0"/>
          </a:p>
        </p:txBody>
      </p:sp>
      <p:pic>
        <p:nvPicPr>
          <p:cNvPr id="8" name="Bonus card 23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9" name="Bonus title 234"/>
          <p:cNvSpPr txBox="1"/>
          <p:nvPr/>
        </p:nvSpPr>
        <p:spPr>
          <a:xfrm>
            <a:off x="82296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económico (Bono especial)</a:t>
            </a:r>
            <a:endParaRPr lang="en-US" sz="1400" dirty="0"/>
          </a:p>
        </p:txBody>
      </p:sp>
      <p:sp>
        <p:nvSpPr>
          <p:cNvPr id="10" name="Bonus row label 235"/>
          <p:cNvSpPr txBox="1"/>
          <p:nvPr/>
        </p:nvSpPr>
        <p:spPr>
          <a:xfrm>
            <a:off x="822960" y="4543764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 invitado inscrito</a:t>
            </a:r>
            <a:endParaRPr lang="en-US" sz="1300" dirty="0"/>
          </a:p>
        </p:txBody>
      </p:sp>
      <p:sp>
        <p:nvSpPr>
          <p:cNvPr id="11" name="Bonus row amount 236"/>
          <p:cNvSpPr txBox="1"/>
          <p:nvPr/>
        </p:nvSpPr>
        <p:spPr>
          <a:xfrm>
            <a:off x="2743200" y="4543764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$2,000</a:t>
            </a:r>
            <a:endParaRPr lang="en-US" sz="2000" dirty="0"/>
          </a:p>
        </p:txBody>
      </p:sp>
      <p:sp>
        <p:nvSpPr>
          <p:cNvPr id="12" name="Bonus row label 237"/>
          <p:cNvSpPr txBox="1"/>
          <p:nvPr/>
        </p:nvSpPr>
        <p:spPr>
          <a:xfrm>
            <a:off x="822960" y="4933826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 invitados inscritos</a:t>
            </a:r>
            <a:endParaRPr lang="en-US" sz="1300" dirty="0"/>
          </a:p>
        </p:txBody>
      </p:sp>
      <p:sp>
        <p:nvSpPr>
          <p:cNvPr id="13" name="Bonus row amount 238"/>
          <p:cNvSpPr txBox="1"/>
          <p:nvPr/>
        </p:nvSpPr>
        <p:spPr>
          <a:xfrm>
            <a:off x="2743200" y="4933826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$3,500</a:t>
            </a:r>
            <a:endParaRPr lang="en-US" sz="2000" dirty="0"/>
          </a:p>
        </p:txBody>
      </p:sp>
      <p:sp>
        <p:nvSpPr>
          <p:cNvPr id="14" name="Bonus row label 239"/>
          <p:cNvSpPr txBox="1"/>
          <p:nvPr/>
        </p:nvSpPr>
        <p:spPr>
          <a:xfrm>
            <a:off x="822960" y="5323889"/>
            <a:ext cx="20116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 invitados inscritos</a:t>
            </a:r>
            <a:endParaRPr lang="en-US" sz="1300" dirty="0"/>
          </a:p>
        </p:txBody>
      </p:sp>
      <p:sp>
        <p:nvSpPr>
          <p:cNvPr id="15" name="Bonus row amount 240"/>
          <p:cNvSpPr txBox="1"/>
          <p:nvPr/>
        </p:nvSpPr>
        <p:spPr>
          <a:xfrm>
            <a:off x="2743200" y="5323889"/>
            <a:ext cx="1211580" cy="38158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$5,000</a:t>
            </a:r>
            <a:endParaRPr lang="en-US" sz="2000" dirty="0"/>
          </a:p>
        </p:txBody>
      </p:sp>
      <p:pic>
        <p:nvPicPr>
          <p:cNvPr id="16" name="Belonging card 24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3933231"/>
            <a:ext cx="3634740" cy="182311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7" name="Belonging title 242"/>
          <p:cNvSpPr txBox="1"/>
          <p:nvPr/>
        </p:nvSpPr>
        <p:spPr>
          <a:xfrm>
            <a:off x="4732020" y="4102824"/>
            <a:ext cx="3177540" cy="4663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Beneficio de Pertenencia:</a:t>
            </a:r>
            <a:endParaRPr lang="en-US" sz="1400" dirty="0"/>
          </a:p>
        </p:txBody>
      </p:sp>
      <p:sp>
        <p:nvSpPr>
          <p:cNvPr id="18" name="Belonging items 243"/>
          <p:cNvSpPr txBox="1"/>
          <p:nvPr/>
        </p:nvSpPr>
        <p:spPr>
          <a:xfrm>
            <a:off x="4732020" y="4543764"/>
            <a:ext cx="3177540" cy="1170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Reconocimiento al “Embajador Westhill del mes”. (Historias de Instagram).</a:t>
            </a:r>
            <a:endParaRPr lang="en-US" sz="1250" dirty="0"/>
          </a:p>
          <a:p>
            <a:pPr marL="190500" indent="-1905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un regalo como termo, paraguas, sudadera, etc.</a:t>
            </a:r>
            <a:endParaRPr lang="en-US" sz="1250" dirty="0"/>
          </a:p>
        </p:txBody>
      </p:sp>
      <p:pic>
        <p:nvPicPr>
          <p:cNvPr id="19" name="Bonus note card 24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5841145"/>
            <a:ext cx="7543800" cy="559655"/>
          </a:xfrm>
          <a:prstGeom prst="rect">
            <a:avLst/>
          </a:prstGeom>
        </p:spPr>
      </p:pic>
      <p:sp>
        <p:nvSpPr>
          <p:cNvPr id="20" name="Bonus note outline 245"/>
          <p:cNvSpPr/>
          <p:nvPr/>
        </p:nvSpPr>
        <p:spPr>
          <a:xfrm>
            <a:off x="548640" y="5841145"/>
            <a:ext cx="7543800" cy="559655"/>
          </a:xfrm>
          <a:prstGeom prst="roundRect">
            <a:avLst>
              <a:gd name="adj" fmla="val 22874"/>
            </a:avLst>
          </a:prstGeom>
          <a:ln w="19050">
            <a:solidFill>
              <a:schemeClr val="accent2"/>
            </a:solidFill>
            <a:prstDash val="solid"/>
          </a:ln>
        </p:spPr>
      </p:sp>
      <p:pic>
        <p:nvPicPr>
          <p:cNvPr id="21" name="Icon FaCircleInfo 246" descr="CircleInfo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3232" y="5928949"/>
            <a:ext cx="384048" cy="384048"/>
          </a:xfrm>
          <a:prstGeom prst="rect">
            <a:avLst/>
          </a:prstGeom>
        </p:spPr>
      </p:pic>
      <p:sp>
        <p:nvSpPr>
          <p:cNvPr id="22" name="Bonus note 247"/>
          <p:cNvSpPr txBox="1"/>
          <p:nvPr/>
        </p:nvSpPr>
        <p:spPr>
          <a:xfrm>
            <a:off x="1261872" y="5875064"/>
            <a:ext cx="6647688" cy="49181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bono se aplica una vez que el referido se encuentra inscrito y salvo a las políticas vigentes de la universidad. No es acumulativo y solo es válido dentro del mes.</a:t>
            </a:r>
            <a:endParaRPr lang="en-US" sz="1100" dirty="0"/>
          </a:p>
        </p:txBody>
      </p:sp>
      <p:pic>
        <p:nvPicPr>
          <p:cNvPr id="23" name="Flyer frame 24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1677" y="1901952"/>
            <a:ext cx="3435387" cy="437997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4" name="Current flyer 249" descr="Programa de referidos actu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1405" y="2011680"/>
            <a:ext cx="3215931" cy="4160520"/>
          </a:xfrm>
          <a:prstGeom prst="rect">
            <a:avLst/>
          </a:prstGeom>
        </p:spPr>
      </p:pic>
      <p:sp>
        <p:nvSpPr>
          <p:cNvPr id="25" name="Current tag 250"/>
          <p:cNvSpPr txBox="1"/>
          <p:nvPr/>
        </p:nvSpPr>
        <p:spPr>
          <a:xfrm>
            <a:off x="8564285" y="5623560"/>
            <a:ext cx="1234440" cy="384048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ACTUAL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  <p:bldP spid="20" grpId="0" animBg="1"/>
      <p:bldP spid="22" grpId="0" animBg="1"/>
      <p:bldP spid="2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5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3"/>
          <p:cNvSpPr/>
          <p:nvPr>
            <p:ph idx="105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 tu código a su lugar en Westhill</a:t>
            </a:r>
            <a:endParaRPr lang="en-US" sz="3000" dirty="0"/>
          </a:p>
        </p:txBody>
      </p:sp>
      <p:sp>
        <p:nvSpPr>
          <p:cNvPr id="4" name="Subtitle 252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Así genera cada embajador su código y envía su invitación</a:t>
            </a:r>
            <a:endParaRPr lang="en-US" sz="1600" dirty="0"/>
          </a:p>
        </p:txBody>
      </p:sp>
      <p:pic>
        <p:nvPicPr>
          <p:cNvPr id="5" name="Process card 25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286000"/>
            <a:ext cx="28346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6" name="Process number 254"/>
          <p:cNvSpPr txBox="1"/>
          <p:nvPr/>
        </p:nvSpPr>
        <p:spPr>
          <a:xfrm>
            <a:off x="713232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Process step 255"/>
          <p:cNvSpPr txBox="1"/>
          <p:nvPr/>
        </p:nvSpPr>
        <p:spPr>
          <a:xfrm>
            <a:off x="1225296" y="2414016"/>
            <a:ext cx="20665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 tu código</a:t>
            </a:r>
            <a:endParaRPr lang="en-US" sz="1350" dirty="0"/>
          </a:p>
        </p:txBody>
      </p:sp>
      <p:sp>
        <p:nvSpPr>
          <p:cNvPr id="8" name="Process detail 256"/>
          <p:cNvSpPr txBox="1"/>
          <p:nvPr/>
        </p:nvSpPr>
        <p:spPr>
          <a:xfrm>
            <a:off x="1225296" y="2724912"/>
            <a:ext cx="2066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Saca tu link y recibe tu pase</a:t>
            </a:r>
            <a:endParaRPr lang="en-US" sz="1100" dirty="0"/>
          </a:p>
        </p:txBody>
      </p:sp>
      <p:pic>
        <p:nvPicPr>
          <p:cNvPr id="9" name="Process screenshot 257" descr="Genera tu códi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994" y="3154680"/>
            <a:ext cx="2451931" cy="1490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0" name="Process screenshot 258" descr="Genera tu código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562" y="4773168"/>
            <a:ext cx="2130796" cy="149047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1" name="Icon FaChevronRight 259" descr="ChevronRigh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4151376"/>
            <a:ext cx="384048" cy="384048"/>
          </a:xfrm>
          <a:prstGeom prst="rect">
            <a:avLst/>
          </a:prstGeom>
        </p:spPr>
      </p:pic>
      <p:pic>
        <p:nvPicPr>
          <p:cNvPr id="12" name="Process card 260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9584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3" name="Process number 261"/>
          <p:cNvSpPr txBox="1"/>
          <p:nvPr/>
        </p:nvSpPr>
        <p:spPr>
          <a:xfrm>
            <a:off x="3694176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Process step 262"/>
          <p:cNvSpPr txBox="1"/>
          <p:nvPr/>
        </p:nvSpPr>
        <p:spPr>
          <a:xfrm>
            <a:off x="4206240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Envía tu invitación</a:t>
            </a:r>
            <a:endParaRPr lang="en-US" sz="1350" dirty="0"/>
          </a:p>
        </p:txBody>
      </p:sp>
      <p:sp>
        <p:nvSpPr>
          <p:cNvPr id="15" name="Process detail 263"/>
          <p:cNvSpPr txBox="1"/>
          <p:nvPr/>
        </p:nvSpPr>
        <p:spPr>
          <a:xfrm>
            <a:off x="4206240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Tu invitado abre el sobre</a:t>
            </a:r>
            <a:endParaRPr lang="en-US" sz="1100" dirty="0"/>
          </a:p>
        </p:txBody>
      </p:sp>
      <p:pic>
        <p:nvPicPr>
          <p:cNvPr id="16" name="Process screenshot 264" descr="Envía tu invitació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66744" y="3767288"/>
            <a:ext cx="2331720" cy="188374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17" name="Icon FaChevronRight 265" descr="Chevron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16752" y="4151376"/>
            <a:ext cx="384048" cy="384048"/>
          </a:xfrm>
          <a:prstGeom prst="rect">
            <a:avLst/>
          </a:prstGeom>
        </p:spPr>
      </p:pic>
      <p:pic>
        <p:nvPicPr>
          <p:cNvPr id="18" name="Process card 266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1928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9" name="Process number 267"/>
          <p:cNvSpPr txBox="1"/>
          <p:nvPr/>
        </p:nvSpPr>
        <p:spPr>
          <a:xfrm>
            <a:off x="6446520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Process step 268"/>
          <p:cNvSpPr txBox="1"/>
          <p:nvPr/>
        </p:nvSpPr>
        <p:spPr>
          <a:xfrm>
            <a:off x="6958584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Confirma su lugar</a:t>
            </a:r>
            <a:endParaRPr lang="en-US" sz="1350" dirty="0"/>
          </a:p>
        </p:txBody>
      </p:sp>
      <p:sp>
        <p:nvSpPr>
          <p:cNvPr id="21" name="Process detail 269"/>
          <p:cNvSpPr txBox="1"/>
          <p:nvPr/>
        </p:nvSpPr>
        <p:spPr>
          <a:xfrm>
            <a:off x="6958584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Llena el formulario</a:t>
            </a:r>
            <a:endParaRPr lang="en-US" sz="1100" dirty="0"/>
          </a:p>
        </p:txBody>
      </p:sp>
      <p:pic>
        <p:nvPicPr>
          <p:cNvPr id="22" name="Process screenshot 270" descr="Confirma su lugar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47255" y="3154680"/>
            <a:ext cx="2075385" cy="310896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pic>
        <p:nvPicPr>
          <p:cNvPr id="23" name="Icon FaChevronRight 271" descr="ChevronRigh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69096" y="4151376"/>
            <a:ext cx="384048" cy="384048"/>
          </a:xfrm>
          <a:prstGeom prst="rect">
            <a:avLst/>
          </a:prstGeom>
        </p:spPr>
      </p:pic>
      <p:pic>
        <p:nvPicPr>
          <p:cNvPr id="24" name="Process card 272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34272" y="2286000"/>
            <a:ext cx="2606040" cy="411480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25" name="Process number 273"/>
          <p:cNvSpPr txBox="1"/>
          <p:nvPr/>
        </p:nvSpPr>
        <p:spPr>
          <a:xfrm>
            <a:off x="9198864" y="2487168"/>
            <a:ext cx="402336" cy="40233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Process step 274"/>
          <p:cNvSpPr txBox="1"/>
          <p:nvPr/>
        </p:nvSpPr>
        <p:spPr>
          <a:xfrm>
            <a:off x="9710928" y="2414016"/>
            <a:ext cx="1837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¡Proceso completo!</a:t>
            </a:r>
            <a:endParaRPr lang="en-US" sz="1350" dirty="0"/>
          </a:p>
        </p:txBody>
      </p:sp>
      <p:sp>
        <p:nvSpPr>
          <p:cNvPr id="27" name="Process detail 275"/>
          <p:cNvSpPr txBox="1"/>
          <p:nvPr/>
        </p:nvSpPr>
        <p:spPr>
          <a:xfrm>
            <a:off x="9710928" y="2724912"/>
            <a:ext cx="1837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Llega a Admisiones</a:t>
            </a:r>
            <a:endParaRPr lang="en-US" sz="1100" dirty="0"/>
          </a:p>
        </p:txBody>
      </p:sp>
      <p:pic>
        <p:nvPicPr>
          <p:cNvPr id="28" name="Process screenshot 276" descr="¡Proceso completo!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71432" y="3546442"/>
            <a:ext cx="2331720" cy="232543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6000"/>
              </a:srgbClr>
            </a:outerShdw>
          </a:effectLst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13" grpId="0" animBg="1"/>
      <p:bldP spid="14" grpId="0" animBg="1"/>
      <p:bldP spid="15" grpId="0" animBg="1"/>
      <p:bldP spid="19" grpId="0" animBg="1"/>
      <p:bldP spid="20" grpId="0" animBg="1"/>
      <p:bldP spid="21" grpId="0" animBg="1"/>
      <p:bldP spid="25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27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7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279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losing hashtag 280"/>
          <p:cNvSpPr txBox="1"/>
          <p:nvPr/>
        </p:nvSpPr>
        <p:spPr>
          <a:xfrm>
            <a:off x="4114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3600" dirty="0"/>
          </a:p>
        </p:txBody>
      </p:sp>
      <p:sp>
        <p:nvSpPr>
          <p:cNvPr id="6" name="Closing subtitle 281"/>
          <p:cNvSpPr txBox="1"/>
          <p:nvPr/>
        </p:nvSpPr>
        <p:spPr>
          <a:xfrm>
            <a:off x="4114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Embajadores Westhill 2.0</a:t>
            </a:r>
            <a:endParaRPr lang="en-US" sz="2000" dirty="0"/>
          </a:p>
        </p:txBody>
      </p:sp>
      <p:sp>
        <p:nvSpPr>
          <p:cNvPr id="7" name="Closing date 282"/>
          <p:cNvSpPr txBox="1"/>
          <p:nvPr/>
        </p:nvSpPr>
        <p:spPr>
          <a:xfrm>
            <a:off x="41148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de Acción Enero 2027</a:t>
            </a:r>
            <a:endParaRPr lang="en-US" sz="1700" dirty="0"/>
          </a:p>
        </p:txBody>
      </p:sp>
      <p:sp>
        <p:nvSpPr>
          <p:cNvPr id="8" name="Handle 283"/>
          <p:cNvSpPr txBox="1"/>
          <p:nvPr/>
        </p:nvSpPr>
        <p:spPr>
          <a:xfrm>
            <a:off x="1371600" y="4160520"/>
            <a:ext cx="2651760" cy="51206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Westhill Embajadores">
  <a:themeElements>
    <a:clrScheme name="Westhill Embajadores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Westhill Embajadores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 de Acción Enero 2027 · Embajadores Westhill 2.0</dc:title>
  <dc:subject>PptxGenJS Presentation</dc:subject>
  <dc:creator>Universidad Westhill</dc:creator>
  <cp:lastModifiedBy>Universidad Westhill</cp:lastModifiedBy>
  <cp:revision>1</cp:revision>
  <dcterms:created xsi:type="dcterms:W3CDTF">2026-10-05T19:28:26Z</dcterms:created>
  <dcterms:modified xsi:type="dcterms:W3CDTF">2026-10-05T19:28:26Z</dcterms:modified>
</cp:coreProperties>
</file>
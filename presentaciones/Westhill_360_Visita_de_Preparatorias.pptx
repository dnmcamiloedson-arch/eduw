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5dfc82e1-82eb-9540-64ae-5b652fdd9a22}">
          <p14:sldIdLst>
            <p14:sldId id="256"/>
          </p14:sldIdLst>
        </p14:section>
        <p14:section name="La propuesta" id="{f3c8a9a3-db5f-988f-2bcd-43ce02b036f9}">
          <p14:sldIdLst>
            <p14:sldId id="257"/>
            <p14:sldId id="258"/>
            <p14:sldId id="259"/>
            <p14:sldId id="260"/>
            <p14:sldId id="261"/>
          </p14:sldIdLst>
        </p14:section>
        <p14:section name="El formato" id="{d734ae48-0e01-fcbd-7d0f-956a6a876efb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Resultados" id="{3c7eec71-8d17-4aea-7150-a89bfd827708}">
          <p14:sldIdLst>
            <p14:sldId id="268"/>
            <p14:sldId id="269"/>
            <p14:sldId id="270"/>
            <p14:sldId id="271"/>
            <p14:sldId id="272"/>
          </p14:sldIdLst>
        </p14:section>
        <p14:section name="Cierre" id="{108030d4-0c5d-2371-2742-15f49309260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over title 4"/>
          <p:cNvSpPr txBox="1"/>
          <p:nvPr/>
        </p:nvSpPr>
        <p:spPr>
          <a:xfrm>
            <a:off x="411480" y="23774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 DE PREPARATORIAS</a:t>
            </a:r>
            <a:endParaRPr lang="en-US" sz="3800" dirty="0"/>
          </a:p>
        </p:txBody>
      </p:sp>
      <p:sp>
        <p:nvSpPr>
          <p:cNvPr id="7" name="Cover date 5"/>
          <p:cNvSpPr txBox="1"/>
          <p:nvPr/>
        </p:nvSpPr>
        <p:spPr>
          <a:xfrm>
            <a:off x="41148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AGOSTO 2027</a:t>
            </a:r>
            <a:endParaRPr lang="en-US" sz="2600" dirty="0"/>
          </a:p>
        </p:txBody>
      </p:sp>
      <p:sp>
        <p:nvSpPr>
          <p:cNvPr id="8" name="Cover program 6"/>
          <p:cNvSpPr txBox="1"/>
          <p:nvPr/>
        </p:nvSpPr>
        <p:spPr>
          <a:xfrm>
            <a:off x="411480" y="4434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 360°</a:t>
            </a:r>
            <a:endParaRPr lang="en-US" sz="3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10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Section kicker 11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12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sí recibir escuelas?</a:t>
            </a:r>
            <a:endParaRPr lang="en-US" sz="3000" dirty="0"/>
          </a:p>
        </p:txBody>
      </p:sp>
      <p:sp>
        <p:nvSpPr>
          <p:cNvPr id="5" name="Text 14"/>
          <p:cNvSpPr txBox="1"/>
          <p:nvPr/>
        </p:nvSpPr>
        <p:spPr>
          <a:xfrm>
            <a:off x="548640" y="1965960"/>
            <a:ext cx="11094415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Porque tenemos la oportunidad de llevar el proceso de decisión al lugar donde Westhill puede mostrar su mayor fortaleza:</a:t>
            </a:r>
            <a:endParaRPr lang="en-US" sz="1600" dirty="0"/>
          </a:p>
        </p:txBody>
      </p:sp>
      <p:pic>
        <p:nvPicPr>
          <p:cNvPr id="6" name="Card 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93109"/>
            <a:ext cx="4114800" cy="15678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MobileScreen 16" descr="Mobile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11087"/>
            <a:ext cx="594360" cy="594360"/>
          </a:xfrm>
          <a:prstGeom prst="rect">
            <a:avLst/>
          </a:prstGeom>
        </p:spPr>
      </p:pic>
      <p:sp>
        <p:nvSpPr>
          <p:cNvPr id="8" name="Text 17"/>
          <p:cNvSpPr txBox="1"/>
          <p:nvPr/>
        </p:nvSpPr>
        <p:spPr>
          <a:xfrm>
            <a:off x="1600200" y="2727498"/>
            <a:ext cx="2880360" cy="1299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alumno puede ver una publicación, recibir un mensaje y visitar una feria.</a:t>
            </a:r>
            <a:endParaRPr lang="en-US" sz="1400" dirty="0"/>
          </a:p>
        </p:txBody>
      </p:sp>
      <p:pic>
        <p:nvPicPr>
          <p:cNvPr id="9" name="Card 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593109"/>
            <a:ext cx="6751015" cy="15678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0" name="Icon FaBuildingColumns 19" descr="BuildingColum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2811087"/>
            <a:ext cx="594360" cy="594360"/>
          </a:xfrm>
          <a:prstGeom prst="rect">
            <a:avLst/>
          </a:prstGeom>
        </p:spPr>
      </p:pic>
      <p:sp>
        <p:nvSpPr>
          <p:cNvPr id="11" name="Text 20"/>
          <p:cNvSpPr txBox="1"/>
          <p:nvPr/>
        </p:nvSpPr>
        <p:spPr>
          <a:xfrm>
            <a:off x="5943600" y="2682702"/>
            <a:ext cx="5516575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Pero cuando entra a Westhill, experimenta una carrera, convive con directores, maestros y alumnos el beneficio es que se convierte en una posibilidad real creando más seguridad en su elección.</a:t>
            </a:r>
            <a:endParaRPr lang="en-US" sz="1400" dirty="0"/>
          </a:p>
        </p:txBody>
      </p:sp>
      <p:pic>
        <p:nvPicPr>
          <p:cNvPr id="12" name="Card 2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0167"/>
            <a:ext cx="11094415" cy="895927"/>
          </a:xfrm>
          <a:prstGeom prst="rect">
            <a:avLst/>
          </a:prstGeom>
        </p:spPr>
      </p:pic>
      <p:pic>
        <p:nvPicPr>
          <p:cNvPr id="13" name="Icon FaQuoteLeft 22" descr="QuoteLe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13811"/>
            <a:ext cx="548640" cy="548640"/>
          </a:xfrm>
          <a:prstGeom prst="rect">
            <a:avLst/>
          </a:prstGeom>
        </p:spPr>
      </p:pic>
      <p:sp>
        <p:nvSpPr>
          <p:cNvPr id="14" name="Text 23"/>
          <p:cNvSpPr txBox="1"/>
          <p:nvPr/>
        </p:nvSpPr>
        <p:spPr>
          <a:xfrm>
            <a:off x="1554480" y="4384964"/>
            <a:ext cx="9905695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resultado de estas visitas es que los alumnos salgan pensando: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“Aquí quiero estudiar”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además, que el colegio quiera repetir la experiencia.</a:t>
            </a:r>
            <a:endParaRPr lang="en-US" sz="1500" dirty="0"/>
          </a:p>
        </p:txBody>
      </p:sp>
      <p:pic>
        <p:nvPicPr>
          <p:cNvPr id="15" name="Card 2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15280"/>
            <a:ext cx="11094415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Lightbulb 25" descr="Lightbul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588924"/>
            <a:ext cx="548640" cy="548640"/>
          </a:xfrm>
          <a:prstGeom prst="rect">
            <a:avLst/>
          </a:prstGeom>
        </p:spPr>
      </p:pic>
      <p:sp>
        <p:nvSpPr>
          <p:cNvPr id="17" name="Text 26"/>
          <p:cNvSpPr txBox="1"/>
          <p:nvPr/>
        </p:nvSpPr>
        <p:spPr>
          <a:xfrm>
            <a:off x="1554480" y="5460076"/>
            <a:ext cx="9905695" cy="89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concreta de admisiones es crear una experiencia que conecte al alumno con su vocación, con nuestros directores, maestros, alumnos y vivan el ambiente real de Westhill.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1" grpId="0" animBg="1"/>
      <p:bldP spid="14" grpId="0" animBg="1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360°</a:t>
            </a:r>
            <a:endParaRPr lang="en-US" sz="3000" dirty="0"/>
          </a:p>
        </p:txBody>
      </p:sp>
      <p:sp>
        <p:nvSpPr>
          <p:cNvPr id="5" name="Text 28"/>
          <p:cNvSpPr txBox="1"/>
          <p:nvPr/>
        </p:nvSpPr>
        <p:spPr>
          <a:xfrm>
            <a:off x="548640" y="1965960"/>
            <a:ext cx="11094415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“Tu futuro empieza cuando lo experimentas”.</a:t>
            </a:r>
            <a:endParaRPr lang="en-US" sz="2400" dirty="0"/>
          </a:p>
        </p:txBody>
      </p:sp>
      <p:sp>
        <p:nvSpPr>
          <p:cNvPr id="6" name="Text 29"/>
          <p:cNvSpPr txBox="1"/>
          <p:nvPr/>
        </p:nvSpPr>
        <p:spPr>
          <a:xfrm>
            <a:off x="548640" y="2485598"/>
            <a:ext cx="11094415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Propuesta de admisiones para transformar las visitas escolares en estrategia de captación y conversión.</a:t>
            </a:r>
            <a:endParaRPr lang="en-US" sz="1500" dirty="0"/>
          </a:p>
        </p:txBody>
      </p:sp>
      <p:pic>
        <p:nvPicPr>
          <p:cNvPr id="7" name="Card 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96276"/>
            <a:ext cx="4069080" cy="340452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8" name="Watermark FaBullseye 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4864331"/>
            <a:ext cx="1325880" cy="1325880"/>
          </a:xfrm>
          <a:prstGeom prst="rect">
            <a:avLst/>
          </a:prstGeom>
        </p:spPr>
      </p:pic>
      <p:pic>
        <p:nvPicPr>
          <p:cNvPr id="9" name="Icon FaBullseye 3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58127"/>
            <a:ext cx="685800" cy="685800"/>
          </a:xfrm>
          <a:prstGeom prst="rect">
            <a:avLst/>
          </a:prstGeom>
        </p:spPr>
      </p:pic>
      <p:sp>
        <p:nvSpPr>
          <p:cNvPr id="10" name="Text 33"/>
          <p:cNvSpPr txBox="1"/>
          <p:nvPr/>
        </p:nvSpPr>
        <p:spPr>
          <a:xfrm>
            <a:off x="1737360" y="3265055"/>
            <a:ext cx="2651760" cy="67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OBJETIVO:</a:t>
            </a:r>
            <a:endParaRPr lang="en-US" sz="1600" dirty="0"/>
          </a:p>
        </p:txBody>
      </p:sp>
      <p:sp>
        <p:nvSpPr>
          <p:cNvPr id="11" name="Text 34"/>
          <p:cNvSpPr txBox="1"/>
          <p:nvPr/>
        </p:nvSpPr>
        <p:spPr>
          <a:xfrm>
            <a:off x="868680" y="4116185"/>
            <a:ext cx="347472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una conexión emocional alumno-Universidad Westhill que permita:</a:t>
            </a:r>
            <a:endParaRPr lang="en-US" sz="1700" dirty="0"/>
          </a:p>
        </p:txBody>
      </p:sp>
      <p:pic>
        <p:nvPicPr>
          <p:cNvPr id="12" name="Card 3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996276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Lightbulb 36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3214716"/>
            <a:ext cx="548640" cy="548640"/>
          </a:xfrm>
          <a:prstGeom prst="rect">
            <a:avLst/>
          </a:prstGeom>
        </p:spPr>
      </p:pic>
      <p:sp>
        <p:nvSpPr>
          <p:cNvPr id="14" name="Text 37"/>
          <p:cNvSpPr txBox="1"/>
          <p:nvPr/>
        </p:nvSpPr>
        <p:spPr>
          <a:xfrm>
            <a:off x="5742432" y="3067951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Despertar vocaciones.</a:t>
            </a:r>
            <a:endParaRPr lang="en-US" sz="1400" dirty="0"/>
          </a:p>
        </p:txBody>
      </p:sp>
      <p:pic>
        <p:nvPicPr>
          <p:cNvPr id="15" name="Card 3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8988" y="2996276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ChalkboardUser 39" descr="ChalkboardUs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0156" y="3214716"/>
            <a:ext cx="548640" cy="548640"/>
          </a:xfrm>
          <a:prstGeom prst="rect">
            <a:avLst/>
          </a:prstGeom>
        </p:spPr>
      </p:pic>
      <p:sp>
        <p:nvSpPr>
          <p:cNvPr id="17" name="Text 40"/>
          <p:cNvSpPr txBox="1"/>
          <p:nvPr/>
        </p:nvSpPr>
        <p:spPr>
          <a:xfrm>
            <a:off x="9255100" y="3067951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Presentar las licenciaturas de manera práctica.</a:t>
            </a:r>
            <a:endParaRPr lang="en-US" sz="1400" dirty="0"/>
          </a:p>
        </p:txBody>
      </p:sp>
      <p:pic>
        <p:nvPicPr>
          <p:cNvPr id="18" name="Card 4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4205778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BuildingColumns 42" descr="BuildingColum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424218"/>
            <a:ext cx="548640" cy="548640"/>
          </a:xfrm>
          <a:prstGeom prst="rect">
            <a:avLst/>
          </a:prstGeom>
        </p:spPr>
      </p:pic>
      <p:sp>
        <p:nvSpPr>
          <p:cNvPr id="20" name="Text 43"/>
          <p:cNvSpPr txBox="1"/>
          <p:nvPr/>
        </p:nvSpPr>
        <p:spPr>
          <a:xfrm>
            <a:off x="5742432" y="4277452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Vivir el ambiente universitario.</a:t>
            </a:r>
            <a:endParaRPr lang="en-US" sz="1400" dirty="0"/>
          </a:p>
        </p:txBody>
      </p:sp>
      <p:pic>
        <p:nvPicPr>
          <p:cNvPr id="21" name="Card 44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58988" y="4205778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PeopleGroup 45" descr="PeopleGrou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60156" y="4424218"/>
            <a:ext cx="548640" cy="548640"/>
          </a:xfrm>
          <a:prstGeom prst="rect">
            <a:avLst/>
          </a:prstGeom>
        </p:spPr>
      </p:pic>
      <p:sp>
        <p:nvSpPr>
          <p:cNvPr id="23" name="Text 46"/>
          <p:cNvSpPr txBox="1"/>
          <p:nvPr/>
        </p:nvSpPr>
        <p:spPr>
          <a:xfrm>
            <a:off x="9255100" y="4277452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Convivir con Directores, profesores y alumnos.</a:t>
            </a:r>
            <a:endParaRPr lang="en-US" sz="1400" dirty="0"/>
          </a:p>
        </p:txBody>
      </p:sp>
      <p:pic>
        <p:nvPicPr>
          <p:cNvPr id="24" name="Card 4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46320" y="5415280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UserCheck 48" descr="UserChec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47488" y="5633720"/>
            <a:ext cx="548640" cy="548640"/>
          </a:xfrm>
          <a:prstGeom prst="rect">
            <a:avLst/>
          </a:prstGeom>
        </p:spPr>
      </p:pic>
      <p:sp>
        <p:nvSpPr>
          <p:cNvPr id="26" name="Text 49"/>
          <p:cNvSpPr txBox="1"/>
          <p:nvPr/>
        </p:nvSpPr>
        <p:spPr>
          <a:xfrm>
            <a:off x="5742432" y="5486954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prospectos calificados.</a:t>
            </a:r>
            <a:endParaRPr lang="en-US" sz="1400" dirty="0"/>
          </a:p>
        </p:txBody>
      </p:sp>
      <p:pic>
        <p:nvPicPr>
          <p:cNvPr id="27" name="Card 5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58988" y="5415280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Headset 51" descr="Headset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60156" y="5633720"/>
            <a:ext cx="548640" cy="548640"/>
          </a:xfrm>
          <a:prstGeom prst="rect">
            <a:avLst/>
          </a:prstGeom>
        </p:spPr>
      </p:pic>
      <p:sp>
        <p:nvSpPr>
          <p:cNvPr id="29" name="Text 52"/>
          <p:cNvSpPr txBox="1"/>
          <p:nvPr/>
        </p:nvSpPr>
        <p:spPr>
          <a:xfrm>
            <a:off x="9255100" y="5486954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seguimiento personalizado desde Admisiones.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5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la experiencia puede generar conversión?</a:t>
            </a:r>
            <a:endParaRPr lang="en-US" sz="3000" dirty="0"/>
          </a:p>
        </p:txBody>
      </p:sp>
      <p:sp>
        <p:nvSpPr>
          <p:cNvPr id="5" name="Subtitle 54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experiencia busca llevar al alumno por cuatro momentos:</a:t>
            </a:r>
            <a:endParaRPr lang="en-US" sz="1600" dirty="0"/>
          </a:p>
        </p:txBody>
      </p:sp>
      <p:pic>
        <p:nvPicPr>
          <p:cNvPr id="6" name="Card 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7" name="Text 56"/>
          <p:cNvSpPr txBox="1"/>
          <p:nvPr/>
        </p:nvSpPr>
        <p:spPr>
          <a:xfrm>
            <a:off x="822960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3600" dirty="0"/>
          </a:p>
        </p:txBody>
      </p:sp>
      <p:pic>
        <p:nvPicPr>
          <p:cNvPr id="8" name="Icon FaEye 57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657579"/>
            <a:ext cx="713232" cy="713232"/>
          </a:xfrm>
          <a:prstGeom prst="rect">
            <a:avLst/>
          </a:prstGeom>
        </p:spPr>
      </p:pic>
      <p:sp>
        <p:nvSpPr>
          <p:cNvPr id="9" name="Text 58"/>
          <p:cNvSpPr txBox="1"/>
          <p:nvPr/>
        </p:nvSpPr>
        <p:spPr>
          <a:xfrm>
            <a:off x="822960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</a:t>
            </a:r>
            <a:endParaRPr lang="en-US" sz="1900" dirty="0"/>
          </a:p>
        </p:txBody>
      </p:sp>
      <p:sp>
        <p:nvSpPr>
          <p:cNvPr id="10" name="Text 59"/>
          <p:cNvSpPr txBox="1"/>
          <p:nvPr/>
        </p:nvSpPr>
        <p:spPr>
          <a:xfrm>
            <a:off x="822960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la Universidad, sus espacios y su oferta académica.</a:t>
            </a:r>
            <a:endParaRPr lang="en-US" sz="1350" dirty="0"/>
          </a:p>
        </p:txBody>
      </p:sp>
      <p:pic>
        <p:nvPicPr>
          <p:cNvPr id="11" name="Icon FaChevronRight 60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741" y="3753751"/>
            <a:ext cx="402336" cy="402336"/>
          </a:xfrm>
          <a:prstGeom prst="rect">
            <a:avLst/>
          </a:prstGeom>
        </p:spPr>
      </p:pic>
      <p:pic>
        <p:nvPicPr>
          <p:cNvPr id="12" name="Card 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578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3" name="Text 62"/>
          <p:cNvSpPr txBox="1"/>
          <p:nvPr/>
        </p:nvSpPr>
        <p:spPr>
          <a:xfrm>
            <a:off x="3682898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3600" dirty="0"/>
          </a:p>
        </p:txBody>
      </p:sp>
      <p:pic>
        <p:nvPicPr>
          <p:cNvPr id="14" name="Icon FaHandPointer 63" descr="HandPo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7338" y="2657579"/>
            <a:ext cx="713232" cy="713232"/>
          </a:xfrm>
          <a:prstGeom prst="rect">
            <a:avLst/>
          </a:prstGeom>
        </p:spPr>
      </p:pic>
      <p:sp>
        <p:nvSpPr>
          <p:cNvPr id="15" name="Text 64"/>
          <p:cNvSpPr txBox="1"/>
          <p:nvPr/>
        </p:nvSpPr>
        <p:spPr>
          <a:xfrm>
            <a:off x="3682898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EXPERIMENTA</a:t>
            </a:r>
            <a:endParaRPr lang="en-US" sz="1900" dirty="0"/>
          </a:p>
        </p:txBody>
      </p:sp>
      <p:sp>
        <p:nvSpPr>
          <p:cNvPr id="16" name="Text 65"/>
          <p:cNvSpPr txBox="1"/>
          <p:nvPr/>
        </p:nvSpPr>
        <p:spPr>
          <a:xfrm>
            <a:off x="3682898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una actividad donde se convierte en el protagonista de la historia relacionada con la licenciatura de su interés.</a:t>
            </a:r>
            <a:endParaRPr lang="en-US" sz="1350" dirty="0"/>
          </a:p>
        </p:txBody>
      </p:sp>
      <p:pic>
        <p:nvPicPr>
          <p:cNvPr id="17" name="Icon FaChevronRight 66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4680" y="3753751"/>
            <a:ext cx="402336" cy="402336"/>
          </a:xfrm>
          <a:prstGeom prst="rect">
            <a:avLst/>
          </a:prstGeom>
        </p:spPr>
      </p:pic>
      <p:pic>
        <p:nvPicPr>
          <p:cNvPr id="18" name="Card 6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8517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9" name="Text 68"/>
          <p:cNvSpPr txBox="1"/>
          <p:nvPr/>
        </p:nvSpPr>
        <p:spPr>
          <a:xfrm>
            <a:off x="6542837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3600" dirty="0"/>
          </a:p>
        </p:txBody>
      </p:sp>
      <p:pic>
        <p:nvPicPr>
          <p:cNvPr id="20" name="Icon FaMagnifyingGlass 69" descr="MagnifyingG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7277" y="2657579"/>
            <a:ext cx="713232" cy="713232"/>
          </a:xfrm>
          <a:prstGeom prst="rect">
            <a:avLst/>
          </a:prstGeom>
        </p:spPr>
      </p:pic>
      <p:sp>
        <p:nvSpPr>
          <p:cNvPr id="21" name="Text 70"/>
          <p:cNvSpPr txBox="1"/>
          <p:nvPr/>
        </p:nvSpPr>
        <p:spPr>
          <a:xfrm>
            <a:off x="6542837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IDENTIFICA</a:t>
            </a:r>
            <a:endParaRPr lang="en-US" sz="1900" dirty="0"/>
          </a:p>
        </p:txBody>
      </p:sp>
      <p:sp>
        <p:nvSpPr>
          <p:cNvPr id="22" name="Text 71"/>
          <p:cNvSpPr txBox="1"/>
          <p:nvPr/>
        </p:nvSpPr>
        <p:spPr>
          <a:xfrm>
            <a:off x="6542837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sus habilidades.</a:t>
            </a:r>
            <a:endParaRPr lang="en-US" sz="1350" dirty="0"/>
          </a:p>
        </p:txBody>
      </p:sp>
      <p:pic>
        <p:nvPicPr>
          <p:cNvPr id="23" name="Icon FaChevronRight 72" descr="ChevronRigh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4618" y="3753751"/>
            <a:ext cx="402336" cy="402336"/>
          </a:xfrm>
          <a:prstGeom prst="rect">
            <a:avLst/>
          </a:prstGeom>
        </p:spPr>
      </p:pic>
      <p:pic>
        <p:nvPicPr>
          <p:cNvPr id="24" name="Card 7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5" name="Text 74"/>
          <p:cNvSpPr txBox="1"/>
          <p:nvPr/>
        </p:nvSpPr>
        <p:spPr>
          <a:xfrm>
            <a:off x="9402775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3600" dirty="0"/>
          </a:p>
        </p:txBody>
      </p:sp>
      <p:pic>
        <p:nvPicPr>
          <p:cNvPr id="26" name="Icon FaFlagCheckered 75" descr="FlagCheckere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37215" y="2657579"/>
            <a:ext cx="713232" cy="713232"/>
          </a:xfrm>
          <a:prstGeom prst="rect">
            <a:avLst/>
          </a:prstGeom>
        </p:spPr>
      </p:pic>
      <p:sp>
        <p:nvSpPr>
          <p:cNvPr id="27" name="Text 76"/>
          <p:cNvSpPr txBox="1"/>
          <p:nvPr/>
        </p:nvSpPr>
        <p:spPr>
          <a:xfrm>
            <a:off x="9402775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DECIDE</a:t>
            </a:r>
            <a:endParaRPr lang="en-US" sz="1900" dirty="0"/>
          </a:p>
        </p:txBody>
      </p:sp>
      <p:sp>
        <p:nvSpPr>
          <p:cNvPr id="28" name="Text 77"/>
          <p:cNvSpPr txBox="1"/>
          <p:nvPr/>
        </p:nvSpPr>
        <p:spPr>
          <a:xfrm>
            <a:off x="9402775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 mayor seguridad para continuar su proceso de admisiones.</a:t>
            </a:r>
            <a:endParaRPr lang="en-US" sz="1350" dirty="0"/>
          </a:p>
        </p:txBody>
      </p:sp>
      <p:pic>
        <p:nvPicPr>
          <p:cNvPr id="29" name="Card 78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5684058"/>
            <a:ext cx="11094415" cy="71674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30" name="Icon FaRocket 79" descr="Rock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786397"/>
            <a:ext cx="512064" cy="512064"/>
          </a:xfrm>
          <a:prstGeom prst="rect">
            <a:avLst/>
          </a:prstGeom>
        </p:spPr>
      </p:pic>
      <p:sp>
        <p:nvSpPr>
          <p:cNvPr id="31" name="Text 80"/>
          <p:cNvSpPr txBox="1"/>
          <p:nvPr/>
        </p:nvSpPr>
        <p:spPr>
          <a:xfrm>
            <a:off x="1508760" y="5684058"/>
            <a:ext cx="9905695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conversión comienza antes de hablar de inscripción.</a:t>
            </a:r>
            <a:endParaRPr lang="en-US" sz="19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3" grpId="0" animBg="1"/>
      <p:bldP spid="15" grpId="0" animBg="1"/>
      <p:bldP spid="16" grpId="0" animBg="1"/>
      <p:bldP spid="19" grpId="0" animBg="1"/>
      <p:bldP spid="21" grpId="0" animBg="1"/>
      <p:bldP spid="22" grpId="0" animBg="1"/>
      <p:bldP spid="25" grpId="0" animBg="1"/>
      <p:bldP spid="27" grpId="0" animBg="1"/>
      <p:bldP spid="28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8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Inversión</a:t>
            </a:r>
            <a:endParaRPr lang="en-US" sz="3000" dirty="0"/>
          </a:p>
        </p:txBody>
      </p:sp>
      <p:sp>
        <p:nvSpPr>
          <p:cNvPr id="5" name="Subtitle 8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contempla tres grandes rubros:</a:t>
            </a:r>
            <a:endParaRPr lang="en-US" sz="1600" dirty="0"/>
          </a:p>
        </p:txBody>
      </p:sp>
      <p:pic>
        <p:nvPicPr>
          <p:cNvPr id="6" name="Card 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Bus 84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07855"/>
            <a:ext cx="914400" cy="914400"/>
          </a:xfrm>
          <a:prstGeom prst="rect">
            <a:avLst/>
          </a:prstGeom>
        </p:spPr>
      </p:pic>
      <p:sp>
        <p:nvSpPr>
          <p:cNvPr id="8" name="Text 85"/>
          <p:cNvSpPr txBox="1"/>
          <p:nvPr/>
        </p:nvSpPr>
        <p:spPr>
          <a:xfrm>
            <a:off x="914400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86"/>
          <p:cNvSpPr txBox="1"/>
          <p:nvPr/>
        </p:nvSpPr>
        <p:spPr>
          <a:xfrm>
            <a:off x="914400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TRANSPORTE</a:t>
            </a:r>
            <a:endParaRPr lang="en-US" sz="2100" dirty="0"/>
          </a:p>
        </p:txBody>
      </p:sp>
      <p:sp>
        <p:nvSpPr>
          <p:cNvPr id="10" name="Text 87"/>
          <p:cNvSpPr txBox="1"/>
          <p:nvPr/>
        </p:nvSpPr>
        <p:spPr>
          <a:xfrm>
            <a:off x="914400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Facilitar la llegada de los alumnos y eliminar una barrera logística para las escuelas.</a:t>
            </a:r>
            <a:endParaRPr lang="en-US" sz="1500" dirty="0"/>
          </a:p>
        </p:txBody>
      </p:sp>
      <p:pic>
        <p:nvPicPr>
          <p:cNvPr id="11" name="Card 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0200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2" name="Icon FaMugHot 89" descr="Mug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960" y="2807855"/>
            <a:ext cx="914400" cy="914400"/>
          </a:xfrm>
          <a:prstGeom prst="rect">
            <a:avLst/>
          </a:prstGeom>
        </p:spPr>
      </p:pic>
      <p:sp>
        <p:nvSpPr>
          <p:cNvPr id="13" name="Text 90"/>
          <p:cNvSpPr txBox="1"/>
          <p:nvPr/>
        </p:nvSpPr>
        <p:spPr>
          <a:xfrm>
            <a:off x="4705960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91"/>
          <p:cNvSpPr txBox="1"/>
          <p:nvPr/>
        </p:nvSpPr>
        <p:spPr>
          <a:xfrm>
            <a:off x="4705960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</a:t>
            </a:r>
            <a:endParaRPr lang="en-US" sz="2100" dirty="0"/>
          </a:p>
        </p:txBody>
      </p:sp>
      <p:sp>
        <p:nvSpPr>
          <p:cNvPr id="15" name="Text 92"/>
          <p:cNvSpPr txBox="1"/>
          <p:nvPr/>
        </p:nvSpPr>
        <p:spPr>
          <a:xfrm>
            <a:off x="4705960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Brindar una atención adecuada durante la experiencia.</a:t>
            </a:r>
            <a:endParaRPr lang="en-US" sz="1500" dirty="0"/>
          </a:p>
        </p:txBody>
      </p:sp>
      <p:pic>
        <p:nvPicPr>
          <p:cNvPr id="16" name="Card 9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1759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Flask 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5735" y="2671156"/>
            <a:ext cx="1143000" cy="1143000"/>
          </a:xfrm>
          <a:prstGeom prst="rect">
            <a:avLst/>
          </a:prstGeom>
        </p:spPr>
      </p:pic>
      <p:pic>
        <p:nvPicPr>
          <p:cNvPr id="18" name="Icon FaFlask 95" descr="Flas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7519" y="2807855"/>
            <a:ext cx="914400" cy="914400"/>
          </a:xfrm>
          <a:prstGeom prst="rect">
            <a:avLst/>
          </a:prstGeom>
        </p:spPr>
      </p:pic>
      <p:sp>
        <p:nvSpPr>
          <p:cNvPr id="19" name="Text 96"/>
          <p:cNvSpPr txBox="1"/>
          <p:nvPr/>
        </p:nvSpPr>
        <p:spPr>
          <a:xfrm>
            <a:off x="8497519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97"/>
          <p:cNvSpPr txBox="1"/>
          <p:nvPr/>
        </p:nvSpPr>
        <p:spPr>
          <a:xfrm>
            <a:off x="8497519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ACTIVIDADES ACADÉMICAS</a:t>
            </a:r>
            <a:endParaRPr lang="en-US" sz="2100" dirty="0"/>
          </a:p>
        </p:txBody>
      </p:sp>
      <p:sp>
        <p:nvSpPr>
          <p:cNvPr id="21" name="Text 98"/>
          <p:cNvSpPr txBox="1"/>
          <p:nvPr/>
        </p:nvSpPr>
        <p:spPr>
          <a:xfrm>
            <a:off x="8497519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prácticas diseñadas por licenciaturas.</a:t>
            </a:r>
            <a:endParaRPr lang="en-US" sz="15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99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10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101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102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Section kicker 103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104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formato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0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Formato</a:t>
            </a:r>
            <a:endParaRPr lang="en-US" sz="3000" dirty="0"/>
          </a:p>
        </p:txBody>
      </p:sp>
      <p:sp>
        <p:nvSpPr>
          <p:cNvPr id="5" name="Subtitle 10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Crear una experiencia dinámica por licenciatura. La visita se dividirá en diferentes momentos:</a:t>
            </a:r>
            <a:endParaRPr lang="en-US" sz="1600" dirty="0"/>
          </a:p>
        </p:txBody>
      </p:sp>
      <p:pic>
        <p:nvPicPr>
          <p:cNvPr id="6" name="Card 1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DoorOpen 108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76975"/>
            <a:ext cx="566928" cy="566928"/>
          </a:xfrm>
          <a:prstGeom prst="rect">
            <a:avLst/>
          </a:prstGeom>
        </p:spPr>
      </p:pic>
      <p:sp>
        <p:nvSpPr>
          <p:cNvPr id="8" name="Pill 109"/>
          <p:cNvSpPr txBox="1"/>
          <p:nvPr/>
        </p:nvSpPr>
        <p:spPr>
          <a:xfrm>
            <a:off x="2514600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110"/>
          <p:cNvSpPr txBox="1"/>
          <p:nvPr/>
        </p:nvSpPr>
        <p:spPr>
          <a:xfrm>
            <a:off x="777240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</a:t>
            </a:r>
            <a:endParaRPr lang="en-US" sz="1350" dirty="0"/>
          </a:p>
        </p:txBody>
      </p:sp>
      <p:sp>
        <p:nvSpPr>
          <p:cNvPr id="10" name="Text 111"/>
          <p:cNvSpPr txBox="1"/>
          <p:nvPr/>
        </p:nvSpPr>
        <p:spPr>
          <a:xfrm>
            <a:off x="777240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admisiones.</a:t>
            </a:r>
            <a:endParaRPr lang="en-US" sz="1200" dirty="0"/>
          </a:p>
        </p:txBody>
      </p:sp>
      <p:pic>
        <p:nvPicPr>
          <p:cNvPr id="11" name="Card 1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098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2" name="Icon FaPuzzlePiece 113" descr="PuzzlePie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6698" y="2676975"/>
            <a:ext cx="566928" cy="566928"/>
          </a:xfrm>
          <a:prstGeom prst="rect">
            <a:avLst/>
          </a:prstGeom>
        </p:spPr>
      </p:pic>
      <p:sp>
        <p:nvSpPr>
          <p:cNvPr id="13" name="Pill 114"/>
          <p:cNvSpPr txBox="1"/>
          <p:nvPr/>
        </p:nvSpPr>
        <p:spPr>
          <a:xfrm>
            <a:off x="5344058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5"/>
          <p:cNvSpPr txBox="1"/>
          <p:nvPr/>
        </p:nvSpPr>
        <p:spPr>
          <a:xfrm>
            <a:off x="3606698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 POR LICENCIATURA</a:t>
            </a:r>
            <a:endParaRPr lang="en-US" sz="1350" dirty="0"/>
          </a:p>
        </p:txBody>
      </p:sp>
      <p:sp>
        <p:nvSpPr>
          <p:cNvPr id="15" name="Text 116"/>
          <p:cNvSpPr txBox="1"/>
          <p:nvPr/>
        </p:nvSpPr>
        <p:spPr>
          <a:xfrm>
            <a:off x="3606698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los Directores de cada Facultad.</a:t>
            </a:r>
            <a:endParaRPr lang="en-US" sz="1200" dirty="0"/>
          </a:p>
        </p:txBody>
      </p:sp>
      <p:pic>
        <p:nvPicPr>
          <p:cNvPr id="16" name="Card 1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7557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MugHot 118" descr="MugH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157" y="2676975"/>
            <a:ext cx="566928" cy="566928"/>
          </a:xfrm>
          <a:prstGeom prst="rect">
            <a:avLst/>
          </a:prstGeom>
        </p:spPr>
      </p:pic>
      <p:sp>
        <p:nvSpPr>
          <p:cNvPr id="18" name="Pill 119"/>
          <p:cNvSpPr txBox="1"/>
          <p:nvPr/>
        </p:nvSpPr>
        <p:spPr>
          <a:xfrm>
            <a:off x="8173517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20"/>
          <p:cNvSpPr txBox="1"/>
          <p:nvPr/>
        </p:nvSpPr>
        <p:spPr>
          <a:xfrm>
            <a:off x="6436157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</a:t>
            </a:r>
            <a:endParaRPr lang="en-US" sz="1350" dirty="0"/>
          </a:p>
        </p:txBody>
      </p:sp>
      <p:sp>
        <p:nvSpPr>
          <p:cNvPr id="20" name="Text 121"/>
          <p:cNvSpPr txBox="1"/>
          <p:nvPr/>
        </p:nvSpPr>
        <p:spPr>
          <a:xfrm>
            <a:off x="6436157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finanzas.</a:t>
            </a:r>
            <a:endParaRPr lang="en-US" sz="1200" dirty="0"/>
          </a:p>
        </p:txBody>
      </p:sp>
      <p:pic>
        <p:nvPicPr>
          <p:cNvPr id="21" name="Card 1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7015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Microphone 123" descr="Microph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5615" y="2676975"/>
            <a:ext cx="566928" cy="566928"/>
          </a:xfrm>
          <a:prstGeom prst="rect">
            <a:avLst/>
          </a:prstGeom>
        </p:spPr>
      </p:pic>
      <p:sp>
        <p:nvSpPr>
          <p:cNvPr id="23" name="Pill 124"/>
          <p:cNvSpPr txBox="1"/>
          <p:nvPr/>
        </p:nvSpPr>
        <p:spPr>
          <a:xfrm>
            <a:off x="11002975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125"/>
          <p:cNvSpPr txBox="1"/>
          <p:nvPr/>
        </p:nvSpPr>
        <p:spPr>
          <a:xfrm>
            <a:off x="9265615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DE LA UNIVERSIDAD</a:t>
            </a:r>
            <a:endParaRPr lang="en-US" sz="1350" dirty="0"/>
          </a:p>
        </p:txBody>
      </p:sp>
      <p:sp>
        <p:nvSpPr>
          <p:cNvPr id="25" name="Text 126"/>
          <p:cNvSpPr txBox="1"/>
          <p:nvPr/>
        </p:nvSpPr>
        <p:spPr>
          <a:xfrm>
            <a:off x="9265615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Propuesta entrevista con un alumno.</a:t>
            </a:r>
            <a:endParaRPr lang="en-US" sz="1200" dirty="0"/>
          </a:p>
        </p:txBody>
      </p:sp>
      <p:pic>
        <p:nvPicPr>
          <p:cNvPr id="26" name="Card 1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7" name="Icon FaAward 128" descr="Awar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4782404"/>
            <a:ext cx="566928" cy="566928"/>
          </a:xfrm>
          <a:prstGeom prst="rect">
            <a:avLst/>
          </a:prstGeom>
        </p:spPr>
      </p:pic>
      <p:sp>
        <p:nvSpPr>
          <p:cNvPr id="28" name="Pill 129"/>
          <p:cNvSpPr txBox="1"/>
          <p:nvPr/>
        </p:nvSpPr>
        <p:spPr>
          <a:xfrm>
            <a:off x="2514600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130"/>
          <p:cNvSpPr txBox="1"/>
          <p:nvPr/>
        </p:nvSpPr>
        <p:spPr>
          <a:xfrm>
            <a:off x="777240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PREMIACIÓN</a:t>
            </a:r>
            <a:endParaRPr lang="en-US" sz="1350" dirty="0"/>
          </a:p>
        </p:txBody>
      </p:sp>
      <p:sp>
        <p:nvSpPr>
          <p:cNvPr id="30" name="Text 131"/>
          <p:cNvSpPr txBox="1"/>
          <p:nvPr/>
        </p:nvSpPr>
        <p:spPr>
          <a:xfrm>
            <a:off x="777240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los alumnos destacados en las actividades.</a:t>
            </a:r>
            <a:endParaRPr lang="en-US" sz="1200" dirty="0"/>
          </a:p>
        </p:txBody>
      </p:sp>
      <p:pic>
        <p:nvPicPr>
          <p:cNvPr id="31" name="Card 132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098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2" name="Icon FaUserGraduate 133" descr="UserGraduat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06698" y="4782404"/>
            <a:ext cx="566928" cy="566928"/>
          </a:xfrm>
          <a:prstGeom prst="rect">
            <a:avLst/>
          </a:prstGeom>
        </p:spPr>
      </p:pic>
      <p:sp>
        <p:nvSpPr>
          <p:cNvPr id="33" name="Pill 134"/>
          <p:cNvSpPr txBox="1"/>
          <p:nvPr/>
        </p:nvSpPr>
        <p:spPr>
          <a:xfrm>
            <a:off x="5344058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135"/>
          <p:cNvSpPr txBox="1"/>
          <p:nvPr/>
        </p:nvSpPr>
        <p:spPr>
          <a:xfrm>
            <a:off x="3606698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 WESTHILL</a:t>
            </a:r>
            <a:endParaRPr lang="en-US" sz="1350" dirty="0"/>
          </a:p>
        </p:txBody>
      </p:sp>
      <p:sp>
        <p:nvSpPr>
          <p:cNvPr id="35" name="Text 136"/>
          <p:cNvSpPr txBox="1"/>
          <p:nvPr/>
        </p:nvSpPr>
        <p:spPr>
          <a:xfrm>
            <a:off x="3606698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Promover el programa Admisiones.</a:t>
            </a:r>
            <a:endParaRPr lang="en-US" sz="1200" dirty="0"/>
          </a:p>
        </p:txBody>
      </p:sp>
      <p:pic>
        <p:nvPicPr>
          <p:cNvPr id="36" name="Card 137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7557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7" name="Icon FaPersonWalking 138" descr="PersonWalki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6157" y="4782404"/>
            <a:ext cx="566928" cy="566928"/>
          </a:xfrm>
          <a:prstGeom prst="rect">
            <a:avLst/>
          </a:prstGeom>
        </p:spPr>
      </p:pic>
      <p:sp>
        <p:nvSpPr>
          <p:cNvPr id="38" name="Pill 139"/>
          <p:cNvSpPr txBox="1"/>
          <p:nvPr/>
        </p:nvSpPr>
        <p:spPr>
          <a:xfrm>
            <a:off x="8173517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140"/>
          <p:cNvSpPr txBox="1"/>
          <p:nvPr/>
        </p:nvSpPr>
        <p:spPr>
          <a:xfrm>
            <a:off x="6436157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RECORRIDO</a:t>
            </a:r>
            <a:endParaRPr lang="en-US" sz="1350" dirty="0"/>
          </a:p>
        </p:txBody>
      </p:sp>
      <p:sp>
        <p:nvSpPr>
          <p:cNvPr id="40" name="Text 141"/>
          <p:cNvSpPr txBox="1"/>
          <p:nvPr/>
        </p:nvSpPr>
        <p:spPr>
          <a:xfrm>
            <a:off x="6436157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admisiones.</a:t>
            </a:r>
            <a:endParaRPr lang="en-US" sz="1200" dirty="0"/>
          </a:p>
        </p:txBody>
      </p:sp>
      <p:pic>
        <p:nvPicPr>
          <p:cNvPr id="41" name="Card 142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37015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2" name="Icon FaCamera 143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65615" y="4782404"/>
            <a:ext cx="566928" cy="566928"/>
          </a:xfrm>
          <a:prstGeom prst="rect">
            <a:avLst/>
          </a:prstGeom>
        </p:spPr>
      </p:pic>
      <p:sp>
        <p:nvSpPr>
          <p:cNvPr id="43" name="Pill 144"/>
          <p:cNvSpPr txBox="1"/>
          <p:nvPr/>
        </p:nvSpPr>
        <p:spPr>
          <a:xfrm>
            <a:off x="11002975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145"/>
          <p:cNvSpPr txBox="1"/>
          <p:nvPr/>
        </p:nvSpPr>
        <p:spPr>
          <a:xfrm>
            <a:off x="9265615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Y DESPEDIDA.</a:t>
            </a:r>
            <a:endParaRPr lang="en-US" sz="1350" dirty="0"/>
          </a:p>
        </p:txBody>
      </p:sp>
      <p:sp>
        <p:nvSpPr>
          <p:cNvPr id="45" name="Text 146"/>
          <p:cNvSpPr txBox="1"/>
          <p:nvPr/>
        </p:nvSpPr>
        <p:spPr>
          <a:xfrm>
            <a:off x="9265615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el área de admisiones. (Fotos y videos).</a:t>
            </a:r>
            <a:endParaRPr lang="en-US" sz="12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1" dur="6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6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6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6" dur="6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6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1" dur="6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6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6" dur="6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6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6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6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6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8" grpId="0" animBg="1"/>
      <p:bldP spid="39" grpId="0" animBg="1"/>
      <p:bldP spid="40" grpId="0" animBg="1"/>
      <p:bldP spid="43" grpId="0" animBg="1"/>
      <p:bldP spid="44" grpId="0" animBg="1"/>
      <p:bldP spid="4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4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 por licenciatura</a:t>
            </a:r>
            <a:endParaRPr lang="en-US" sz="3000" dirty="0"/>
          </a:p>
        </p:txBody>
      </p:sp>
      <p:sp>
        <p:nvSpPr>
          <p:cNvPr id="5" name="Text 148"/>
          <p:cNvSpPr txBox="1"/>
          <p:nvPr/>
        </p:nvSpPr>
        <p:spPr>
          <a:xfrm>
            <a:off x="548640" y="2010756"/>
            <a:ext cx="7863840" cy="89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será la actividad central.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que cada alumno experimente lo que significa estudiar la carrera de su elección.</a:t>
            </a:r>
            <a:endParaRPr lang="en-US" sz="1700" dirty="0"/>
          </a:p>
        </p:txBody>
      </p:sp>
      <p:pic>
        <p:nvPicPr>
          <p:cNvPr id="6" name="Card 14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965960"/>
            <a:ext cx="2864815" cy="107511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Stopwatch 150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01764"/>
            <a:ext cx="603504" cy="603504"/>
          </a:xfrm>
          <a:prstGeom prst="rect">
            <a:avLst/>
          </a:prstGeom>
        </p:spPr>
      </p:pic>
      <p:sp>
        <p:nvSpPr>
          <p:cNvPr id="8" name="Text 151"/>
          <p:cNvSpPr txBox="1"/>
          <p:nvPr/>
        </p:nvSpPr>
        <p:spPr>
          <a:xfrm>
            <a:off x="9692640" y="2010756"/>
            <a:ext cx="1858975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</a:t>
            </a:r>
            <a:endParaRPr lang="en-US" sz="12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 minutos</a:t>
            </a:r>
            <a:endParaRPr lang="en-US" sz="1200" dirty="0"/>
          </a:p>
        </p:txBody>
      </p:sp>
      <p:sp>
        <p:nvSpPr>
          <p:cNvPr id="9" name="Text 152"/>
          <p:cNvSpPr txBox="1"/>
          <p:nvPr/>
        </p:nvSpPr>
        <p:spPr>
          <a:xfrm>
            <a:off x="548640" y="3175462"/>
            <a:ext cx="73152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Esquema general de las actividades:</a:t>
            </a:r>
            <a:endParaRPr lang="en-US" sz="1500" dirty="0"/>
          </a:p>
        </p:txBody>
      </p:sp>
      <p:pic>
        <p:nvPicPr>
          <p:cNvPr id="10" name="Card 15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Bullseye 154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40480"/>
            <a:ext cx="685800" cy="685800"/>
          </a:xfrm>
          <a:prstGeom prst="rect">
            <a:avLst/>
          </a:prstGeom>
        </p:spPr>
      </p:pic>
      <p:sp>
        <p:nvSpPr>
          <p:cNvPr id="12" name="Text 155"/>
          <p:cNvSpPr txBox="1"/>
          <p:nvPr/>
        </p:nvSpPr>
        <p:spPr>
          <a:xfrm>
            <a:off x="822960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MISIÓN</a:t>
            </a:r>
            <a:endParaRPr lang="en-US" sz="1900" dirty="0"/>
          </a:p>
        </p:txBody>
      </p:sp>
      <p:sp>
        <p:nvSpPr>
          <p:cNvPr id="13" name="Text 156"/>
          <p:cNvSpPr txBox="1"/>
          <p:nvPr/>
        </p:nvSpPr>
        <p:spPr>
          <a:xfrm>
            <a:off x="822960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problema o situación real relacionada con la profesión.</a:t>
            </a:r>
            <a:endParaRPr lang="en-US" sz="1350" dirty="0"/>
          </a:p>
        </p:txBody>
      </p:sp>
      <p:pic>
        <p:nvPicPr>
          <p:cNvPr id="14" name="Icon FaChevronRight 157" descr="ChevronRigh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4741" y="4810945"/>
            <a:ext cx="402336" cy="402336"/>
          </a:xfrm>
          <a:prstGeom prst="rect">
            <a:avLst/>
          </a:prstGeom>
        </p:spPr>
      </p:pic>
      <p:pic>
        <p:nvPicPr>
          <p:cNvPr id="15" name="Card 15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PuzzlePiece 159" descr="PuzzlePie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2898" y="3840480"/>
            <a:ext cx="685800" cy="685800"/>
          </a:xfrm>
          <a:prstGeom prst="rect">
            <a:avLst/>
          </a:prstGeom>
        </p:spPr>
      </p:pic>
      <p:sp>
        <p:nvSpPr>
          <p:cNvPr id="17" name="Text 160"/>
          <p:cNvSpPr txBox="1"/>
          <p:nvPr/>
        </p:nvSpPr>
        <p:spPr>
          <a:xfrm>
            <a:off x="3682898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</a:t>
            </a:r>
            <a:endParaRPr lang="en-US" sz="1900" dirty="0"/>
          </a:p>
        </p:txBody>
      </p:sp>
      <p:sp>
        <p:nvSpPr>
          <p:cNvPr id="18" name="Text 161"/>
          <p:cNvSpPr txBox="1"/>
          <p:nvPr/>
        </p:nvSpPr>
        <p:spPr>
          <a:xfrm>
            <a:off x="3682898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equipo debe resolverlo utilizando conocimientos, habilidades de esa licenciatura.</a:t>
            </a:r>
            <a:endParaRPr lang="en-US" sz="1350" dirty="0"/>
          </a:p>
        </p:txBody>
      </p:sp>
      <p:pic>
        <p:nvPicPr>
          <p:cNvPr id="19" name="Icon FaChevronRight 162" descr="Chevron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4680" y="4810945"/>
            <a:ext cx="402336" cy="402336"/>
          </a:xfrm>
          <a:prstGeom prst="rect">
            <a:avLst/>
          </a:prstGeom>
        </p:spPr>
      </p:pic>
      <p:pic>
        <p:nvPicPr>
          <p:cNvPr id="20" name="Card 163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8517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1" name="Icon FaMicrophone 164" descr="Micro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2837" y="3840480"/>
            <a:ext cx="685800" cy="685800"/>
          </a:xfrm>
          <a:prstGeom prst="rect">
            <a:avLst/>
          </a:prstGeom>
        </p:spPr>
      </p:pic>
      <p:sp>
        <p:nvSpPr>
          <p:cNvPr id="22" name="Text 165"/>
          <p:cNvSpPr txBox="1"/>
          <p:nvPr/>
        </p:nvSpPr>
        <p:spPr>
          <a:xfrm>
            <a:off x="6542837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PITCH</a:t>
            </a:r>
            <a:endParaRPr lang="en-US" sz="1900" dirty="0"/>
          </a:p>
        </p:txBody>
      </p:sp>
      <p:sp>
        <p:nvSpPr>
          <p:cNvPr id="23" name="Text 166"/>
          <p:cNvSpPr txBox="1"/>
          <p:nvPr/>
        </p:nvSpPr>
        <p:spPr>
          <a:xfrm>
            <a:off x="6542837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equipo tiene 1 minuto para presentar su solución.</a:t>
            </a:r>
            <a:endParaRPr lang="en-US" sz="1350" dirty="0"/>
          </a:p>
        </p:txBody>
      </p:sp>
      <p:pic>
        <p:nvPicPr>
          <p:cNvPr id="24" name="Icon FaChevronRight 167" descr="ChevronRigh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54618" y="4810945"/>
            <a:ext cx="402336" cy="402336"/>
          </a:xfrm>
          <a:prstGeom prst="rect">
            <a:avLst/>
          </a:prstGeom>
        </p:spPr>
      </p:pic>
      <p:pic>
        <p:nvPicPr>
          <p:cNvPr id="25" name="Card 168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8455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6" name="Icon FaTrophy 169" descr="Trophy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02775" y="3840480"/>
            <a:ext cx="685800" cy="685800"/>
          </a:xfrm>
          <a:prstGeom prst="rect">
            <a:avLst/>
          </a:prstGeom>
        </p:spPr>
      </p:pic>
      <p:sp>
        <p:nvSpPr>
          <p:cNvPr id="27" name="Text 170"/>
          <p:cNvSpPr txBox="1"/>
          <p:nvPr/>
        </p:nvSpPr>
        <p:spPr>
          <a:xfrm>
            <a:off x="9402775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PREMIO</a:t>
            </a:r>
            <a:endParaRPr lang="en-US" sz="1900" dirty="0"/>
          </a:p>
        </p:txBody>
      </p:sp>
      <p:sp>
        <p:nvSpPr>
          <p:cNvPr id="28" name="Text 171"/>
          <p:cNvSpPr txBox="1"/>
          <p:nvPr/>
        </p:nvSpPr>
        <p:spPr>
          <a:xfrm>
            <a:off x="9402775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Directores califican por licenciatura para obtener ganadores.</a:t>
            </a:r>
            <a:endParaRPr lang="en-US" sz="13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7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Estructura de los 40 minutos</a:t>
            </a:r>
            <a:endParaRPr lang="en-US" sz="3000" dirty="0"/>
          </a:p>
        </p:txBody>
      </p:sp>
      <p:sp>
        <p:nvSpPr>
          <p:cNvPr id="5" name="Text 173"/>
          <p:cNvSpPr txBox="1"/>
          <p:nvPr/>
        </p:nvSpPr>
        <p:spPr>
          <a:xfrm>
            <a:off x="548640" y="2234738"/>
            <a:ext cx="2743200" cy="313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TIEMPO</a:t>
            </a:r>
            <a:endParaRPr lang="en-US" sz="1200" dirty="0"/>
          </a:p>
        </p:txBody>
      </p:sp>
      <p:pic>
        <p:nvPicPr>
          <p:cNvPr id="6" name="Card 17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7" name="Text 175"/>
          <p:cNvSpPr txBox="1"/>
          <p:nvPr/>
        </p:nvSpPr>
        <p:spPr>
          <a:xfrm>
            <a:off x="548640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8" name="Text 176"/>
          <p:cNvSpPr txBox="1"/>
          <p:nvPr/>
        </p:nvSpPr>
        <p:spPr>
          <a:xfrm>
            <a:off x="594360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de la actividad</a:t>
            </a:r>
            <a:endParaRPr lang="en-US" sz="1500" dirty="0"/>
          </a:p>
        </p:txBody>
      </p:sp>
      <p:pic>
        <p:nvPicPr>
          <p:cNvPr id="9" name="Card 17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018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Text 178"/>
          <p:cNvSpPr txBox="1"/>
          <p:nvPr/>
        </p:nvSpPr>
        <p:spPr>
          <a:xfrm>
            <a:off x="1972018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11" name="Text 179"/>
          <p:cNvSpPr txBox="1"/>
          <p:nvPr/>
        </p:nvSpPr>
        <p:spPr>
          <a:xfrm>
            <a:off x="2017738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Explicación del reto</a:t>
            </a:r>
            <a:endParaRPr lang="en-US" sz="1500" dirty="0"/>
          </a:p>
        </p:txBody>
      </p:sp>
      <p:pic>
        <p:nvPicPr>
          <p:cNvPr id="12" name="Card 18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5396" y="2637905"/>
            <a:ext cx="5400904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3" name="Text 181"/>
          <p:cNvSpPr txBox="1"/>
          <p:nvPr/>
        </p:nvSpPr>
        <p:spPr>
          <a:xfrm>
            <a:off x="3395396" y="2637905"/>
            <a:ext cx="5400904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 min.</a:t>
            </a:r>
            <a:endParaRPr lang="en-US" sz="4000" dirty="0"/>
          </a:p>
        </p:txBody>
      </p:sp>
      <p:sp>
        <p:nvSpPr>
          <p:cNvPr id="14" name="Text 182"/>
          <p:cNvSpPr txBox="1"/>
          <p:nvPr/>
        </p:nvSpPr>
        <p:spPr>
          <a:xfrm>
            <a:off x="3441116" y="4922520"/>
            <a:ext cx="5309464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 de la actividad.</a:t>
            </a:r>
            <a:endParaRPr lang="en-US" sz="2000" dirty="0"/>
          </a:p>
        </p:txBody>
      </p:sp>
      <p:pic>
        <p:nvPicPr>
          <p:cNvPr id="15" name="Card 1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451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6" name="Text 184"/>
          <p:cNvSpPr txBox="1"/>
          <p:nvPr/>
        </p:nvSpPr>
        <p:spPr>
          <a:xfrm>
            <a:off x="8869451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17" name="Text 185"/>
          <p:cNvSpPr txBox="1"/>
          <p:nvPr/>
        </p:nvSpPr>
        <p:spPr>
          <a:xfrm>
            <a:off x="8915171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Preparación del pitch</a:t>
            </a:r>
            <a:endParaRPr lang="en-US" sz="1500" dirty="0"/>
          </a:p>
        </p:txBody>
      </p:sp>
      <p:pic>
        <p:nvPicPr>
          <p:cNvPr id="18" name="Card 18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2829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9" name="Text 187"/>
          <p:cNvSpPr txBox="1"/>
          <p:nvPr/>
        </p:nvSpPr>
        <p:spPr>
          <a:xfrm>
            <a:off x="10292829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20" name="Text 188"/>
          <p:cNvSpPr txBox="1"/>
          <p:nvPr/>
        </p:nvSpPr>
        <p:spPr>
          <a:xfrm>
            <a:off x="10338549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y evaluación.</a:t>
            </a:r>
            <a:endParaRPr lang="en-US" sz="1500" dirty="0"/>
          </a:p>
        </p:txBody>
      </p:sp>
      <p:sp>
        <p:nvSpPr>
          <p:cNvPr id="21" name="Text 189"/>
          <p:cNvSpPr txBox="1"/>
          <p:nvPr/>
        </p:nvSpPr>
        <p:spPr>
          <a:xfrm>
            <a:off x="548640" y="4519353"/>
            <a:ext cx="2743200" cy="286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ACTIVIDAD</a:t>
            </a:r>
            <a:endParaRPr lang="en-US" sz="12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9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 y presentación</a:t>
            </a:r>
            <a:endParaRPr lang="en-US" sz="3000" dirty="0"/>
          </a:p>
        </p:txBody>
      </p:sp>
      <p:pic>
        <p:nvPicPr>
          <p:cNvPr id="5" name="Card 19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9869"/>
            <a:ext cx="3931920" cy="171246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MugHot 192" descr="Mug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2206"/>
            <a:ext cx="548640" cy="548640"/>
          </a:xfrm>
          <a:prstGeom prst="rect">
            <a:avLst/>
          </a:prstGeom>
        </p:spPr>
      </p:pic>
      <p:sp>
        <p:nvSpPr>
          <p:cNvPr id="7" name="Pill 193"/>
          <p:cNvSpPr txBox="1"/>
          <p:nvPr/>
        </p:nvSpPr>
        <p:spPr>
          <a:xfrm>
            <a:off x="1554480" y="2290889"/>
            <a:ext cx="2377440" cy="351274"/>
          </a:xfrm>
          <a:prstGeom prst="roundRect">
            <a:avLst>
              <a:gd name="adj" fmla="val 52062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15 minutos.</a:t>
            </a:r>
            <a:endParaRPr lang="en-US" sz="1150" dirty="0"/>
          </a:p>
        </p:txBody>
      </p:sp>
      <p:sp>
        <p:nvSpPr>
          <p:cNvPr id="8" name="Text 194"/>
          <p:cNvSpPr txBox="1"/>
          <p:nvPr/>
        </p:nvSpPr>
        <p:spPr>
          <a:xfrm>
            <a:off x="822960" y="2844146"/>
            <a:ext cx="3429000" cy="79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término se les invita a convivir en el foyer del auditorio para el refrigerio.</a:t>
            </a:r>
            <a:endParaRPr lang="en-US" sz="1350" dirty="0"/>
          </a:p>
        </p:txBody>
      </p:sp>
      <p:pic>
        <p:nvPicPr>
          <p:cNvPr id="9" name="Card 1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97970"/>
            <a:ext cx="3931920" cy="250283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Microphone 196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80306"/>
            <a:ext cx="548640" cy="548640"/>
          </a:xfrm>
          <a:prstGeom prst="rect">
            <a:avLst/>
          </a:prstGeom>
        </p:spPr>
      </p:pic>
      <p:sp>
        <p:nvSpPr>
          <p:cNvPr id="11" name="Pill 197"/>
          <p:cNvSpPr txBox="1"/>
          <p:nvPr/>
        </p:nvSpPr>
        <p:spPr>
          <a:xfrm>
            <a:off x="1554480" y="4178989"/>
            <a:ext cx="2377440" cy="351274"/>
          </a:xfrm>
          <a:prstGeom prst="roundRect">
            <a:avLst>
              <a:gd name="adj" fmla="val 52062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20 minutos.</a:t>
            </a:r>
            <a:endParaRPr lang="en-US" sz="1150" dirty="0"/>
          </a:p>
        </p:txBody>
      </p:sp>
      <p:sp>
        <p:nvSpPr>
          <p:cNvPr id="12" name="Text 198"/>
          <p:cNvSpPr txBox="1"/>
          <p:nvPr/>
        </p:nvSpPr>
        <p:spPr>
          <a:xfrm>
            <a:off x="822960" y="4732246"/>
            <a:ext cx="3429000" cy="1580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les invita a pasar al auditorio para dar la presentación de nuestra oferta académica en el formato nuevo. (entrevista).</a:t>
            </a:r>
            <a:endParaRPr lang="en-US" sz="1350" dirty="0"/>
          </a:p>
        </p:txBody>
      </p:sp>
      <p:pic>
        <p:nvPicPr>
          <p:cNvPr id="13" name="Card 19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009869"/>
            <a:ext cx="6888175" cy="439093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4" name="Text 200"/>
          <p:cNvSpPr txBox="1"/>
          <p:nvPr/>
        </p:nvSpPr>
        <p:spPr>
          <a:xfrm>
            <a:off x="5074920" y="2097688"/>
            <a:ext cx="6339535" cy="526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“Pregúntale a quien ya lo está viviendo”.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(Participante Embajador Westhill).</a:t>
            </a:r>
            <a:endParaRPr lang="en-US" sz="1700" dirty="0"/>
          </a:p>
        </p:txBody>
      </p:sp>
      <p:sp>
        <p:nvSpPr>
          <p:cNvPr id="15" name="Text 201"/>
          <p:cNvSpPr txBox="1"/>
          <p:nvPr/>
        </p:nvSpPr>
        <p:spPr>
          <a:xfrm>
            <a:off x="5074920" y="2624600"/>
            <a:ext cx="6339535" cy="307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Una asesora de admisiones entrevista a un alumno.</a:t>
            </a:r>
            <a:endParaRPr lang="en-US" sz="1300" dirty="0"/>
          </a:p>
        </p:txBody>
      </p:sp>
      <p:sp>
        <p:nvSpPr>
          <p:cNvPr id="16" name="Text 202"/>
          <p:cNvSpPr txBox="1"/>
          <p:nvPr/>
        </p:nvSpPr>
        <p:spPr>
          <a:xfrm>
            <a:off x="5074920" y="3063693"/>
            <a:ext cx="3078328" cy="324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¿Por qué elegiste Westhill?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¿Por qué elegiste tu licenciatura?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¿Qué fue lo primero que te sorprendió de la Universidad?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¿Cómo describirías el ambiente entre los estudiantes?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¿Qué es lo que más disfrutas estudiar aquí?</a:t>
            </a:r>
            <a:endParaRPr lang="en-US" sz="1300" dirty="0"/>
          </a:p>
        </p:txBody>
      </p:sp>
      <p:sp>
        <p:nvSpPr>
          <p:cNvPr id="17" name="Text 203"/>
          <p:cNvSpPr txBox="1"/>
          <p:nvPr/>
        </p:nvSpPr>
        <p:spPr>
          <a:xfrm>
            <a:off x="8244688" y="3063693"/>
            <a:ext cx="3078328" cy="324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 ¿Cómo son tus profesores?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 ¿Qué actividades o experiencias has vivido fuera del salón?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 ¿Qué instalaciones utilizas más y por qué?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 Si pudieras darle un consejo a alguien que está por elegir Universidad, ¿qué le dirías?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 Si pudieras volver al día en que elegiste Universidad, ¿volverías a elegir Westhill?</a:t>
            </a:r>
            <a:endParaRPr lang="en-US" sz="13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0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Premiación</a:t>
            </a:r>
            <a:endParaRPr lang="en-US" sz="3000" dirty="0"/>
          </a:p>
        </p:txBody>
      </p:sp>
      <p:sp>
        <p:nvSpPr>
          <p:cNvPr id="5" name="Text 205"/>
          <p:cNvSpPr txBox="1"/>
          <p:nvPr/>
        </p:nvSpPr>
        <p:spPr>
          <a:xfrm>
            <a:off x="548640" y="2010756"/>
            <a:ext cx="804672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finalizar la entrevista se reconocerá a los alumnos que hayan destacado.</a:t>
            </a:r>
            <a:endParaRPr lang="en-US" sz="1700" dirty="0"/>
          </a:p>
        </p:txBody>
      </p:sp>
      <p:sp>
        <p:nvSpPr>
          <p:cNvPr id="6" name="Pill 206"/>
          <p:cNvSpPr txBox="1"/>
          <p:nvPr/>
        </p:nvSpPr>
        <p:spPr>
          <a:xfrm>
            <a:off x="9265615" y="2055553"/>
            <a:ext cx="2377440" cy="376289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5 minutos.</a:t>
            </a:r>
            <a:endParaRPr lang="en-US" sz="1250" dirty="0"/>
          </a:p>
        </p:txBody>
      </p:sp>
      <p:sp>
        <p:nvSpPr>
          <p:cNvPr id="7" name="Text 207"/>
          <p:cNvSpPr txBox="1"/>
          <p:nvPr/>
        </p:nvSpPr>
        <p:spPr>
          <a:xfrm>
            <a:off x="548640" y="2637905"/>
            <a:ext cx="54864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Categorías sugeridas:</a:t>
            </a:r>
            <a:endParaRPr lang="en-US" sz="1500" dirty="0"/>
          </a:p>
        </p:txBody>
      </p:sp>
      <p:pic>
        <p:nvPicPr>
          <p:cNvPr id="8" name="Card 2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Icon FaLightbulb 209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134" y="3346335"/>
            <a:ext cx="822960" cy="822960"/>
          </a:xfrm>
          <a:prstGeom prst="rect">
            <a:avLst/>
          </a:prstGeom>
        </p:spPr>
      </p:pic>
      <p:sp>
        <p:nvSpPr>
          <p:cNvPr id="10" name="Text 210"/>
          <p:cNvSpPr txBox="1"/>
          <p:nvPr/>
        </p:nvSpPr>
        <p:spPr>
          <a:xfrm>
            <a:off x="685800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creatividad.</a:t>
            </a:r>
            <a:endParaRPr lang="en-US" sz="1500" dirty="0"/>
          </a:p>
        </p:txBody>
      </p:sp>
      <p:pic>
        <p:nvPicPr>
          <p:cNvPr id="11" name="Card 2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757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2" name="Icon FaPeopleGroup 212" descr="PeopleGro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5251" y="3346335"/>
            <a:ext cx="822960" cy="822960"/>
          </a:xfrm>
          <a:prstGeom prst="rect">
            <a:avLst/>
          </a:prstGeom>
        </p:spPr>
      </p:pic>
      <p:sp>
        <p:nvSpPr>
          <p:cNvPr id="13" name="Text 213"/>
          <p:cNvSpPr txBox="1"/>
          <p:nvPr/>
        </p:nvSpPr>
        <p:spPr>
          <a:xfrm>
            <a:off x="2944917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trabajo en equipo.</a:t>
            </a:r>
            <a:endParaRPr lang="en-US" sz="1500" dirty="0"/>
          </a:p>
        </p:txBody>
      </p:sp>
      <p:pic>
        <p:nvPicPr>
          <p:cNvPr id="14" name="Card 2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6873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Crown 215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4368" y="3346335"/>
            <a:ext cx="822960" cy="822960"/>
          </a:xfrm>
          <a:prstGeom prst="rect">
            <a:avLst/>
          </a:prstGeom>
        </p:spPr>
      </p:pic>
      <p:sp>
        <p:nvSpPr>
          <p:cNvPr id="16" name="Text 216"/>
          <p:cNvSpPr txBox="1"/>
          <p:nvPr/>
        </p:nvSpPr>
        <p:spPr>
          <a:xfrm>
            <a:off x="5204033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liderazgo.</a:t>
            </a:r>
            <a:endParaRPr lang="en-US" sz="1500" dirty="0"/>
          </a:p>
        </p:txBody>
      </p:sp>
      <p:pic>
        <p:nvPicPr>
          <p:cNvPr id="17" name="Card 21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5990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8" name="Icon FaMicrophone 218" descr="Microph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3484" y="3346335"/>
            <a:ext cx="822960" cy="822960"/>
          </a:xfrm>
          <a:prstGeom prst="rect">
            <a:avLst/>
          </a:prstGeom>
        </p:spPr>
      </p:pic>
      <p:sp>
        <p:nvSpPr>
          <p:cNvPr id="19" name="Text 219"/>
          <p:cNvSpPr txBox="1"/>
          <p:nvPr/>
        </p:nvSpPr>
        <p:spPr>
          <a:xfrm>
            <a:off x="7463150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presentación.</a:t>
            </a:r>
            <a:endParaRPr lang="en-US" sz="1500" dirty="0"/>
          </a:p>
        </p:txBody>
      </p:sp>
      <p:pic>
        <p:nvPicPr>
          <p:cNvPr id="20" name="Card 220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85107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1" name="Icon FaStar 221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02601" y="3346335"/>
            <a:ext cx="822960" cy="822960"/>
          </a:xfrm>
          <a:prstGeom prst="rect">
            <a:avLst/>
          </a:prstGeom>
        </p:spPr>
      </p:pic>
      <p:sp>
        <p:nvSpPr>
          <p:cNvPr id="22" name="Text 222"/>
          <p:cNvSpPr txBox="1"/>
          <p:nvPr/>
        </p:nvSpPr>
        <p:spPr>
          <a:xfrm>
            <a:off x="9722267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Espíritu Westhill.</a:t>
            </a:r>
            <a:endParaRPr lang="en-US" sz="1500" dirty="0"/>
          </a:p>
        </p:txBody>
      </p:sp>
      <p:pic>
        <p:nvPicPr>
          <p:cNvPr id="23" name="Card 22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5325687"/>
            <a:ext cx="11094415" cy="1075113"/>
          </a:xfrm>
          <a:prstGeom prst="rect">
            <a:avLst/>
          </a:prstGeom>
        </p:spPr>
      </p:pic>
      <p:sp>
        <p:nvSpPr>
          <p:cNvPr id="24" name="Text 224"/>
          <p:cNvSpPr txBox="1"/>
          <p:nvPr/>
        </p:nvSpPr>
        <p:spPr>
          <a:xfrm>
            <a:off x="868680" y="5325687"/>
            <a:ext cx="1828800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Esto genera:</a:t>
            </a:r>
            <a:endParaRPr lang="en-US" sz="1700" dirty="0"/>
          </a:p>
        </p:txBody>
      </p:sp>
      <p:sp>
        <p:nvSpPr>
          <p:cNvPr id="25" name="Pill 225"/>
          <p:cNvSpPr txBox="1"/>
          <p:nvPr/>
        </p:nvSpPr>
        <p:spPr>
          <a:xfrm>
            <a:off x="278892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Participación,</a:t>
            </a:r>
            <a:endParaRPr lang="en-US" sz="1400" dirty="0"/>
          </a:p>
        </p:txBody>
      </p:sp>
      <p:sp>
        <p:nvSpPr>
          <p:cNvPr id="26" name="Pill 226"/>
          <p:cNvSpPr txBox="1"/>
          <p:nvPr/>
        </p:nvSpPr>
        <p:spPr>
          <a:xfrm>
            <a:off x="498348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emoción,</a:t>
            </a:r>
            <a:endParaRPr lang="en-US" sz="1400" dirty="0"/>
          </a:p>
        </p:txBody>
      </p:sp>
      <p:sp>
        <p:nvSpPr>
          <p:cNvPr id="27" name="Pill 227"/>
          <p:cNvSpPr txBox="1"/>
          <p:nvPr/>
        </p:nvSpPr>
        <p:spPr>
          <a:xfrm>
            <a:off x="717804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recuerdo</a:t>
            </a:r>
            <a:endParaRPr lang="en-US" sz="1400" dirty="0"/>
          </a:p>
        </p:txBody>
      </p:sp>
      <p:sp>
        <p:nvSpPr>
          <p:cNvPr id="28" name="Pill 228"/>
          <p:cNvSpPr txBox="1"/>
          <p:nvPr/>
        </p:nvSpPr>
        <p:spPr>
          <a:xfrm>
            <a:off x="937260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 contenido.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229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231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232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Section kicker 233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234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y seguimiento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3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 Westhill</a:t>
            </a:r>
            <a:endParaRPr lang="en-US" sz="3000" dirty="0"/>
          </a:p>
        </p:txBody>
      </p:sp>
      <p:sp>
        <p:nvSpPr>
          <p:cNvPr id="5" name="Subtitle 23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Conectar el plan de embajadores.</a:t>
            </a:r>
            <a:endParaRPr lang="en-US" sz="1600" dirty="0"/>
          </a:p>
        </p:txBody>
      </p:sp>
      <p:pic>
        <p:nvPicPr>
          <p:cNvPr id="6" name="Card 2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4572000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Watermark FaUserGraduate 2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4684684"/>
            <a:ext cx="1371600" cy="1371600"/>
          </a:xfrm>
          <a:prstGeom prst="rect">
            <a:avLst/>
          </a:prstGeom>
        </p:spPr>
      </p:pic>
      <p:pic>
        <p:nvPicPr>
          <p:cNvPr id="8" name="Icon FaUserGraduate 239" descr="UserGradu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764444"/>
            <a:ext cx="777240" cy="777240"/>
          </a:xfrm>
          <a:prstGeom prst="rect">
            <a:avLst/>
          </a:prstGeom>
        </p:spPr>
      </p:pic>
      <p:sp>
        <p:nvSpPr>
          <p:cNvPr id="9" name="Text 240"/>
          <p:cNvSpPr txBox="1"/>
          <p:nvPr/>
        </p:nvSpPr>
        <p:spPr>
          <a:xfrm>
            <a:off x="914400" y="3713018"/>
            <a:ext cx="3840480" cy="134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está creando su comunidad de EMBAJADORES y queremos que tú seas parte.</a:t>
            </a:r>
            <a:endParaRPr lang="en-US" sz="1900" dirty="0"/>
          </a:p>
        </p:txBody>
      </p:sp>
      <p:sp>
        <p:nvSpPr>
          <p:cNvPr id="10" name="Text 241"/>
          <p:cNvSpPr txBox="1"/>
          <p:nvPr/>
        </p:nvSpPr>
        <p:spPr>
          <a:xfrm>
            <a:off x="914400" y="5280891"/>
            <a:ext cx="384048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 tu siguiente paso inspirando futuros.</a:t>
            </a:r>
            <a:endParaRPr lang="en-US" sz="1600" dirty="0"/>
          </a:p>
        </p:txBody>
      </p:sp>
      <p:sp>
        <p:nvSpPr>
          <p:cNvPr id="11" name="Text 242"/>
          <p:cNvSpPr txBox="1"/>
          <p:nvPr/>
        </p:nvSpPr>
        <p:spPr>
          <a:xfrm>
            <a:off x="5394960" y="2503516"/>
            <a:ext cx="6248095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¿Qué hace un Embajador?</a:t>
            </a:r>
            <a:endParaRPr lang="en-US" sz="1900" dirty="0"/>
          </a:p>
        </p:txBody>
      </p:sp>
      <p:pic>
        <p:nvPicPr>
          <p:cNvPr id="12" name="Card 24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085869"/>
            <a:ext cx="6248095" cy="573393"/>
          </a:xfrm>
          <a:prstGeom prst="rect">
            <a:avLst/>
          </a:prstGeom>
        </p:spPr>
      </p:pic>
      <p:pic>
        <p:nvPicPr>
          <p:cNvPr id="13" name="Icon FaShareNodes 244" descr="ShareNod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3125678"/>
            <a:ext cx="493776" cy="493776"/>
          </a:xfrm>
          <a:prstGeom prst="rect">
            <a:avLst/>
          </a:prstGeom>
        </p:spPr>
      </p:pic>
      <p:sp>
        <p:nvSpPr>
          <p:cNvPr id="14" name="Text 245"/>
          <p:cNvSpPr txBox="1"/>
          <p:nvPr/>
        </p:nvSpPr>
        <p:spPr>
          <a:xfrm>
            <a:off x="6126480" y="3085869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tus amigos a conocer Westhill.</a:t>
            </a:r>
            <a:endParaRPr lang="en-US" sz="1450" dirty="0"/>
          </a:p>
        </p:txBody>
      </p:sp>
      <p:pic>
        <p:nvPicPr>
          <p:cNvPr id="15" name="Card 24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57815"/>
            <a:ext cx="6248095" cy="573393"/>
          </a:xfrm>
          <a:prstGeom prst="rect">
            <a:avLst/>
          </a:prstGeom>
        </p:spPr>
      </p:pic>
      <p:pic>
        <p:nvPicPr>
          <p:cNvPr id="16" name="Icon FaComments 247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8968" y="3797623"/>
            <a:ext cx="493776" cy="493776"/>
          </a:xfrm>
          <a:prstGeom prst="rect">
            <a:avLst/>
          </a:prstGeom>
        </p:spPr>
      </p:pic>
      <p:sp>
        <p:nvSpPr>
          <p:cNvPr id="17" name="Text 248"/>
          <p:cNvSpPr txBox="1"/>
          <p:nvPr/>
        </p:nvSpPr>
        <p:spPr>
          <a:xfrm>
            <a:off x="6126480" y="3757815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experiencia.</a:t>
            </a:r>
            <a:endParaRPr lang="en-US" sz="1450" dirty="0"/>
          </a:p>
        </p:txBody>
      </p:sp>
      <p:pic>
        <p:nvPicPr>
          <p:cNvPr id="18" name="Card 24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4960" y="4429760"/>
            <a:ext cx="6248095" cy="573393"/>
          </a:xfrm>
          <a:prstGeom prst="rect">
            <a:avLst/>
          </a:prstGeom>
        </p:spPr>
      </p:pic>
      <p:pic>
        <p:nvPicPr>
          <p:cNvPr id="19" name="Icon FaTicket 250" descr="Ticke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8968" y="4469569"/>
            <a:ext cx="493776" cy="493776"/>
          </a:xfrm>
          <a:prstGeom prst="rect">
            <a:avLst/>
          </a:prstGeom>
        </p:spPr>
      </p:pic>
      <p:sp>
        <p:nvSpPr>
          <p:cNvPr id="20" name="Text 251"/>
          <p:cNvSpPr txBox="1"/>
          <p:nvPr/>
        </p:nvSpPr>
        <p:spPr>
          <a:xfrm>
            <a:off x="6126480" y="4429760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Accede a experiencias especiales.</a:t>
            </a:r>
            <a:endParaRPr lang="en-US" sz="1450" dirty="0"/>
          </a:p>
        </p:txBody>
      </p:sp>
      <p:pic>
        <p:nvPicPr>
          <p:cNvPr id="21" name="Card 25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4960" y="5101705"/>
            <a:ext cx="6248095" cy="573393"/>
          </a:xfrm>
          <a:prstGeom prst="rect">
            <a:avLst/>
          </a:prstGeom>
        </p:spPr>
      </p:pic>
      <p:pic>
        <p:nvPicPr>
          <p:cNvPr id="22" name="Icon FaTrophy 253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8968" y="5141514"/>
            <a:ext cx="493776" cy="493776"/>
          </a:xfrm>
          <a:prstGeom prst="rect">
            <a:avLst/>
          </a:prstGeom>
        </p:spPr>
      </p:pic>
      <p:sp>
        <p:nvSpPr>
          <p:cNvPr id="23" name="Text 254"/>
          <p:cNvSpPr txBox="1"/>
          <p:nvPr/>
        </p:nvSpPr>
        <p:spPr>
          <a:xfrm>
            <a:off x="6126480" y="5101705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Retos.</a:t>
            </a:r>
            <a:endParaRPr lang="en-US" sz="1450" dirty="0"/>
          </a:p>
        </p:txBody>
      </p:sp>
      <p:pic>
        <p:nvPicPr>
          <p:cNvPr id="24" name="Card 25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0" y="5773651"/>
            <a:ext cx="6248095" cy="573393"/>
          </a:xfrm>
          <a:prstGeom prst="rect">
            <a:avLst/>
          </a:prstGeom>
        </p:spPr>
      </p:pic>
      <p:pic>
        <p:nvPicPr>
          <p:cNvPr id="25" name="Icon FaGift 256" descr="Gif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58968" y="5813460"/>
            <a:ext cx="493776" cy="493776"/>
          </a:xfrm>
          <a:prstGeom prst="rect">
            <a:avLst/>
          </a:prstGeom>
        </p:spPr>
      </p:pic>
      <p:sp>
        <p:nvSpPr>
          <p:cNvPr id="26" name="Text 257"/>
          <p:cNvSpPr txBox="1"/>
          <p:nvPr/>
        </p:nvSpPr>
        <p:spPr>
          <a:xfrm>
            <a:off x="6126480" y="5773651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 obtén beneficios por las recomendaciones que realmente avancen.</a:t>
            </a:r>
            <a:endParaRPr lang="en-US" sz="14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5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convertimos la experiencia en resultados?</a:t>
            </a:r>
            <a:endParaRPr lang="en-US" sz="3000" dirty="0"/>
          </a:p>
        </p:txBody>
      </p:sp>
      <p:pic>
        <p:nvPicPr>
          <p:cNvPr id="5" name="Card 2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6949440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6" name="Text 260"/>
          <p:cNvSpPr txBox="1"/>
          <p:nvPr/>
        </p:nvSpPr>
        <p:spPr>
          <a:xfrm>
            <a:off x="548640" y="2010756"/>
            <a:ext cx="6949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Alumnos asistentes</a:t>
            </a:r>
            <a:endParaRPr lang="en-US" sz="1600" dirty="0"/>
          </a:p>
        </p:txBody>
      </p:sp>
      <p:pic>
        <p:nvPicPr>
          <p:cNvPr id="7" name="Card 2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727498"/>
            <a:ext cx="6181344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8" name="Text 262"/>
          <p:cNvSpPr txBox="1"/>
          <p:nvPr/>
        </p:nvSpPr>
        <p:spPr>
          <a:xfrm>
            <a:off x="932688" y="2727498"/>
            <a:ext cx="6181344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Interesados</a:t>
            </a:r>
            <a:endParaRPr lang="en-US" sz="1600" dirty="0"/>
          </a:p>
        </p:txBody>
      </p:sp>
      <p:pic>
        <p:nvPicPr>
          <p:cNvPr id="9" name="Card 2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736" y="3444240"/>
            <a:ext cx="5413248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Text 264"/>
          <p:cNvSpPr txBox="1"/>
          <p:nvPr/>
        </p:nvSpPr>
        <p:spPr>
          <a:xfrm>
            <a:off x="1316736" y="3444240"/>
            <a:ext cx="5413248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 calificados</a:t>
            </a:r>
            <a:endParaRPr lang="en-US" sz="1600" dirty="0"/>
          </a:p>
        </p:txBody>
      </p:sp>
      <p:pic>
        <p:nvPicPr>
          <p:cNvPr id="11" name="Card 26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784" y="4160982"/>
            <a:ext cx="4645152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2" name="Text 266"/>
          <p:cNvSpPr txBox="1"/>
          <p:nvPr/>
        </p:nvSpPr>
        <p:spPr>
          <a:xfrm>
            <a:off x="1700784" y="4160982"/>
            <a:ext cx="4645152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Citas</a:t>
            </a:r>
            <a:endParaRPr lang="en-US" sz="1600" dirty="0"/>
          </a:p>
        </p:txBody>
      </p:sp>
      <p:pic>
        <p:nvPicPr>
          <p:cNvPr id="13" name="Card 26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4832" y="4877724"/>
            <a:ext cx="3877056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4" name="Text 268"/>
          <p:cNvSpPr txBox="1"/>
          <p:nvPr/>
        </p:nvSpPr>
        <p:spPr>
          <a:xfrm>
            <a:off x="2084832" y="4877724"/>
            <a:ext cx="3877056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Proceso de admisiones</a:t>
            </a:r>
            <a:endParaRPr lang="en-US" sz="1600" dirty="0"/>
          </a:p>
        </p:txBody>
      </p:sp>
      <p:pic>
        <p:nvPicPr>
          <p:cNvPr id="15" name="Card 26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5594465"/>
            <a:ext cx="3108960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6" name="Text 270"/>
          <p:cNvSpPr txBox="1"/>
          <p:nvPr/>
        </p:nvSpPr>
        <p:spPr>
          <a:xfrm>
            <a:off x="2468880" y="5594465"/>
            <a:ext cx="31089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600" dirty="0"/>
          </a:p>
        </p:txBody>
      </p:sp>
      <p:pic>
        <p:nvPicPr>
          <p:cNvPr id="17" name="Card 27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2503516"/>
            <a:ext cx="3779215" cy="322533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8" name="Watermark FaFilter 27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71455" y="4373418"/>
            <a:ext cx="1143000" cy="1143000"/>
          </a:xfrm>
          <a:prstGeom prst="rect">
            <a:avLst/>
          </a:prstGeom>
        </p:spPr>
      </p:pic>
      <p:pic>
        <p:nvPicPr>
          <p:cNvPr id="19" name="Icon FaChartLine 273" descr="ChartLin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80" y="2764905"/>
            <a:ext cx="731520" cy="731520"/>
          </a:xfrm>
          <a:prstGeom prst="rect">
            <a:avLst/>
          </a:prstGeom>
        </p:spPr>
      </p:pic>
      <p:sp>
        <p:nvSpPr>
          <p:cNvPr id="20" name="Text 274"/>
          <p:cNvSpPr txBox="1"/>
          <p:nvPr/>
        </p:nvSpPr>
        <p:spPr>
          <a:xfrm>
            <a:off x="8183880" y="3668222"/>
            <a:ext cx="3230575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medirá por:</a:t>
            </a:r>
            <a:endParaRPr lang="en-US" sz="1500" dirty="0"/>
          </a:p>
        </p:txBody>
      </p:sp>
      <p:sp>
        <p:nvSpPr>
          <p:cNvPr id="21" name="Text 275"/>
          <p:cNvSpPr txBox="1"/>
          <p:nvPr/>
        </p:nvSpPr>
        <p:spPr>
          <a:xfrm>
            <a:off x="8183880" y="4116185"/>
            <a:ext cx="3230575" cy="134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¿Cuántos procesos de admisión generó?</a:t>
            </a:r>
            <a:endParaRPr lang="en-US" sz="22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7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Promoción</a:t>
            </a:r>
            <a:endParaRPr lang="en-US" sz="3000" dirty="0"/>
          </a:p>
        </p:txBody>
      </p:sp>
      <p:sp>
        <p:nvSpPr>
          <p:cNvPr id="5" name="Subtitle 277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experiencia también debe vivir en redes.</a:t>
            </a:r>
            <a:endParaRPr lang="en-US" sz="1600" dirty="0"/>
          </a:p>
        </p:txBody>
      </p:sp>
      <p:pic>
        <p:nvPicPr>
          <p:cNvPr id="6" name="Card 2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Bullhorn 279" descr="Bullhor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64905"/>
            <a:ext cx="731520" cy="731520"/>
          </a:xfrm>
          <a:prstGeom prst="rect">
            <a:avLst/>
          </a:prstGeom>
        </p:spPr>
      </p:pic>
      <p:sp>
        <p:nvSpPr>
          <p:cNvPr id="8" name="Text 280"/>
          <p:cNvSpPr txBox="1"/>
          <p:nvPr/>
        </p:nvSpPr>
        <p:spPr>
          <a:xfrm>
            <a:off x="1783080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Antes:</a:t>
            </a:r>
            <a:endParaRPr lang="en-US" sz="2200" dirty="0"/>
          </a:p>
        </p:txBody>
      </p:sp>
      <p:sp>
        <p:nvSpPr>
          <p:cNvPr id="9" name="Text 281"/>
          <p:cNvSpPr txBox="1"/>
          <p:nvPr/>
        </p:nvSpPr>
        <p:spPr>
          <a:xfrm>
            <a:off x="868680" y="3802611"/>
            <a:ext cx="2871216" cy="2329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“Algo diferente está por suceder en Westhill”</a:t>
            </a:r>
            <a:endParaRPr lang="en-US" sz="2100" dirty="0"/>
          </a:p>
        </p:txBody>
      </p:sp>
      <p:pic>
        <p:nvPicPr>
          <p:cNvPr id="10" name="Icon FaChevronRight 282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8900" y="4246511"/>
            <a:ext cx="402336" cy="402336"/>
          </a:xfrm>
          <a:prstGeom prst="rect">
            <a:avLst/>
          </a:prstGeom>
        </p:spPr>
      </p:pic>
      <p:pic>
        <p:nvPicPr>
          <p:cNvPr id="11" name="Card 2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200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2" name="Icon FaCamera 28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0240" y="2764905"/>
            <a:ext cx="731520" cy="731520"/>
          </a:xfrm>
          <a:prstGeom prst="rect">
            <a:avLst/>
          </a:prstGeom>
        </p:spPr>
      </p:pic>
      <p:sp>
        <p:nvSpPr>
          <p:cNvPr id="13" name="Text 285"/>
          <p:cNvSpPr txBox="1"/>
          <p:nvPr/>
        </p:nvSpPr>
        <p:spPr>
          <a:xfrm>
            <a:off x="5574640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Durante:</a:t>
            </a:r>
            <a:endParaRPr lang="en-US" sz="2200" dirty="0"/>
          </a:p>
        </p:txBody>
      </p:sp>
      <p:pic>
        <p:nvPicPr>
          <p:cNvPr id="14" name="Icon FaCamera 286" descr="Camer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960" y="3753935"/>
            <a:ext cx="384048" cy="384048"/>
          </a:xfrm>
          <a:prstGeom prst="rect">
            <a:avLst/>
          </a:prstGeom>
        </p:spPr>
      </p:pic>
      <p:sp>
        <p:nvSpPr>
          <p:cNvPr id="15" name="Text 287"/>
          <p:cNvSpPr txBox="1"/>
          <p:nvPr/>
        </p:nvSpPr>
        <p:spPr>
          <a:xfrm>
            <a:off x="5254600" y="3757815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Fotografías</a:t>
            </a:r>
            <a:endParaRPr lang="en-US" sz="1500" dirty="0"/>
          </a:p>
        </p:txBody>
      </p:sp>
      <p:pic>
        <p:nvPicPr>
          <p:cNvPr id="16" name="Icon FaVideo 288" descr="Vide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5960" y="4255655"/>
            <a:ext cx="384048" cy="384048"/>
          </a:xfrm>
          <a:prstGeom prst="rect">
            <a:avLst/>
          </a:prstGeom>
        </p:spPr>
      </p:pic>
      <p:sp>
        <p:nvSpPr>
          <p:cNvPr id="17" name="Text 289"/>
          <p:cNvSpPr txBox="1"/>
          <p:nvPr/>
        </p:nvSpPr>
        <p:spPr>
          <a:xfrm>
            <a:off x="5254600" y="4259534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</a:t>
            </a:r>
            <a:endParaRPr lang="en-US" sz="1500" dirty="0"/>
          </a:p>
        </p:txBody>
      </p:sp>
      <p:pic>
        <p:nvPicPr>
          <p:cNvPr id="18" name="Icon FaComments 290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5960" y="4757374"/>
            <a:ext cx="384048" cy="384048"/>
          </a:xfrm>
          <a:prstGeom prst="rect">
            <a:avLst/>
          </a:prstGeom>
        </p:spPr>
      </p:pic>
      <p:sp>
        <p:nvSpPr>
          <p:cNvPr id="19" name="Text 291"/>
          <p:cNvSpPr txBox="1"/>
          <p:nvPr/>
        </p:nvSpPr>
        <p:spPr>
          <a:xfrm>
            <a:off x="5254600" y="4761253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Testimonios</a:t>
            </a:r>
            <a:endParaRPr lang="en-US" sz="1500" dirty="0"/>
          </a:p>
        </p:txBody>
      </p:sp>
      <p:pic>
        <p:nvPicPr>
          <p:cNvPr id="20" name="Icon FaPuzzlePiece 292" descr="PuzzlePiec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5960" y="5259093"/>
            <a:ext cx="384048" cy="384048"/>
          </a:xfrm>
          <a:prstGeom prst="rect">
            <a:avLst/>
          </a:prstGeom>
        </p:spPr>
      </p:pic>
      <p:sp>
        <p:nvSpPr>
          <p:cNvPr id="21" name="Text 293"/>
          <p:cNvSpPr txBox="1"/>
          <p:nvPr/>
        </p:nvSpPr>
        <p:spPr>
          <a:xfrm>
            <a:off x="5254600" y="5262972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Retos</a:t>
            </a:r>
            <a:endParaRPr lang="en-US" sz="1500" dirty="0"/>
          </a:p>
        </p:txBody>
      </p:sp>
      <p:pic>
        <p:nvPicPr>
          <p:cNvPr id="22" name="Icon FaStar 294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5960" y="5760812"/>
            <a:ext cx="384048" cy="384048"/>
          </a:xfrm>
          <a:prstGeom prst="rect">
            <a:avLst/>
          </a:prstGeom>
        </p:spPr>
      </p:pic>
      <p:sp>
        <p:nvSpPr>
          <p:cNvPr id="23" name="Text 295"/>
          <p:cNvSpPr txBox="1"/>
          <p:nvPr/>
        </p:nvSpPr>
        <p:spPr>
          <a:xfrm>
            <a:off x="5254600" y="5764692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1500" dirty="0"/>
          </a:p>
        </p:txBody>
      </p:sp>
      <p:pic>
        <p:nvPicPr>
          <p:cNvPr id="24" name="Icon FaChevronRight 296" descr="ChevronRigh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0459" y="4246511"/>
            <a:ext cx="402336" cy="402336"/>
          </a:xfrm>
          <a:prstGeom prst="rect">
            <a:avLst/>
          </a:prstGeom>
        </p:spPr>
      </p:pic>
      <p:pic>
        <p:nvPicPr>
          <p:cNvPr id="25" name="Card 29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1759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6" name="Icon FaHeart 298" descr="Hear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1799" y="2764905"/>
            <a:ext cx="731520" cy="731520"/>
          </a:xfrm>
          <a:prstGeom prst="rect">
            <a:avLst/>
          </a:prstGeom>
        </p:spPr>
      </p:pic>
      <p:sp>
        <p:nvSpPr>
          <p:cNvPr id="27" name="Text 299"/>
          <p:cNvSpPr txBox="1"/>
          <p:nvPr/>
        </p:nvSpPr>
        <p:spPr>
          <a:xfrm>
            <a:off x="9366199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Después:</a:t>
            </a:r>
            <a:endParaRPr lang="en-US" sz="2200" dirty="0"/>
          </a:p>
        </p:txBody>
      </p:sp>
      <p:sp>
        <p:nvSpPr>
          <p:cNvPr id="28" name="Text 300"/>
          <p:cNvSpPr txBox="1"/>
          <p:nvPr/>
        </p:nvSpPr>
        <p:spPr>
          <a:xfrm>
            <a:off x="8451799" y="3802611"/>
            <a:ext cx="2871216" cy="2329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“Gracias Preparatoria invitada”.</a:t>
            </a:r>
            <a:endParaRPr lang="en-US" sz="21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5" grpId="0" animBg="1"/>
      <p:bldP spid="17" grpId="0" animBg="1"/>
      <p:bldP spid="19" grpId="0" animBg="1"/>
      <p:bldP spid="21" grpId="0" animBg="1"/>
      <p:bldP spid="23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30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Piloto</a:t>
            </a:r>
            <a:endParaRPr lang="en-US" sz="3000" dirty="0"/>
          </a:p>
        </p:txBody>
      </p:sp>
      <p:sp>
        <p:nvSpPr>
          <p:cNvPr id="5" name="Subtitle 30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Preparatoria IPEFH</a:t>
            </a:r>
            <a:endParaRPr lang="en-US" sz="1600" dirty="0"/>
          </a:p>
        </p:txBody>
      </p:sp>
      <p:pic>
        <p:nvPicPr>
          <p:cNvPr id="6" name="Card 30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5396332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CalendarDays 304" descr="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4444"/>
            <a:ext cx="777240" cy="777240"/>
          </a:xfrm>
          <a:prstGeom prst="rect">
            <a:avLst/>
          </a:prstGeom>
        </p:spPr>
      </p:pic>
      <p:sp>
        <p:nvSpPr>
          <p:cNvPr id="8" name="Text 305"/>
          <p:cNvSpPr txBox="1"/>
          <p:nvPr/>
        </p:nvSpPr>
        <p:spPr>
          <a:xfrm>
            <a:off x="1874520" y="2772295"/>
            <a:ext cx="3841852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FECHA DE VISITA:</a:t>
            </a:r>
            <a:endParaRPr lang="en-US" sz="1300" dirty="0"/>
          </a:p>
        </p:txBody>
      </p:sp>
      <p:sp>
        <p:nvSpPr>
          <p:cNvPr id="9" name="Text 306"/>
          <p:cNvSpPr txBox="1"/>
          <p:nvPr/>
        </p:nvSpPr>
        <p:spPr>
          <a:xfrm>
            <a:off x="1874520" y="3112747"/>
            <a:ext cx="3841852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Miércoles 14 de octubre:</a:t>
            </a:r>
            <a:endParaRPr lang="en-US" sz="2200" dirty="0"/>
          </a:p>
        </p:txBody>
      </p:sp>
      <p:pic>
        <p:nvPicPr>
          <p:cNvPr id="10" name="Icon FaSchool 307" descr="Scho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87124"/>
            <a:ext cx="502920" cy="502920"/>
          </a:xfrm>
          <a:prstGeom prst="rect">
            <a:avLst/>
          </a:prstGeom>
        </p:spPr>
      </p:pic>
      <p:sp>
        <p:nvSpPr>
          <p:cNvPr id="11" name="Text 308"/>
          <p:cNvSpPr txBox="1"/>
          <p:nvPr/>
        </p:nvSpPr>
        <p:spPr>
          <a:xfrm>
            <a:off x="1600200" y="3847407"/>
            <a:ext cx="4116172" cy="582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Planteles Aeropuerto y Calimaya</a:t>
            </a:r>
            <a:endParaRPr lang="en-US" sz="1700" dirty="0"/>
          </a:p>
        </p:txBody>
      </p:sp>
      <p:sp>
        <p:nvSpPr>
          <p:cNvPr id="12" name="Text 309"/>
          <p:cNvSpPr txBox="1"/>
          <p:nvPr/>
        </p:nvSpPr>
        <p:spPr>
          <a:xfrm>
            <a:off x="914400" y="4698538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alumnos:</a:t>
            </a:r>
            <a:endParaRPr lang="en-US" sz="1500" dirty="0"/>
          </a:p>
        </p:txBody>
      </p:sp>
      <p:sp>
        <p:nvSpPr>
          <p:cNvPr id="13" name="Field line 310"/>
          <p:cNvSpPr/>
          <p:nvPr/>
        </p:nvSpPr>
        <p:spPr>
          <a:xfrm>
            <a:off x="3749040" y="5128583"/>
            <a:ext cx="1784452" cy="0"/>
          </a:xfrm>
          <a:prstGeom prst="line">
            <a:avLst/>
          </a:prstGeom>
          <a:noFill/>
          <a:ln w="15875">
            <a:solidFill>
              <a:srgbClr val="8FB3D9"/>
            </a:solidFill>
            <a:prstDash val="dash"/>
          </a:ln>
        </p:spPr>
      </p:sp>
      <p:pic>
        <p:nvPicPr>
          <p:cNvPr id="14" name="Card 3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724" y="2503516"/>
            <a:ext cx="5396332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CalendarDays 312" descr="CalendarDay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484" y="2764444"/>
            <a:ext cx="777240" cy="777240"/>
          </a:xfrm>
          <a:prstGeom prst="rect">
            <a:avLst/>
          </a:prstGeom>
        </p:spPr>
      </p:pic>
      <p:sp>
        <p:nvSpPr>
          <p:cNvPr id="16" name="Text 313"/>
          <p:cNvSpPr txBox="1"/>
          <p:nvPr/>
        </p:nvSpPr>
        <p:spPr>
          <a:xfrm>
            <a:off x="7572604" y="2772295"/>
            <a:ext cx="3841852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Segunda visita:</a:t>
            </a:r>
            <a:endParaRPr lang="en-US" sz="1300" dirty="0"/>
          </a:p>
        </p:txBody>
      </p:sp>
      <p:sp>
        <p:nvSpPr>
          <p:cNvPr id="17" name="Text 314"/>
          <p:cNvSpPr txBox="1"/>
          <p:nvPr/>
        </p:nvSpPr>
        <p:spPr>
          <a:xfrm>
            <a:off x="7572604" y="3112747"/>
            <a:ext cx="3841852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Viernes 16 de octubre:</a:t>
            </a:r>
            <a:endParaRPr lang="en-US" sz="2200" dirty="0"/>
          </a:p>
        </p:txBody>
      </p:sp>
      <p:pic>
        <p:nvPicPr>
          <p:cNvPr id="18" name="Icon FaSchool 315" descr="Scho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3887124"/>
            <a:ext cx="502920" cy="502920"/>
          </a:xfrm>
          <a:prstGeom prst="rect">
            <a:avLst/>
          </a:prstGeom>
        </p:spPr>
      </p:pic>
      <p:sp>
        <p:nvSpPr>
          <p:cNvPr id="19" name="Text 316"/>
          <p:cNvSpPr txBox="1"/>
          <p:nvPr/>
        </p:nvSpPr>
        <p:spPr>
          <a:xfrm>
            <a:off x="7298284" y="3847407"/>
            <a:ext cx="4116172" cy="582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Plantel Toluca</a:t>
            </a:r>
            <a:endParaRPr lang="en-US" sz="1700" dirty="0"/>
          </a:p>
        </p:txBody>
      </p:sp>
      <p:sp>
        <p:nvSpPr>
          <p:cNvPr id="20" name="Text 317"/>
          <p:cNvSpPr txBox="1"/>
          <p:nvPr/>
        </p:nvSpPr>
        <p:spPr>
          <a:xfrm>
            <a:off x="6612484" y="4698538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alumnos:</a:t>
            </a:r>
            <a:endParaRPr lang="en-US" sz="1500" dirty="0"/>
          </a:p>
        </p:txBody>
      </p:sp>
      <p:sp>
        <p:nvSpPr>
          <p:cNvPr id="21" name="Field line 318"/>
          <p:cNvSpPr/>
          <p:nvPr/>
        </p:nvSpPr>
        <p:spPr>
          <a:xfrm>
            <a:off x="9447124" y="5128583"/>
            <a:ext cx="1784452" cy="0"/>
          </a:xfrm>
          <a:prstGeom prst="line">
            <a:avLst/>
          </a:prstGeom>
          <a:noFill/>
          <a:ln w="15875">
            <a:solidFill>
              <a:srgbClr val="B8C7D9"/>
            </a:solidFill>
            <a:prstDash val="dash"/>
          </a:ln>
        </p:spPr>
      </p:sp>
      <p:sp>
        <p:nvSpPr>
          <p:cNvPr id="22" name="Text 319"/>
          <p:cNvSpPr txBox="1"/>
          <p:nvPr/>
        </p:nvSpPr>
        <p:spPr>
          <a:xfrm>
            <a:off x="6612484" y="5460076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administrativos.</a:t>
            </a:r>
            <a:endParaRPr lang="en-US" sz="1500" dirty="0"/>
          </a:p>
        </p:txBody>
      </p:sp>
      <p:sp>
        <p:nvSpPr>
          <p:cNvPr id="23" name="Field line 320"/>
          <p:cNvSpPr/>
          <p:nvPr/>
        </p:nvSpPr>
        <p:spPr>
          <a:xfrm>
            <a:off x="9447124" y="5890121"/>
            <a:ext cx="1784452" cy="0"/>
          </a:xfrm>
          <a:prstGeom prst="line">
            <a:avLst/>
          </a:prstGeom>
          <a:noFill/>
          <a:ln w="15875">
            <a:solidFill>
              <a:srgbClr val="B8C7D9"/>
            </a:solidFill>
            <a:prstDash val="dash"/>
          </a:ln>
        </p:spPr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32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32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2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losing headline 324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7" name="Closing line 1 325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360°</a:t>
            </a:r>
            <a:endParaRPr lang="en-US" sz="2000" dirty="0"/>
          </a:p>
        </p:txBody>
      </p:sp>
      <p:sp>
        <p:nvSpPr>
          <p:cNvPr id="8" name="Closing line 2 326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 de preparatorias</a:t>
            </a:r>
            <a:endParaRPr lang="en-US" sz="1700" dirty="0"/>
          </a:p>
        </p:txBody>
      </p:sp>
      <p:sp>
        <p:nvSpPr>
          <p:cNvPr id="9" name="Handle 327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Westhill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Office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Westhill 360° · Visita de preparatorias</dc:title>
  <dc:subject>PptxGenJS Presentation</dc:subject>
  <dc:creator>Universidad Westhill</dc:creator>
  <cp:lastModifiedBy>Universidad Westhill</cp:lastModifiedBy>
  <cp:revision>1</cp:revision>
  <dcterms:created xsi:type="dcterms:W3CDTF">2026-10-08T17:38:30Z</dcterms:created>
  <dcterms:modified xsi:type="dcterms:W3CDTF">2026-10-08T17:38:30Z</dcterms:modified>
</cp:coreProperties>
</file>
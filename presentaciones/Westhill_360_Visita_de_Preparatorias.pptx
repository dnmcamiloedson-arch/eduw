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3f6a4d71-c9ac-0678-69d8-50e92906259e}">
          <p14:sldIdLst>
            <p14:sldId id="256"/>
          </p14:sldIdLst>
        </p14:section>
        <p14:section name="La propuesta" id="{e5e7eaed-e479-611a-3236-e1fdc3c37cc0}">
          <p14:sldIdLst>
            <p14:sldId id="257"/>
            <p14:sldId id="258"/>
            <p14:sldId id="259"/>
            <p14:sldId id="260"/>
            <p14:sldId id="261"/>
          </p14:sldIdLst>
        </p14:section>
        <p14:section name="El formato" id="{038f10f6-39ac-3cf2-e19d-4bf6d42b0cb0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ados" id="{5966c95b-eb3e-eb5a-6795-15598fde2dcf}">
          <p14:sldIdLst>
            <p14:sldId id="268"/>
            <p14:sldId id="269"/>
            <p14:sldId id="270"/>
            <p14:sldId id="271"/>
            <p14:sldId id="272"/>
          </p14:sldIdLst>
        </p14:section>
        <p14:section name="Cierre" id="{222d6142-fa26-954b-dd28-ce5a62804032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943" y="-36576"/>
            <a:ext cx="896112" cy="10762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51215" y="6510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sthill Int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over title 4"/>
          <p:cNvSpPr txBox="1"/>
          <p:nvPr/>
        </p:nvSpPr>
        <p:spPr>
          <a:xfrm>
            <a:off x="411480" y="23774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 DE PREPARATORIAS</a:t>
            </a:r>
            <a:endParaRPr lang="en-US" sz="3800" dirty="0"/>
          </a:p>
        </p:txBody>
      </p:sp>
      <p:sp>
        <p:nvSpPr>
          <p:cNvPr id="6" name="Cover date 5"/>
          <p:cNvSpPr txBox="1"/>
          <p:nvPr/>
        </p:nvSpPr>
        <p:spPr>
          <a:xfrm>
            <a:off x="41148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AGOSTO 2027</a:t>
            </a:r>
            <a:endParaRPr lang="en-US" sz="2600" dirty="0"/>
          </a:p>
        </p:txBody>
      </p:sp>
      <p:sp>
        <p:nvSpPr>
          <p:cNvPr id="7" name="Cover program 6"/>
          <p:cNvSpPr txBox="1"/>
          <p:nvPr/>
        </p:nvSpPr>
        <p:spPr>
          <a:xfrm>
            <a:off x="411480" y="4434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 360°</a:t>
            </a:r>
            <a:endParaRPr lang="en-US" sz="3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7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9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10"/>
          <p:cNvSpPr txBox="1"/>
          <p:nvPr/>
        </p:nvSpPr>
        <p:spPr>
          <a:xfrm>
            <a:off x="41148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Section kicker 11"/>
          <p:cNvSpPr txBox="1"/>
          <p:nvPr/>
        </p:nvSpPr>
        <p:spPr>
          <a:xfrm>
            <a:off x="41148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12"/>
          <p:cNvSpPr txBox="1"/>
          <p:nvPr/>
        </p:nvSpPr>
        <p:spPr>
          <a:xfrm>
            <a:off x="411480" y="3502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3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sí recibir escuelas?</a:t>
            </a:r>
            <a:endParaRPr lang="en-US" sz="3000" dirty="0"/>
          </a:p>
        </p:txBody>
      </p:sp>
      <p:sp>
        <p:nvSpPr>
          <p:cNvPr id="4" name="Text 14"/>
          <p:cNvSpPr txBox="1"/>
          <p:nvPr/>
        </p:nvSpPr>
        <p:spPr>
          <a:xfrm>
            <a:off x="548640" y="1965960"/>
            <a:ext cx="11094415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Porque tenemos la oportunidad de llevar el proceso de decisión al lugar donde Westhill puede mostrar su mayor fortaleza:</a:t>
            </a:r>
            <a:endParaRPr lang="en-US" sz="1600" dirty="0"/>
          </a:p>
        </p:txBody>
      </p:sp>
      <p:pic>
        <p:nvPicPr>
          <p:cNvPr id="5" name="Card 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93109"/>
            <a:ext cx="4114800" cy="15678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MobileScreen 16" descr="Mobile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11087"/>
            <a:ext cx="594360" cy="594360"/>
          </a:xfrm>
          <a:prstGeom prst="rect">
            <a:avLst/>
          </a:prstGeom>
        </p:spPr>
      </p:pic>
      <p:sp>
        <p:nvSpPr>
          <p:cNvPr id="7" name="Text 17"/>
          <p:cNvSpPr txBox="1"/>
          <p:nvPr/>
        </p:nvSpPr>
        <p:spPr>
          <a:xfrm>
            <a:off x="1600200" y="2727498"/>
            <a:ext cx="2880360" cy="1299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alumno puede ver una publicación, recibir un mensaje y visitar una feria.</a:t>
            </a:r>
            <a:endParaRPr lang="en-US" sz="1400" dirty="0"/>
          </a:p>
        </p:txBody>
      </p:sp>
      <p:pic>
        <p:nvPicPr>
          <p:cNvPr id="8" name="Card 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93109"/>
            <a:ext cx="6751015" cy="156787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9" name="Icon FaBuildingColumns 19" descr="BuildingColum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811087"/>
            <a:ext cx="594360" cy="594360"/>
          </a:xfrm>
          <a:prstGeom prst="rect">
            <a:avLst/>
          </a:prstGeom>
        </p:spPr>
      </p:pic>
      <p:sp>
        <p:nvSpPr>
          <p:cNvPr id="10" name="Text 20"/>
          <p:cNvSpPr txBox="1"/>
          <p:nvPr/>
        </p:nvSpPr>
        <p:spPr>
          <a:xfrm>
            <a:off x="5943600" y="2682702"/>
            <a:ext cx="5516575" cy="138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Pero cuando entra a Westhill, experimenta una carrera, convive con directores, maestros y alumnos el beneficio es que se convierte en una posibilidad real creando más seguridad en su elección.</a:t>
            </a:r>
            <a:endParaRPr lang="en-US" sz="1400" dirty="0"/>
          </a:p>
        </p:txBody>
      </p:sp>
      <p:pic>
        <p:nvPicPr>
          <p:cNvPr id="11" name="Card 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40167"/>
            <a:ext cx="11094415" cy="895927"/>
          </a:xfrm>
          <a:prstGeom prst="rect">
            <a:avLst/>
          </a:prstGeom>
        </p:spPr>
      </p:pic>
      <p:pic>
        <p:nvPicPr>
          <p:cNvPr id="12" name="Icon FaQuoteLeft 22" descr="QuoteLef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513811"/>
            <a:ext cx="548640" cy="548640"/>
          </a:xfrm>
          <a:prstGeom prst="rect">
            <a:avLst/>
          </a:prstGeom>
        </p:spPr>
      </p:pic>
      <p:sp>
        <p:nvSpPr>
          <p:cNvPr id="13" name="Text 23"/>
          <p:cNvSpPr txBox="1"/>
          <p:nvPr/>
        </p:nvSpPr>
        <p:spPr>
          <a:xfrm>
            <a:off x="1554480" y="4384964"/>
            <a:ext cx="9905695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resultado de estas visitas es que los alumnos salgan pensando: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“Aquí quiero estudiar”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además, que el colegio quiera repetir la experiencia.</a:t>
            </a:r>
            <a:endParaRPr lang="en-US" sz="1500" dirty="0"/>
          </a:p>
        </p:txBody>
      </p:sp>
      <p:pic>
        <p:nvPicPr>
          <p:cNvPr id="14" name="Card 2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15280"/>
            <a:ext cx="11094415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5" name="Icon FaLightbulb 25" descr="Lightbul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588924"/>
            <a:ext cx="548640" cy="548640"/>
          </a:xfrm>
          <a:prstGeom prst="rect">
            <a:avLst/>
          </a:prstGeom>
        </p:spPr>
      </p:pic>
      <p:sp>
        <p:nvSpPr>
          <p:cNvPr id="16" name="Text 26"/>
          <p:cNvSpPr txBox="1"/>
          <p:nvPr/>
        </p:nvSpPr>
        <p:spPr>
          <a:xfrm>
            <a:off x="1554480" y="5460076"/>
            <a:ext cx="9905695" cy="89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concreta de admisiones es crear una experiencia que conecte al alumno con su vocación, con nuestros directores, maestros, alumnos y vivan el ambiente real de Westhill.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7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360°</a:t>
            </a:r>
            <a:endParaRPr lang="en-US" sz="3000" dirty="0"/>
          </a:p>
        </p:txBody>
      </p:sp>
      <p:sp>
        <p:nvSpPr>
          <p:cNvPr id="4" name="Text 28"/>
          <p:cNvSpPr txBox="1"/>
          <p:nvPr/>
        </p:nvSpPr>
        <p:spPr>
          <a:xfrm>
            <a:off x="548640" y="1965960"/>
            <a:ext cx="11094415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“Tu futuro empieza cuando lo experimentas”.</a:t>
            </a:r>
            <a:endParaRPr lang="en-US" sz="2400" dirty="0"/>
          </a:p>
        </p:txBody>
      </p:sp>
      <p:sp>
        <p:nvSpPr>
          <p:cNvPr id="5" name="Text 29"/>
          <p:cNvSpPr txBox="1"/>
          <p:nvPr/>
        </p:nvSpPr>
        <p:spPr>
          <a:xfrm>
            <a:off x="548640" y="2485598"/>
            <a:ext cx="11094415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Propuesta de admisiones para transformar las visitas escolares en estrategia de captación y conversión.</a:t>
            </a:r>
            <a:endParaRPr lang="en-US" sz="1500" dirty="0"/>
          </a:p>
        </p:txBody>
      </p:sp>
      <p:pic>
        <p:nvPicPr>
          <p:cNvPr id="6" name="Card 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96276"/>
            <a:ext cx="4069080" cy="340452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7" name="Watermark FaBullseye 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4864331"/>
            <a:ext cx="1325880" cy="1325880"/>
          </a:xfrm>
          <a:prstGeom prst="rect">
            <a:avLst/>
          </a:prstGeom>
        </p:spPr>
      </p:pic>
      <p:pic>
        <p:nvPicPr>
          <p:cNvPr id="8" name="Icon FaBullseye 32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58127"/>
            <a:ext cx="685800" cy="685800"/>
          </a:xfrm>
          <a:prstGeom prst="rect">
            <a:avLst/>
          </a:prstGeom>
        </p:spPr>
      </p:pic>
      <p:sp>
        <p:nvSpPr>
          <p:cNvPr id="9" name="Text 33"/>
          <p:cNvSpPr txBox="1"/>
          <p:nvPr/>
        </p:nvSpPr>
        <p:spPr>
          <a:xfrm>
            <a:off x="1737360" y="3265055"/>
            <a:ext cx="2651760" cy="671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OBJETIVO:</a:t>
            </a:r>
            <a:endParaRPr lang="en-US" sz="1600" dirty="0"/>
          </a:p>
        </p:txBody>
      </p:sp>
      <p:sp>
        <p:nvSpPr>
          <p:cNvPr id="10" name="Text 34"/>
          <p:cNvSpPr txBox="1"/>
          <p:nvPr/>
        </p:nvSpPr>
        <p:spPr>
          <a:xfrm>
            <a:off x="868680" y="4116185"/>
            <a:ext cx="3474720" cy="1254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Generar una conexión emocional alumno-Universidad Westhill que permita:</a:t>
            </a:r>
            <a:endParaRPr lang="en-US" sz="1700" dirty="0"/>
          </a:p>
        </p:txBody>
      </p:sp>
      <p:pic>
        <p:nvPicPr>
          <p:cNvPr id="11" name="Card 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6276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2" name="Icon FaLightbulb 36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214716"/>
            <a:ext cx="548640" cy="548640"/>
          </a:xfrm>
          <a:prstGeom prst="rect">
            <a:avLst/>
          </a:prstGeom>
        </p:spPr>
      </p:pic>
      <p:sp>
        <p:nvSpPr>
          <p:cNvPr id="13" name="Text 37"/>
          <p:cNvSpPr txBox="1"/>
          <p:nvPr/>
        </p:nvSpPr>
        <p:spPr>
          <a:xfrm>
            <a:off x="5742432" y="3067951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Despertar vocaciones.</a:t>
            </a:r>
            <a:endParaRPr lang="en-US" sz="1400" dirty="0"/>
          </a:p>
        </p:txBody>
      </p:sp>
      <p:pic>
        <p:nvPicPr>
          <p:cNvPr id="14" name="Card 3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988" y="2996276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5" name="Icon FaChalkboardUser 39" descr="ChalkboardUs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156" y="3214716"/>
            <a:ext cx="548640" cy="548640"/>
          </a:xfrm>
          <a:prstGeom prst="rect">
            <a:avLst/>
          </a:prstGeom>
        </p:spPr>
      </p:pic>
      <p:sp>
        <p:nvSpPr>
          <p:cNvPr id="16" name="Text 40"/>
          <p:cNvSpPr txBox="1"/>
          <p:nvPr/>
        </p:nvSpPr>
        <p:spPr>
          <a:xfrm>
            <a:off x="9255100" y="3067951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Presentar las licenciaturas de manera práctica.</a:t>
            </a:r>
            <a:endParaRPr lang="en-US" sz="1400" dirty="0"/>
          </a:p>
        </p:txBody>
      </p:sp>
      <p:pic>
        <p:nvPicPr>
          <p:cNvPr id="17" name="Card 4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205778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8" name="Icon FaBuildingColumns 42" descr="BuildingColum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4424218"/>
            <a:ext cx="548640" cy="548640"/>
          </a:xfrm>
          <a:prstGeom prst="rect">
            <a:avLst/>
          </a:prstGeom>
        </p:spPr>
      </p:pic>
      <p:sp>
        <p:nvSpPr>
          <p:cNvPr id="19" name="Text 43"/>
          <p:cNvSpPr txBox="1"/>
          <p:nvPr/>
        </p:nvSpPr>
        <p:spPr>
          <a:xfrm>
            <a:off x="5742432" y="4277452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Vivir el ambiente universitario.</a:t>
            </a:r>
            <a:endParaRPr lang="en-US" sz="1400" dirty="0"/>
          </a:p>
        </p:txBody>
      </p:sp>
      <p:pic>
        <p:nvPicPr>
          <p:cNvPr id="20" name="Card 4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8988" y="4205778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1" name="Icon FaPeopleGroup 45" descr="PeopleGroup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0156" y="4424218"/>
            <a:ext cx="548640" cy="548640"/>
          </a:xfrm>
          <a:prstGeom prst="rect">
            <a:avLst/>
          </a:prstGeom>
        </p:spPr>
      </p:pic>
      <p:sp>
        <p:nvSpPr>
          <p:cNvPr id="22" name="Text 46"/>
          <p:cNvSpPr txBox="1"/>
          <p:nvPr/>
        </p:nvSpPr>
        <p:spPr>
          <a:xfrm>
            <a:off x="9255100" y="4277452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Convivir con Directores, profesores y alumnos.</a:t>
            </a:r>
            <a:endParaRPr lang="en-US" sz="1400" dirty="0"/>
          </a:p>
        </p:txBody>
      </p:sp>
      <p:pic>
        <p:nvPicPr>
          <p:cNvPr id="23" name="Card 4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5415280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4" name="Icon FaUserCheck 48" descr="UserChec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7488" y="5633720"/>
            <a:ext cx="548640" cy="548640"/>
          </a:xfrm>
          <a:prstGeom prst="rect">
            <a:avLst/>
          </a:prstGeom>
        </p:spPr>
      </p:pic>
      <p:sp>
        <p:nvSpPr>
          <p:cNvPr id="25" name="Text 49"/>
          <p:cNvSpPr txBox="1"/>
          <p:nvPr/>
        </p:nvSpPr>
        <p:spPr>
          <a:xfrm>
            <a:off x="5742432" y="5486954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Generar prospectos calificados.</a:t>
            </a:r>
            <a:endParaRPr lang="en-US" sz="1400" dirty="0"/>
          </a:p>
        </p:txBody>
      </p:sp>
      <p:pic>
        <p:nvPicPr>
          <p:cNvPr id="26" name="Card 5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8988" y="5415280"/>
            <a:ext cx="3284068" cy="9855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7" name="Icon FaHeadset 51" descr="Headset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60156" y="5633720"/>
            <a:ext cx="548640" cy="548640"/>
          </a:xfrm>
          <a:prstGeom prst="rect">
            <a:avLst/>
          </a:prstGeom>
        </p:spPr>
      </p:pic>
      <p:sp>
        <p:nvSpPr>
          <p:cNvPr id="28" name="Text 52"/>
          <p:cNvSpPr txBox="1"/>
          <p:nvPr/>
        </p:nvSpPr>
        <p:spPr>
          <a:xfrm>
            <a:off x="9255100" y="5486954"/>
            <a:ext cx="2232508" cy="842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Dar seguimiento personalizado desde Admisiones.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53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la experiencia puede generar conversión?</a:t>
            </a:r>
            <a:endParaRPr lang="en-US" sz="3000" dirty="0"/>
          </a:p>
        </p:txBody>
      </p:sp>
      <p:sp>
        <p:nvSpPr>
          <p:cNvPr id="4" name="Subtitle 54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experiencia busca llevar al alumno por cuatro momentos:</a:t>
            </a:r>
            <a:endParaRPr lang="en-US" sz="1600" dirty="0"/>
          </a:p>
        </p:txBody>
      </p:sp>
      <p:pic>
        <p:nvPicPr>
          <p:cNvPr id="5" name="Card 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58720"/>
            <a:ext cx="2514600" cy="300135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6" name="Text 56"/>
          <p:cNvSpPr txBox="1"/>
          <p:nvPr/>
        </p:nvSpPr>
        <p:spPr>
          <a:xfrm>
            <a:off x="822960" y="2682702"/>
            <a:ext cx="1097280" cy="62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3600" dirty="0"/>
          </a:p>
        </p:txBody>
      </p:sp>
      <p:pic>
        <p:nvPicPr>
          <p:cNvPr id="7" name="Icon FaEye 57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657579"/>
            <a:ext cx="713232" cy="713232"/>
          </a:xfrm>
          <a:prstGeom prst="rect">
            <a:avLst/>
          </a:prstGeom>
        </p:spPr>
      </p:pic>
      <p:sp>
        <p:nvSpPr>
          <p:cNvPr id="8" name="Text 58"/>
          <p:cNvSpPr txBox="1"/>
          <p:nvPr/>
        </p:nvSpPr>
        <p:spPr>
          <a:xfrm>
            <a:off x="822960" y="3489036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CONOCE</a:t>
            </a:r>
            <a:endParaRPr lang="en-US" sz="1900" dirty="0"/>
          </a:p>
        </p:txBody>
      </p:sp>
      <p:sp>
        <p:nvSpPr>
          <p:cNvPr id="9" name="Text 59"/>
          <p:cNvSpPr txBox="1"/>
          <p:nvPr/>
        </p:nvSpPr>
        <p:spPr>
          <a:xfrm>
            <a:off x="822960" y="3937000"/>
            <a:ext cx="205740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Conoce la Universidad, sus espacios y su oferta académica.</a:t>
            </a:r>
            <a:endParaRPr lang="en-US" sz="1350" dirty="0"/>
          </a:p>
        </p:txBody>
      </p:sp>
      <p:pic>
        <p:nvPicPr>
          <p:cNvPr id="10" name="Icon FaChevronRight 60" descr="Chevron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41" y="3753751"/>
            <a:ext cx="402336" cy="402336"/>
          </a:xfrm>
          <a:prstGeom prst="rect">
            <a:avLst/>
          </a:prstGeom>
        </p:spPr>
      </p:pic>
      <p:pic>
        <p:nvPicPr>
          <p:cNvPr id="11" name="Card 6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578" y="2458720"/>
            <a:ext cx="2514600" cy="300135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2" name="Text 62"/>
          <p:cNvSpPr txBox="1"/>
          <p:nvPr/>
        </p:nvSpPr>
        <p:spPr>
          <a:xfrm>
            <a:off x="3682898" y="2682702"/>
            <a:ext cx="1097280" cy="62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3600" dirty="0"/>
          </a:p>
        </p:txBody>
      </p:sp>
      <p:pic>
        <p:nvPicPr>
          <p:cNvPr id="13" name="Icon FaHandPointer 63" descr="HandPoi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338" y="2657579"/>
            <a:ext cx="713232" cy="713232"/>
          </a:xfrm>
          <a:prstGeom prst="rect">
            <a:avLst/>
          </a:prstGeom>
        </p:spPr>
      </p:pic>
      <p:sp>
        <p:nvSpPr>
          <p:cNvPr id="14" name="Text 64"/>
          <p:cNvSpPr txBox="1"/>
          <p:nvPr/>
        </p:nvSpPr>
        <p:spPr>
          <a:xfrm>
            <a:off x="3682898" y="3489036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</a:t>
            </a:r>
            <a:endParaRPr lang="en-US" sz="1900" dirty="0"/>
          </a:p>
        </p:txBody>
      </p:sp>
      <p:sp>
        <p:nvSpPr>
          <p:cNvPr id="15" name="Text 65"/>
          <p:cNvSpPr txBox="1"/>
          <p:nvPr/>
        </p:nvSpPr>
        <p:spPr>
          <a:xfrm>
            <a:off x="3682898" y="3937000"/>
            <a:ext cx="205740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 en una actividad donde se convierte en el protagonista de la historia relacionada con la licenciatura de su interés.</a:t>
            </a:r>
            <a:endParaRPr lang="en-US" sz="1350" dirty="0"/>
          </a:p>
        </p:txBody>
      </p:sp>
      <p:pic>
        <p:nvPicPr>
          <p:cNvPr id="16" name="Icon FaChevronRight 66" descr="Chevron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680" y="3753751"/>
            <a:ext cx="402336" cy="402336"/>
          </a:xfrm>
          <a:prstGeom prst="rect">
            <a:avLst/>
          </a:prstGeom>
        </p:spPr>
      </p:pic>
      <p:pic>
        <p:nvPicPr>
          <p:cNvPr id="17" name="Card 6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517" y="2458720"/>
            <a:ext cx="2514600" cy="300135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8" name="Text 68"/>
          <p:cNvSpPr txBox="1"/>
          <p:nvPr/>
        </p:nvSpPr>
        <p:spPr>
          <a:xfrm>
            <a:off x="6542837" y="2682702"/>
            <a:ext cx="1097280" cy="62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3600" dirty="0"/>
          </a:p>
        </p:txBody>
      </p:sp>
      <p:pic>
        <p:nvPicPr>
          <p:cNvPr id="19" name="Icon FaMagnifyingGlass 69" descr="MagnifyingGla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7277" y="2657579"/>
            <a:ext cx="713232" cy="713232"/>
          </a:xfrm>
          <a:prstGeom prst="rect">
            <a:avLst/>
          </a:prstGeom>
        </p:spPr>
      </p:pic>
      <p:sp>
        <p:nvSpPr>
          <p:cNvPr id="20" name="Text 70"/>
          <p:cNvSpPr txBox="1"/>
          <p:nvPr/>
        </p:nvSpPr>
        <p:spPr>
          <a:xfrm>
            <a:off x="6542837" y="3489036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IDENTIFICA</a:t>
            </a:r>
            <a:endParaRPr lang="en-US" sz="1900" dirty="0"/>
          </a:p>
        </p:txBody>
      </p:sp>
      <p:sp>
        <p:nvSpPr>
          <p:cNvPr id="21" name="Text 71"/>
          <p:cNvSpPr txBox="1"/>
          <p:nvPr/>
        </p:nvSpPr>
        <p:spPr>
          <a:xfrm>
            <a:off x="6542837" y="3937000"/>
            <a:ext cx="205740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Descubre sus habilidades.</a:t>
            </a:r>
            <a:endParaRPr lang="en-US" sz="1350" dirty="0"/>
          </a:p>
        </p:txBody>
      </p:sp>
      <p:pic>
        <p:nvPicPr>
          <p:cNvPr id="22" name="Icon FaChevronRight 72" descr="ChevronRigh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4618" y="3753751"/>
            <a:ext cx="402336" cy="402336"/>
          </a:xfrm>
          <a:prstGeom prst="rect">
            <a:avLst/>
          </a:prstGeom>
        </p:spPr>
      </p:pic>
      <p:pic>
        <p:nvPicPr>
          <p:cNvPr id="23" name="Card 7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2458720"/>
            <a:ext cx="2514600" cy="3001356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24" name="Text 74"/>
          <p:cNvSpPr txBox="1"/>
          <p:nvPr/>
        </p:nvSpPr>
        <p:spPr>
          <a:xfrm>
            <a:off x="9402775" y="2682702"/>
            <a:ext cx="1097280" cy="62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endParaRPr lang="en-US" sz="3600" dirty="0"/>
          </a:p>
        </p:txBody>
      </p:sp>
      <p:pic>
        <p:nvPicPr>
          <p:cNvPr id="25" name="Icon FaFlagCheckered 75" descr="FlagCheckere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7215" y="2657579"/>
            <a:ext cx="713232" cy="713232"/>
          </a:xfrm>
          <a:prstGeom prst="rect">
            <a:avLst/>
          </a:prstGeom>
        </p:spPr>
      </p:pic>
      <p:sp>
        <p:nvSpPr>
          <p:cNvPr id="26" name="Text 76"/>
          <p:cNvSpPr txBox="1"/>
          <p:nvPr/>
        </p:nvSpPr>
        <p:spPr>
          <a:xfrm>
            <a:off x="9402775" y="3489036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DECIDE</a:t>
            </a:r>
            <a:endParaRPr lang="en-US" sz="1900" dirty="0"/>
          </a:p>
        </p:txBody>
      </p:sp>
      <p:sp>
        <p:nvSpPr>
          <p:cNvPr id="27" name="Text 77"/>
          <p:cNvSpPr txBox="1"/>
          <p:nvPr/>
        </p:nvSpPr>
        <p:spPr>
          <a:xfrm>
            <a:off x="9402775" y="3937000"/>
            <a:ext cx="2057400" cy="143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Obtiene mayor seguridad para continuar su proceso de admisiones.</a:t>
            </a:r>
            <a:endParaRPr lang="en-US" sz="1350" dirty="0"/>
          </a:p>
        </p:txBody>
      </p:sp>
      <p:pic>
        <p:nvPicPr>
          <p:cNvPr id="28" name="Card 7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5684058"/>
            <a:ext cx="11094415" cy="71674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29" name="Icon FaRocket 79" descr="Rocke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5786397"/>
            <a:ext cx="512064" cy="512064"/>
          </a:xfrm>
          <a:prstGeom prst="rect">
            <a:avLst/>
          </a:prstGeom>
        </p:spPr>
      </p:pic>
      <p:sp>
        <p:nvSpPr>
          <p:cNvPr id="30" name="Text 80"/>
          <p:cNvSpPr txBox="1"/>
          <p:nvPr/>
        </p:nvSpPr>
        <p:spPr>
          <a:xfrm>
            <a:off x="1508760" y="5684058"/>
            <a:ext cx="9905695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conversión comienza antes de hablar de inscripción.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4" grpId="0" animBg="1"/>
      <p:bldP spid="15" grpId="0" animBg="1"/>
      <p:bldP spid="18" grpId="0" animBg="1"/>
      <p:bldP spid="20" grpId="0" animBg="1"/>
      <p:bldP spid="21" grpId="0" animBg="1"/>
      <p:bldP spid="24" grpId="0" animBg="1"/>
      <p:bldP spid="26" grpId="0" animBg="1"/>
      <p:bldP spid="27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81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Inversión</a:t>
            </a:r>
            <a:endParaRPr lang="en-US" sz="3000" dirty="0"/>
          </a:p>
        </p:txBody>
      </p:sp>
      <p:sp>
        <p:nvSpPr>
          <p:cNvPr id="4" name="Subtitle 82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contempla tres grandes rubros:</a:t>
            </a:r>
            <a:endParaRPr lang="en-US" sz="1600" dirty="0"/>
          </a:p>
        </p:txBody>
      </p:sp>
      <p:pic>
        <p:nvPicPr>
          <p:cNvPr id="5" name="Card 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3516"/>
            <a:ext cx="3511296" cy="376289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Bus 84" descr="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07855"/>
            <a:ext cx="914400" cy="914400"/>
          </a:xfrm>
          <a:prstGeom prst="rect">
            <a:avLst/>
          </a:prstGeom>
        </p:spPr>
      </p:pic>
      <p:sp>
        <p:nvSpPr>
          <p:cNvPr id="7" name="Text 85"/>
          <p:cNvSpPr txBox="1"/>
          <p:nvPr/>
        </p:nvSpPr>
        <p:spPr>
          <a:xfrm>
            <a:off x="914400" y="3892204"/>
            <a:ext cx="137160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86"/>
          <p:cNvSpPr txBox="1"/>
          <p:nvPr/>
        </p:nvSpPr>
        <p:spPr>
          <a:xfrm>
            <a:off x="914400" y="4340167"/>
            <a:ext cx="277977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TRANSPORTE</a:t>
            </a:r>
            <a:endParaRPr lang="en-US" sz="2100" dirty="0"/>
          </a:p>
        </p:txBody>
      </p:sp>
      <p:sp>
        <p:nvSpPr>
          <p:cNvPr id="9" name="Text 87"/>
          <p:cNvSpPr txBox="1"/>
          <p:nvPr/>
        </p:nvSpPr>
        <p:spPr>
          <a:xfrm>
            <a:off x="914400" y="5056909"/>
            <a:ext cx="2779776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Facilitar la llegada de los alumnos y eliminar una barrera logística para las escuelas.</a:t>
            </a:r>
            <a:endParaRPr lang="en-US" sz="1500" dirty="0"/>
          </a:p>
        </p:txBody>
      </p:sp>
      <p:pic>
        <p:nvPicPr>
          <p:cNvPr id="10" name="Card 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200" y="2503516"/>
            <a:ext cx="3511296" cy="376289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1" name="Icon FaMugHot 89" descr="Mug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960" y="2807855"/>
            <a:ext cx="914400" cy="914400"/>
          </a:xfrm>
          <a:prstGeom prst="rect">
            <a:avLst/>
          </a:prstGeom>
        </p:spPr>
      </p:pic>
      <p:sp>
        <p:nvSpPr>
          <p:cNvPr id="12" name="Text 90"/>
          <p:cNvSpPr txBox="1"/>
          <p:nvPr/>
        </p:nvSpPr>
        <p:spPr>
          <a:xfrm>
            <a:off x="4705960" y="3892204"/>
            <a:ext cx="137160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1"/>
          <p:cNvSpPr txBox="1"/>
          <p:nvPr/>
        </p:nvSpPr>
        <p:spPr>
          <a:xfrm>
            <a:off x="4705960" y="4340167"/>
            <a:ext cx="277977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REFRIGERIO</a:t>
            </a:r>
            <a:endParaRPr lang="en-US" sz="2100" dirty="0"/>
          </a:p>
        </p:txBody>
      </p:sp>
      <p:sp>
        <p:nvSpPr>
          <p:cNvPr id="14" name="Text 92"/>
          <p:cNvSpPr txBox="1"/>
          <p:nvPr/>
        </p:nvSpPr>
        <p:spPr>
          <a:xfrm>
            <a:off x="4705960" y="5056909"/>
            <a:ext cx="2779776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Brindar una atención adecuada durante la experiencia.</a:t>
            </a:r>
            <a:endParaRPr lang="en-US" sz="1500" dirty="0"/>
          </a:p>
        </p:txBody>
      </p:sp>
      <p:pic>
        <p:nvPicPr>
          <p:cNvPr id="15" name="Card 9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759" y="2503516"/>
            <a:ext cx="3511296" cy="376289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6" name="Watermark FaFlask 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5735" y="2671156"/>
            <a:ext cx="1143000" cy="1143000"/>
          </a:xfrm>
          <a:prstGeom prst="rect">
            <a:avLst/>
          </a:prstGeom>
        </p:spPr>
      </p:pic>
      <p:pic>
        <p:nvPicPr>
          <p:cNvPr id="17" name="Icon FaFlask 95" descr="Flas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519" y="2807855"/>
            <a:ext cx="914400" cy="914400"/>
          </a:xfrm>
          <a:prstGeom prst="rect">
            <a:avLst/>
          </a:prstGeom>
        </p:spPr>
      </p:pic>
      <p:sp>
        <p:nvSpPr>
          <p:cNvPr id="18" name="Text 96"/>
          <p:cNvSpPr txBox="1"/>
          <p:nvPr/>
        </p:nvSpPr>
        <p:spPr>
          <a:xfrm>
            <a:off x="8497519" y="3892204"/>
            <a:ext cx="137160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97"/>
          <p:cNvSpPr txBox="1"/>
          <p:nvPr/>
        </p:nvSpPr>
        <p:spPr>
          <a:xfrm>
            <a:off x="8497519" y="4340167"/>
            <a:ext cx="277977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ACTIVIDADES ACADÉMICAS</a:t>
            </a:r>
            <a:endParaRPr lang="en-US" sz="2100" dirty="0"/>
          </a:p>
        </p:txBody>
      </p:sp>
      <p:sp>
        <p:nvSpPr>
          <p:cNvPr id="20" name="Text 98"/>
          <p:cNvSpPr txBox="1"/>
          <p:nvPr/>
        </p:nvSpPr>
        <p:spPr>
          <a:xfrm>
            <a:off x="8497519" y="5056909"/>
            <a:ext cx="2779776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Experiencias prácticas diseñadas por licenciaturas.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99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1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101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102"/>
          <p:cNvSpPr txBox="1"/>
          <p:nvPr/>
        </p:nvSpPr>
        <p:spPr>
          <a:xfrm>
            <a:off x="41148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8800" dirty="0"/>
          </a:p>
        </p:txBody>
      </p:sp>
      <p:sp>
        <p:nvSpPr>
          <p:cNvPr id="6" name="Section kicker 103"/>
          <p:cNvSpPr txBox="1"/>
          <p:nvPr/>
        </p:nvSpPr>
        <p:spPr>
          <a:xfrm>
            <a:off x="41148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104"/>
          <p:cNvSpPr txBox="1"/>
          <p:nvPr/>
        </p:nvSpPr>
        <p:spPr>
          <a:xfrm>
            <a:off x="411480" y="3502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formato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0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Formato</a:t>
            </a:r>
            <a:endParaRPr lang="en-US" sz="3000" dirty="0"/>
          </a:p>
        </p:txBody>
      </p:sp>
      <p:sp>
        <p:nvSpPr>
          <p:cNvPr id="4" name="Subtitle 106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una experiencia dinámica por licenciatura. La visita se dividirá en diferentes momentos:</a:t>
            </a:r>
            <a:endParaRPr lang="en-US" sz="1600" dirty="0"/>
          </a:p>
        </p:txBody>
      </p:sp>
      <p:pic>
        <p:nvPicPr>
          <p:cNvPr id="5" name="Card 1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58720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DoorOpen 108" descr="Door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6975"/>
            <a:ext cx="566928" cy="566928"/>
          </a:xfrm>
          <a:prstGeom prst="rect">
            <a:avLst/>
          </a:prstGeom>
        </p:spPr>
      </p:pic>
      <p:sp>
        <p:nvSpPr>
          <p:cNvPr id="7" name="Pill 109"/>
          <p:cNvSpPr txBox="1"/>
          <p:nvPr/>
        </p:nvSpPr>
        <p:spPr>
          <a:xfrm>
            <a:off x="2514600" y="2754376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110"/>
          <p:cNvSpPr txBox="1"/>
          <p:nvPr/>
        </p:nvSpPr>
        <p:spPr>
          <a:xfrm>
            <a:off x="777240" y="3336729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</a:t>
            </a:r>
            <a:endParaRPr lang="en-US" sz="1350" dirty="0"/>
          </a:p>
        </p:txBody>
      </p:sp>
      <p:sp>
        <p:nvSpPr>
          <p:cNvPr id="9" name="Text 111"/>
          <p:cNvSpPr txBox="1"/>
          <p:nvPr/>
        </p:nvSpPr>
        <p:spPr>
          <a:xfrm>
            <a:off x="777240" y="3757815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cargo de admisiones.</a:t>
            </a:r>
            <a:endParaRPr lang="en-US" sz="1200" dirty="0"/>
          </a:p>
        </p:txBody>
      </p:sp>
      <p:pic>
        <p:nvPicPr>
          <p:cNvPr id="10" name="Card 1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98" y="2458720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1" name="Icon FaPuzzlePiece 113" descr="PuzzlePie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698" y="2676975"/>
            <a:ext cx="566928" cy="566928"/>
          </a:xfrm>
          <a:prstGeom prst="rect">
            <a:avLst/>
          </a:prstGeom>
        </p:spPr>
      </p:pic>
      <p:sp>
        <p:nvSpPr>
          <p:cNvPr id="12" name="Pill 114"/>
          <p:cNvSpPr txBox="1"/>
          <p:nvPr/>
        </p:nvSpPr>
        <p:spPr>
          <a:xfrm>
            <a:off x="5344058" y="2754376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5"/>
          <p:cNvSpPr txBox="1"/>
          <p:nvPr/>
        </p:nvSpPr>
        <p:spPr>
          <a:xfrm>
            <a:off x="3606698" y="3336729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 POR LICENCIATURA</a:t>
            </a:r>
            <a:endParaRPr lang="en-US" sz="1350" dirty="0"/>
          </a:p>
        </p:txBody>
      </p:sp>
      <p:sp>
        <p:nvSpPr>
          <p:cNvPr id="14" name="Text 116"/>
          <p:cNvSpPr txBox="1"/>
          <p:nvPr/>
        </p:nvSpPr>
        <p:spPr>
          <a:xfrm>
            <a:off x="3606698" y="3757815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cargo de los Directores de cada Facultad.</a:t>
            </a:r>
            <a:endParaRPr lang="en-US" sz="1200" dirty="0"/>
          </a:p>
        </p:txBody>
      </p:sp>
      <p:pic>
        <p:nvPicPr>
          <p:cNvPr id="15" name="Card 1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57" y="2458720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6" name="Icon FaMugHot 118" descr="MugH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157" y="2676975"/>
            <a:ext cx="566928" cy="566928"/>
          </a:xfrm>
          <a:prstGeom prst="rect">
            <a:avLst/>
          </a:prstGeom>
        </p:spPr>
      </p:pic>
      <p:sp>
        <p:nvSpPr>
          <p:cNvPr id="17" name="Pill 119"/>
          <p:cNvSpPr txBox="1"/>
          <p:nvPr/>
        </p:nvSpPr>
        <p:spPr>
          <a:xfrm>
            <a:off x="8173517" y="2754376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20"/>
          <p:cNvSpPr txBox="1"/>
          <p:nvPr/>
        </p:nvSpPr>
        <p:spPr>
          <a:xfrm>
            <a:off x="6436157" y="3336729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REFRIGERIO</a:t>
            </a:r>
            <a:endParaRPr lang="en-US" sz="1350" dirty="0"/>
          </a:p>
        </p:txBody>
      </p:sp>
      <p:sp>
        <p:nvSpPr>
          <p:cNvPr id="19" name="Text 121"/>
          <p:cNvSpPr txBox="1"/>
          <p:nvPr/>
        </p:nvSpPr>
        <p:spPr>
          <a:xfrm>
            <a:off x="6436157" y="3757815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cargo de finanzas.</a:t>
            </a:r>
            <a:endParaRPr lang="en-US" sz="1200" dirty="0"/>
          </a:p>
        </p:txBody>
      </p:sp>
      <p:pic>
        <p:nvPicPr>
          <p:cNvPr id="20" name="Card 12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7015" y="2458720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1" name="Icon FaMicrophone 123" descr="Microph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5615" y="2676975"/>
            <a:ext cx="566928" cy="566928"/>
          </a:xfrm>
          <a:prstGeom prst="rect">
            <a:avLst/>
          </a:prstGeom>
        </p:spPr>
      </p:pic>
      <p:sp>
        <p:nvSpPr>
          <p:cNvPr id="22" name="Pill 124"/>
          <p:cNvSpPr txBox="1"/>
          <p:nvPr/>
        </p:nvSpPr>
        <p:spPr>
          <a:xfrm>
            <a:off x="11002975" y="2754376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25"/>
          <p:cNvSpPr txBox="1"/>
          <p:nvPr/>
        </p:nvSpPr>
        <p:spPr>
          <a:xfrm>
            <a:off x="9265615" y="3336729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PRESENTACIÓN DE LA UNIVERSIDAD</a:t>
            </a:r>
            <a:endParaRPr lang="en-US" sz="1350" dirty="0"/>
          </a:p>
        </p:txBody>
      </p:sp>
      <p:sp>
        <p:nvSpPr>
          <p:cNvPr id="24" name="Text 126"/>
          <p:cNvSpPr txBox="1"/>
          <p:nvPr/>
        </p:nvSpPr>
        <p:spPr>
          <a:xfrm>
            <a:off x="9265615" y="3757815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Propuesta entrevista con un alumno.</a:t>
            </a:r>
            <a:endParaRPr lang="en-US" sz="1200" dirty="0"/>
          </a:p>
        </p:txBody>
      </p:sp>
      <p:pic>
        <p:nvPicPr>
          <p:cNvPr id="25" name="Card 12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564149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6" name="Icon FaAward 128" descr="Awar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782404"/>
            <a:ext cx="566928" cy="566928"/>
          </a:xfrm>
          <a:prstGeom prst="rect">
            <a:avLst/>
          </a:prstGeom>
        </p:spPr>
      </p:pic>
      <p:sp>
        <p:nvSpPr>
          <p:cNvPr id="27" name="Pill 129"/>
          <p:cNvSpPr txBox="1"/>
          <p:nvPr/>
        </p:nvSpPr>
        <p:spPr>
          <a:xfrm>
            <a:off x="2514600" y="4859805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130"/>
          <p:cNvSpPr txBox="1"/>
          <p:nvPr/>
        </p:nvSpPr>
        <p:spPr>
          <a:xfrm>
            <a:off x="777240" y="5442158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PREMIACIÓN</a:t>
            </a:r>
            <a:endParaRPr lang="en-US" sz="1350" dirty="0"/>
          </a:p>
        </p:txBody>
      </p:sp>
      <p:sp>
        <p:nvSpPr>
          <p:cNvPr id="29" name="Text 131"/>
          <p:cNvSpPr txBox="1"/>
          <p:nvPr/>
        </p:nvSpPr>
        <p:spPr>
          <a:xfrm>
            <a:off x="777240" y="5863244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los alumnos destacados en las actividades.</a:t>
            </a:r>
            <a:endParaRPr lang="en-US" sz="1200" dirty="0"/>
          </a:p>
        </p:txBody>
      </p:sp>
      <p:pic>
        <p:nvPicPr>
          <p:cNvPr id="30" name="Card 13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098" y="4564149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31" name="Icon FaUserGraduate 133" descr="UserGraduat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6698" y="4782404"/>
            <a:ext cx="566928" cy="566928"/>
          </a:xfrm>
          <a:prstGeom prst="rect">
            <a:avLst/>
          </a:prstGeom>
        </p:spPr>
      </p:pic>
      <p:sp>
        <p:nvSpPr>
          <p:cNvPr id="32" name="Pill 134"/>
          <p:cNvSpPr txBox="1"/>
          <p:nvPr/>
        </p:nvSpPr>
        <p:spPr>
          <a:xfrm>
            <a:off x="5344058" y="4859805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135"/>
          <p:cNvSpPr txBox="1"/>
          <p:nvPr/>
        </p:nvSpPr>
        <p:spPr>
          <a:xfrm>
            <a:off x="3606698" y="5442158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 WESTHILL</a:t>
            </a:r>
            <a:endParaRPr lang="en-US" sz="1350" dirty="0"/>
          </a:p>
        </p:txBody>
      </p:sp>
      <p:sp>
        <p:nvSpPr>
          <p:cNvPr id="34" name="Text 136"/>
          <p:cNvSpPr txBox="1"/>
          <p:nvPr/>
        </p:nvSpPr>
        <p:spPr>
          <a:xfrm>
            <a:off x="3606698" y="5863244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Promover el programa Admisiones.</a:t>
            </a:r>
            <a:endParaRPr lang="en-US" sz="1200" dirty="0"/>
          </a:p>
        </p:txBody>
      </p:sp>
      <p:pic>
        <p:nvPicPr>
          <p:cNvPr id="35" name="Card 13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7557" y="4564149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36" name="Icon FaPersonWalking 138" descr="PersonWalki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6157" y="4782404"/>
            <a:ext cx="566928" cy="566928"/>
          </a:xfrm>
          <a:prstGeom prst="rect">
            <a:avLst/>
          </a:prstGeom>
        </p:spPr>
      </p:pic>
      <p:sp>
        <p:nvSpPr>
          <p:cNvPr id="37" name="Pill 139"/>
          <p:cNvSpPr txBox="1"/>
          <p:nvPr/>
        </p:nvSpPr>
        <p:spPr>
          <a:xfrm>
            <a:off x="8173517" y="4859805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140"/>
          <p:cNvSpPr txBox="1"/>
          <p:nvPr/>
        </p:nvSpPr>
        <p:spPr>
          <a:xfrm>
            <a:off x="6436157" y="5442158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RECORRIDO</a:t>
            </a:r>
            <a:endParaRPr lang="en-US" sz="1350" dirty="0"/>
          </a:p>
        </p:txBody>
      </p:sp>
      <p:sp>
        <p:nvSpPr>
          <p:cNvPr id="39" name="Text 141"/>
          <p:cNvSpPr txBox="1"/>
          <p:nvPr/>
        </p:nvSpPr>
        <p:spPr>
          <a:xfrm>
            <a:off x="6436157" y="5863244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cargo de admisiones.</a:t>
            </a:r>
            <a:endParaRPr lang="en-US" sz="1200" dirty="0"/>
          </a:p>
        </p:txBody>
      </p:sp>
      <p:pic>
        <p:nvPicPr>
          <p:cNvPr id="40" name="Card 14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7015" y="4564149"/>
            <a:ext cx="2606040" cy="183665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41" name="Icon FaCamera 143" descr="Camera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5615" y="4782404"/>
            <a:ext cx="566928" cy="566928"/>
          </a:xfrm>
          <a:prstGeom prst="rect">
            <a:avLst/>
          </a:prstGeom>
        </p:spPr>
      </p:pic>
      <p:sp>
        <p:nvSpPr>
          <p:cNvPr id="42" name="Pill 144"/>
          <p:cNvSpPr txBox="1"/>
          <p:nvPr/>
        </p:nvSpPr>
        <p:spPr>
          <a:xfrm>
            <a:off x="11002975" y="4859805"/>
            <a:ext cx="420624" cy="412127"/>
          </a:xfrm>
          <a:prstGeom prst="roundRect">
            <a:avLst>
              <a:gd name="adj" fmla="val 51031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145"/>
          <p:cNvSpPr txBox="1"/>
          <p:nvPr/>
        </p:nvSpPr>
        <p:spPr>
          <a:xfrm>
            <a:off x="9265615" y="5442158"/>
            <a:ext cx="224028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Y DESPEDIDA.</a:t>
            </a:r>
            <a:endParaRPr lang="en-US" sz="1350" dirty="0"/>
          </a:p>
        </p:txBody>
      </p:sp>
      <p:sp>
        <p:nvSpPr>
          <p:cNvPr id="44" name="Text 146"/>
          <p:cNvSpPr txBox="1"/>
          <p:nvPr/>
        </p:nvSpPr>
        <p:spPr>
          <a:xfrm>
            <a:off x="9265615" y="5863244"/>
            <a:ext cx="22402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área de admisiones. (Fotos y videos).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6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6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6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5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6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65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47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 por licenciatura</a:t>
            </a:r>
            <a:endParaRPr lang="en-US" sz="3000" dirty="0"/>
          </a:p>
        </p:txBody>
      </p:sp>
      <p:sp>
        <p:nvSpPr>
          <p:cNvPr id="4" name="Text 148"/>
          <p:cNvSpPr txBox="1"/>
          <p:nvPr/>
        </p:nvSpPr>
        <p:spPr>
          <a:xfrm>
            <a:off x="548640" y="2010756"/>
            <a:ext cx="7863840" cy="89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será la actividad central.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propuesta es que cada alumno experimente lo que significa estudiar la carrera de su elección.</a:t>
            </a:r>
            <a:endParaRPr lang="en-US" sz="1700" dirty="0"/>
          </a:p>
        </p:txBody>
      </p:sp>
      <p:pic>
        <p:nvPicPr>
          <p:cNvPr id="5" name="Card 1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965960"/>
            <a:ext cx="2864815" cy="107511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6" name="Icon FaStopwatch 150" descr="Stop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201764"/>
            <a:ext cx="603504" cy="603504"/>
          </a:xfrm>
          <a:prstGeom prst="rect">
            <a:avLst/>
          </a:prstGeom>
        </p:spPr>
      </p:pic>
      <p:sp>
        <p:nvSpPr>
          <p:cNvPr id="7" name="Text 151"/>
          <p:cNvSpPr txBox="1"/>
          <p:nvPr/>
        </p:nvSpPr>
        <p:spPr>
          <a:xfrm>
            <a:off x="9692640" y="2010756"/>
            <a:ext cx="1858975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Duración: </a:t>
            </a:r>
            <a:endParaRPr lang="en-US" sz="12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minutos</a:t>
            </a:r>
            <a:endParaRPr lang="en-US" sz="1200" dirty="0"/>
          </a:p>
        </p:txBody>
      </p:sp>
      <p:sp>
        <p:nvSpPr>
          <p:cNvPr id="8" name="Text 152"/>
          <p:cNvSpPr txBox="1"/>
          <p:nvPr/>
        </p:nvSpPr>
        <p:spPr>
          <a:xfrm>
            <a:off x="548640" y="3175462"/>
            <a:ext cx="7315200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general de las actividades:</a:t>
            </a:r>
            <a:endParaRPr lang="en-US" sz="1500" dirty="0"/>
          </a:p>
        </p:txBody>
      </p:sp>
      <p:pic>
        <p:nvPicPr>
          <p:cNvPr id="9" name="Card 1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23425"/>
            <a:ext cx="2514600" cy="277737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0" name="Icon FaBullseye 154" descr="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40480"/>
            <a:ext cx="685800" cy="685800"/>
          </a:xfrm>
          <a:prstGeom prst="rect">
            <a:avLst/>
          </a:prstGeom>
        </p:spPr>
      </p:pic>
      <p:sp>
        <p:nvSpPr>
          <p:cNvPr id="11" name="Text 155"/>
          <p:cNvSpPr txBox="1"/>
          <p:nvPr/>
        </p:nvSpPr>
        <p:spPr>
          <a:xfrm>
            <a:off x="822960" y="4653742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MISIÓN</a:t>
            </a:r>
            <a:endParaRPr lang="en-US" sz="1900" dirty="0"/>
          </a:p>
        </p:txBody>
      </p:sp>
      <p:sp>
        <p:nvSpPr>
          <p:cNvPr id="12" name="Text 156"/>
          <p:cNvSpPr txBox="1"/>
          <p:nvPr/>
        </p:nvSpPr>
        <p:spPr>
          <a:xfrm>
            <a:off x="822960" y="5101705"/>
            <a:ext cx="2057400" cy="120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problema o situación real relacionada con la profesión.</a:t>
            </a:r>
            <a:endParaRPr lang="en-US" sz="1350" dirty="0"/>
          </a:p>
        </p:txBody>
      </p:sp>
      <p:pic>
        <p:nvPicPr>
          <p:cNvPr id="13" name="Icon FaChevronRight 157" descr="Chevron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4741" y="4810945"/>
            <a:ext cx="402336" cy="402336"/>
          </a:xfrm>
          <a:prstGeom prst="rect">
            <a:avLst/>
          </a:prstGeom>
        </p:spPr>
      </p:pic>
      <p:pic>
        <p:nvPicPr>
          <p:cNvPr id="14" name="Card 15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3623425"/>
            <a:ext cx="2514600" cy="277737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5" name="Icon FaPuzzlePiece 159" descr="PuzzlePie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2898" y="3840480"/>
            <a:ext cx="685800" cy="685800"/>
          </a:xfrm>
          <a:prstGeom prst="rect">
            <a:avLst/>
          </a:prstGeom>
        </p:spPr>
      </p:pic>
      <p:sp>
        <p:nvSpPr>
          <p:cNvPr id="16" name="Text 160"/>
          <p:cNvSpPr txBox="1"/>
          <p:nvPr/>
        </p:nvSpPr>
        <p:spPr>
          <a:xfrm>
            <a:off x="3682898" y="4653742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</a:t>
            </a:r>
            <a:endParaRPr lang="en-US" sz="1900" dirty="0"/>
          </a:p>
        </p:txBody>
      </p:sp>
      <p:sp>
        <p:nvSpPr>
          <p:cNvPr id="17" name="Text 161"/>
          <p:cNvSpPr txBox="1"/>
          <p:nvPr/>
        </p:nvSpPr>
        <p:spPr>
          <a:xfrm>
            <a:off x="3682898" y="5101705"/>
            <a:ext cx="2057400" cy="120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equipo debe resolverlo utilizando conocimientos, habilidades de esa licenciatura.</a:t>
            </a:r>
            <a:endParaRPr lang="en-US" sz="1350" dirty="0"/>
          </a:p>
        </p:txBody>
      </p:sp>
      <p:pic>
        <p:nvPicPr>
          <p:cNvPr id="18" name="Icon FaChevronRight 162" descr="ChevronRigh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4680" y="4810945"/>
            <a:ext cx="402336" cy="402336"/>
          </a:xfrm>
          <a:prstGeom prst="rect">
            <a:avLst/>
          </a:prstGeom>
        </p:spPr>
      </p:pic>
      <p:pic>
        <p:nvPicPr>
          <p:cNvPr id="19" name="Card 16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8517" y="3623425"/>
            <a:ext cx="2514600" cy="277737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0" name="Icon FaMicrophone 164" descr="Microphon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2837" y="3840480"/>
            <a:ext cx="685800" cy="685800"/>
          </a:xfrm>
          <a:prstGeom prst="rect">
            <a:avLst/>
          </a:prstGeom>
        </p:spPr>
      </p:pic>
      <p:sp>
        <p:nvSpPr>
          <p:cNvPr id="21" name="Text 165"/>
          <p:cNvSpPr txBox="1"/>
          <p:nvPr/>
        </p:nvSpPr>
        <p:spPr>
          <a:xfrm>
            <a:off x="6542837" y="4653742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PITCH</a:t>
            </a:r>
            <a:endParaRPr lang="en-US" sz="1900" dirty="0"/>
          </a:p>
        </p:txBody>
      </p:sp>
      <p:sp>
        <p:nvSpPr>
          <p:cNvPr id="22" name="Text 166"/>
          <p:cNvSpPr txBox="1"/>
          <p:nvPr/>
        </p:nvSpPr>
        <p:spPr>
          <a:xfrm>
            <a:off x="6542837" y="5101705"/>
            <a:ext cx="2057400" cy="120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equipo tiene 1 minuto para presentar su solución.</a:t>
            </a:r>
            <a:endParaRPr lang="en-US" sz="1350" dirty="0"/>
          </a:p>
        </p:txBody>
      </p:sp>
      <p:pic>
        <p:nvPicPr>
          <p:cNvPr id="23" name="Icon FaChevronRight 167" descr="ChevronRigh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4618" y="4810945"/>
            <a:ext cx="402336" cy="402336"/>
          </a:xfrm>
          <a:prstGeom prst="rect">
            <a:avLst/>
          </a:prstGeom>
        </p:spPr>
      </p:pic>
      <p:pic>
        <p:nvPicPr>
          <p:cNvPr id="24" name="Card 16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8455" y="3623425"/>
            <a:ext cx="2514600" cy="277737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25" name="Icon FaTrophy 169" descr="Trophy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2775" y="3840480"/>
            <a:ext cx="685800" cy="685800"/>
          </a:xfrm>
          <a:prstGeom prst="rect">
            <a:avLst/>
          </a:prstGeom>
        </p:spPr>
      </p:pic>
      <p:sp>
        <p:nvSpPr>
          <p:cNvPr id="26" name="Text 170"/>
          <p:cNvSpPr txBox="1"/>
          <p:nvPr/>
        </p:nvSpPr>
        <p:spPr>
          <a:xfrm>
            <a:off x="9402775" y="4653742"/>
            <a:ext cx="2057400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PREMIO</a:t>
            </a:r>
            <a:endParaRPr lang="en-US" sz="1900" dirty="0"/>
          </a:p>
        </p:txBody>
      </p:sp>
      <p:sp>
        <p:nvSpPr>
          <p:cNvPr id="27" name="Text 171"/>
          <p:cNvSpPr txBox="1"/>
          <p:nvPr/>
        </p:nvSpPr>
        <p:spPr>
          <a:xfrm>
            <a:off x="9402775" y="5101705"/>
            <a:ext cx="2057400" cy="1209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Directores califican por licenciatura para obtener ganadores.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2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72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Estructura de los 40 minutos</a:t>
            </a:r>
            <a:endParaRPr lang="en-US" sz="3000" dirty="0"/>
          </a:p>
        </p:txBody>
      </p:sp>
      <p:sp>
        <p:nvSpPr>
          <p:cNvPr id="4" name="Text 173"/>
          <p:cNvSpPr txBox="1"/>
          <p:nvPr/>
        </p:nvSpPr>
        <p:spPr>
          <a:xfrm>
            <a:off x="548640" y="2234738"/>
            <a:ext cx="2743200" cy="31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TIEMPO</a:t>
            </a:r>
            <a:endParaRPr lang="en-US" sz="1200" dirty="0"/>
          </a:p>
        </p:txBody>
      </p:sp>
      <p:pic>
        <p:nvPicPr>
          <p:cNvPr id="5" name="Card 1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37905"/>
            <a:ext cx="1350226" cy="170226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6" name="Text 175"/>
          <p:cNvSpPr txBox="1"/>
          <p:nvPr/>
        </p:nvSpPr>
        <p:spPr>
          <a:xfrm>
            <a:off x="548640" y="2637905"/>
            <a:ext cx="1350226" cy="170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min.</a:t>
            </a:r>
            <a:endParaRPr lang="en-US" sz="2400" dirty="0"/>
          </a:p>
        </p:txBody>
      </p:sp>
      <p:sp>
        <p:nvSpPr>
          <p:cNvPr id="7" name="Text 176"/>
          <p:cNvSpPr txBox="1"/>
          <p:nvPr/>
        </p:nvSpPr>
        <p:spPr>
          <a:xfrm>
            <a:off x="594360" y="4922520"/>
            <a:ext cx="1258786" cy="116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Presentación de la actividad</a:t>
            </a:r>
            <a:endParaRPr lang="en-US" sz="1500" dirty="0"/>
          </a:p>
        </p:txBody>
      </p:sp>
      <p:pic>
        <p:nvPicPr>
          <p:cNvPr id="8" name="Card 1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018" y="2637905"/>
            <a:ext cx="1350226" cy="170226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9" name="Text 178"/>
          <p:cNvSpPr txBox="1"/>
          <p:nvPr/>
        </p:nvSpPr>
        <p:spPr>
          <a:xfrm>
            <a:off x="1972018" y="2637905"/>
            <a:ext cx="1350226" cy="170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min.</a:t>
            </a:r>
            <a:endParaRPr lang="en-US" sz="2400" dirty="0"/>
          </a:p>
        </p:txBody>
      </p:sp>
      <p:sp>
        <p:nvSpPr>
          <p:cNvPr id="10" name="Text 179"/>
          <p:cNvSpPr txBox="1"/>
          <p:nvPr/>
        </p:nvSpPr>
        <p:spPr>
          <a:xfrm>
            <a:off x="2017738" y="4922520"/>
            <a:ext cx="1258786" cy="116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Explicación del reto</a:t>
            </a:r>
            <a:endParaRPr lang="en-US" sz="1500" dirty="0"/>
          </a:p>
        </p:txBody>
      </p:sp>
      <p:pic>
        <p:nvPicPr>
          <p:cNvPr id="11" name="Card 18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396" y="2637905"/>
            <a:ext cx="5400904" cy="170226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2" name="Text 181"/>
          <p:cNvSpPr txBox="1"/>
          <p:nvPr/>
        </p:nvSpPr>
        <p:spPr>
          <a:xfrm>
            <a:off x="3395396" y="2637905"/>
            <a:ext cx="5400904" cy="170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 min.</a:t>
            </a:r>
            <a:endParaRPr lang="en-US" sz="4000" dirty="0"/>
          </a:p>
        </p:txBody>
      </p:sp>
      <p:sp>
        <p:nvSpPr>
          <p:cNvPr id="13" name="Text 182"/>
          <p:cNvSpPr txBox="1"/>
          <p:nvPr/>
        </p:nvSpPr>
        <p:spPr>
          <a:xfrm>
            <a:off x="3441116" y="4922520"/>
            <a:ext cx="5309464" cy="116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de la actividad.</a:t>
            </a:r>
            <a:endParaRPr lang="en-US" sz="2000" dirty="0"/>
          </a:p>
        </p:txBody>
      </p:sp>
      <p:pic>
        <p:nvPicPr>
          <p:cNvPr id="14" name="Card 1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451" y="2637905"/>
            <a:ext cx="1350226" cy="170226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5" name="Text 184"/>
          <p:cNvSpPr txBox="1"/>
          <p:nvPr/>
        </p:nvSpPr>
        <p:spPr>
          <a:xfrm>
            <a:off x="8869451" y="2637905"/>
            <a:ext cx="1350226" cy="170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min.</a:t>
            </a:r>
            <a:endParaRPr lang="en-US" sz="2400" dirty="0"/>
          </a:p>
        </p:txBody>
      </p:sp>
      <p:sp>
        <p:nvSpPr>
          <p:cNvPr id="16" name="Text 185"/>
          <p:cNvSpPr txBox="1"/>
          <p:nvPr/>
        </p:nvSpPr>
        <p:spPr>
          <a:xfrm>
            <a:off x="8915171" y="4922520"/>
            <a:ext cx="1258786" cy="116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Preparación del pitch</a:t>
            </a:r>
            <a:endParaRPr lang="en-US" sz="1500" dirty="0"/>
          </a:p>
        </p:txBody>
      </p:sp>
      <p:pic>
        <p:nvPicPr>
          <p:cNvPr id="17" name="Card 18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2829" y="2637905"/>
            <a:ext cx="1350226" cy="170226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sp>
        <p:nvSpPr>
          <p:cNvPr id="18" name="Text 187"/>
          <p:cNvSpPr txBox="1"/>
          <p:nvPr/>
        </p:nvSpPr>
        <p:spPr>
          <a:xfrm>
            <a:off x="10292829" y="2637905"/>
            <a:ext cx="1350226" cy="1702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min.</a:t>
            </a:r>
            <a:endParaRPr lang="en-US" sz="2400" dirty="0"/>
          </a:p>
        </p:txBody>
      </p:sp>
      <p:sp>
        <p:nvSpPr>
          <p:cNvPr id="19" name="Text 188"/>
          <p:cNvSpPr txBox="1"/>
          <p:nvPr/>
        </p:nvSpPr>
        <p:spPr>
          <a:xfrm>
            <a:off x="10338549" y="4922520"/>
            <a:ext cx="1258786" cy="116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Presentación y evaluación.</a:t>
            </a:r>
            <a:endParaRPr lang="en-US" sz="1500" dirty="0"/>
          </a:p>
        </p:txBody>
      </p:sp>
      <p:sp>
        <p:nvSpPr>
          <p:cNvPr id="20" name="Text 189"/>
          <p:cNvSpPr txBox="1"/>
          <p:nvPr/>
        </p:nvSpPr>
        <p:spPr>
          <a:xfrm>
            <a:off x="548640" y="4519353"/>
            <a:ext cx="2743200" cy="286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ACTIVIDAD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190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Refrigerio y presentación</a:t>
            </a:r>
            <a:endParaRPr lang="en-US" sz="3000" dirty="0"/>
          </a:p>
        </p:txBody>
      </p:sp>
      <p:pic>
        <p:nvPicPr>
          <p:cNvPr id="4" name="Card 1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09869"/>
            <a:ext cx="3931920" cy="171246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MugHot 192" descr="Mug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92206"/>
            <a:ext cx="548640" cy="548640"/>
          </a:xfrm>
          <a:prstGeom prst="rect">
            <a:avLst/>
          </a:prstGeom>
        </p:spPr>
      </p:pic>
      <p:sp>
        <p:nvSpPr>
          <p:cNvPr id="6" name="Pill 193"/>
          <p:cNvSpPr txBox="1"/>
          <p:nvPr/>
        </p:nvSpPr>
        <p:spPr>
          <a:xfrm>
            <a:off x="1554480" y="2290889"/>
            <a:ext cx="2377440" cy="351274"/>
          </a:xfrm>
          <a:prstGeom prst="roundRect">
            <a:avLst>
              <a:gd name="adj" fmla="val 5206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Duración: 15 minutos.</a:t>
            </a:r>
            <a:endParaRPr lang="en-US" sz="1150" dirty="0"/>
          </a:p>
        </p:txBody>
      </p:sp>
      <p:sp>
        <p:nvSpPr>
          <p:cNvPr id="7" name="Text 194"/>
          <p:cNvSpPr txBox="1"/>
          <p:nvPr/>
        </p:nvSpPr>
        <p:spPr>
          <a:xfrm>
            <a:off x="822960" y="2844146"/>
            <a:ext cx="3429000" cy="790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 término se les invita a convivir en el foyer del auditorio para el refrigerio.</a:t>
            </a:r>
            <a:endParaRPr lang="en-US" sz="1350" dirty="0"/>
          </a:p>
        </p:txBody>
      </p:sp>
      <p:pic>
        <p:nvPicPr>
          <p:cNvPr id="8" name="Card 1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97970"/>
            <a:ext cx="3931920" cy="250283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9" name="Icon FaMicrophone 196" descr="Micro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80306"/>
            <a:ext cx="548640" cy="548640"/>
          </a:xfrm>
          <a:prstGeom prst="rect">
            <a:avLst/>
          </a:prstGeom>
        </p:spPr>
      </p:pic>
      <p:sp>
        <p:nvSpPr>
          <p:cNvPr id="10" name="Pill 197"/>
          <p:cNvSpPr txBox="1"/>
          <p:nvPr/>
        </p:nvSpPr>
        <p:spPr>
          <a:xfrm>
            <a:off x="1554480" y="4178989"/>
            <a:ext cx="2377440" cy="351274"/>
          </a:xfrm>
          <a:prstGeom prst="roundRect">
            <a:avLst>
              <a:gd name="adj" fmla="val 52062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Duración: 20 minutos.</a:t>
            </a:r>
            <a:endParaRPr lang="en-US" sz="1150" dirty="0"/>
          </a:p>
        </p:txBody>
      </p:sp>
      <p:sp>
        <p:nvSpPr>
          <p:cNvPr id="11" name="Text 198"/>
          <p:cNvSpPr txBox="1"/>
          <p:nvPr/>
        </p:nvSpPr>
        <p:spPr>
          <a:xfrm>
            <a:off x="822960" y="4732246"/>
            <a:ext cx="3429000" cy="1580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les invita a pasar al auditorio para dar la presentación de nuestra oferta académica en el formato nuevo. (entrevista).</a:t>
            </a:r>
            <a:endParaRPr lang="en-US" sz="1350" dirty="0"/>
          </a:p>
        </p:txBody>
      </p:sp>
      <p:pic>
        <p:nvPicPr>
          <p:cNvPr id="12" name="Card 19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009869"/>
            <a:ext cx="6888175" cy="4390931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3" name="Text 200"/>
          <p:cNvSpPr txBox="1"/>
          <p:nvPr/>
        </p:nvSpPr>
        <p:spPr>
          <a:xfrm>
            <a:off x="5074920" y="2097688"/>
            <a:ext cx="6339535" cy="52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“Pregúntale a quien ya lo está viviendo”.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(Participante Embajador Westhill).</a:t>
            </a:r>
            <a:endParaRPr lang="en-US" sz="1700" dirty="0"/>
          </a:p>
        </p:txBody>
      </p:sp>
      <p:sp>
        <p:nvSpPr>
          <p:cNvPr id="14" name="Text 201"/>
          <p:cNvSpPr txBox="1"/>
          <p:nvPr/>
        </p:nvSpPr>
        <p:spPr>
          <a:xfrm>
            <a:off x="5074920" y="2624600"/>
            <a:ext cx="6339535" cy="30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Una asesora de admisiones entrevista a un alumno.</a:t>
            </a:r>
            <a:endParaRPr lang="en-US" sz="1300" dirty="0"/>
          </a:p>
        </p:txBody>
      </p:sp>
      <p:sp>
        <p:nvSpPr>
          <p:cNvPr id="15" name="Text 202"/>
          <p:cNvSpPr txBox="1"/>
          <p:nvPr/>
        </p:nvSpPr>
        <p:spPr>
          <a:xfrm>
            <a:off x="5074920" y="3063693"/>
            <a:ext cx="3078328" cy="324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¿Por qué elegiste Westhill?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¿Por qué elegiste tu licenciatura?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¿Qué fue lo primero que te sorprendió de la Universidad?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¿Cómo describirías el ambiente entre los estudiantes?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¿Qué es lo que más disfrutas estudiar aquí?</a:t>
            </a:r>
            <a:endParaRPr lang="en-US" sz="1300" dirty="0"/>
          </a:p>
        </p:txBody>
      </p:sp>
      <p:sp>
        <p:nvSpPr>
          <p:cNvPr id="16" name="Text 203"/>
          <p:cNvSpPr txBox="1"/>
          <p:nvPr/>
        </p:nvSpPr>
        <p:spPr>
          <a:xfrm>
            <a:off x="8244688" y="3063693"/>
            <a:ext cx="3078328" cy="324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¿Cómo son tus profesores?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¿Qué actividades o experiencias has vivido fuera del salón?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 ¿Qué instalaciones utilizas más y por qué?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 Si pudieras darle un consejo a alguien que está por elegir Universidad, ¿qué le dirías?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 Si pudieras volver al día en que elegiste Universidad, ¿volverías a elegir Westhill?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04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Premiación</a:t>
            </a:r>
            <a:endParaRPr lang="en-US" sz="3000" dirty="0"/>
          </a:p>
        </p:txBody>
      </p:sp>
      <p:sp>
        <p:nvSpPr>
          <p:cNvPr id="4" name="Text 205"/>
          <p:cNvSpPr txBox="1"/>
          <p:nvPr/>
        </p:nvSpPr>
        <p:spPr>
          <a:xfrm>
            <a:off x="548640" y="2010756"/>
            <a:ext cx="8046720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 finalizar la entrevista se reconocerá a los alumnos que hayan destacado.</a:t>
            </a:r>
            <a:endParaRPr lang="en-US" sz="1700" dirty="0"/>
          </a:p>
        </p:txBody>
      </p:sp>
      <p:sp>
        <p:nvSpPr>
          <p:cNvPr id="5" name="Pill 206"/>
          <p:cNvSpPr txBox="1"/>
          <p:nvPr/>
        </p:nvSpPr>
        <p:spPr>
          <a:xfrm>
            <a:off x="9265615" y="2055553"/>
            <a:ext cx="2377440" cy="376289"/>
          </a:xfrm>
          <a:prstGeom prst="roundRect">
            <a:avLst>
              <a:gd name="adj" fmla="val 5103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Duración: 5 minutos.</a:t>
            </a:r>
            <a:endParaRPr lang="en-US" sz="1250" dirty="0"/>
          </a:p>
        </p:txBody>
      </p:sp>
      <p:sp>
        <p:nvSpPr>
          <p:cNvPr id="6" name="Text 207"/>
          <p:cNvSpPr txBox="1"/>
          <p:nvPr/>
        </p:nvSpPr>
        <p:spPr>
          <a:xfrm>
            <a:off x="548640" y="2637905"/>
            <a:ext cx="5486400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Categorías sugeridas:</a:t>
            </a:r>
            <a:endParaRPr lang="en-US" sz="1500" dirty="0"/>
          </a:p>
        </p:txBody>
      </p:sp>
      <p:pic>
        <p:nvPicPr>
          <p:cNvPr id="7" name="Card 2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30665"/>
            <a:ext cx="2057949" cy="1971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8" name="Icon FaLightbulb 209" descr="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34" y="3346335"/>
            <a:ext cx="822960" cy="822960"/>
          </a:xfrm>
          <a:prstGeom prst="rect">
            <a:avLst/>
          </a:prstGeom>
        </p:spPr>
      </p:pic>
      <p:sp>
        <p:nvSpPr>
          <p:cNvPr id="9" name="Text 210"/>
          <p:cNvSpPr txBox="1"/>
          <p:nvPr/>
        </p:nvSpPr>
        <p:spPr>
          <a:xfrm>
            <a:off x="685800" y="4295371"/>
            <a:ext cx="1783629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creatividad.</a:t>
            </a:r>
            <a:endParaRPr lang="en-US" sz="1500" dirty="0"/>
          </a:p>
        </p:txBody>
      </p:sp>
      <p:pic>
        <p:nvPicPr>
          <p:cNvPr id="10" name="Card 2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757" y="3130665"/>
            <a:ext cx="2057949" cy="1971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1" name="Icon FaPeopleGroup 212" descr="People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251" y="3346335"/>
            <a:ext cx="822960" cy="822960"/>
          </a:xfrm>
          <a:prstGeom prst="rect">
            <a:avLst/>
          </a:prstGeom>
        </p:spPr>
      </p:pic>
      <p:sp>
        <p:nvSpPr>
          <p:cNvPr id="12" name="Text 213"/>
          <p:cNvSpPr txBox="1"/>
          <p:nvPr/>
        </p:nvSpPr>
        <p:spPr>
          <a:xfrm>
            <a:off x="2944917" y="4295371"/>
            <a:ext cx="1783629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 trabajo en equipo.</a:t>
            </a:r>
            <a:endParaRPr lang="en-US" sz="1500" dirty="0"/>
          </a:p>
        </p:txBody>
      </p:sp>
      <p:pic>
        <p:nvPicPr>
          <p:cNvPr id="13" name="Card 2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873" y="3130665"/>
            <a:ext cx="2057949" cy="1971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4" name="Icon FaCrown 215" descr="Crow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368" y="3346335"/>
            <a:ext cx="822960" cy="822960"/>
          </a:xfrm>
          <a:prstGeom prst="rect">
            <a:avLst/>
          </a:prstGeom>
        </p:spPr>
      </p:pic>
      <p:sp>
        <p:nvSpPr>
          <p:cNvPr id="15" name="Text 216"/>
          <p:cNvSpPr txBox="1"/>
          <p:nvPr/>
        </p:nvSpPr>
        <p:spPr>
          <a:xfrm>
            <a:off x="5204033" y="4295371"/>
            <a:ext cx="1783629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 liderazgo.</a:t>
            </a:r>
            <a:endParaRPr lang="en-US" sz="1500" dirty="0"/>
          </a:p>
        </p:txBody>
      </p:sp>
      <p:pic>
        <p:nvPicPr>
          <p:cNvPr id="16" name="Card 21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5990" y="3130665"/>
            <a:ext cx="2057949" cy="1971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7" name="Icon FaMicrophone 218" descr="Microph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3484" y="3346335"/>
            <a:ext cx="822960" cy="822960"/>
          </a:xfrm>
          <a:prstGeom prst="rect">
            <a:avLst/>
          </a:prstGeom>
        </p:spPr>
      </p:pic>
      <p:sp>
        <p:nvSpPr>
          <p:cNvPr id="18" name="Text 219"/>
          <p:cNvSpPr txBox="1"/>
          <p:nvPr/>
        </p:nvSpPr>
        <p:spPr>
          <a:xfrm>
            <a:off x="7463150" y="4295371"/>
            <a:ext cx="1783629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 presentación.</a:t>
            </a:r>
            <a:endParaRPr lang="en-US" sz="1500" dirty="0"/>
          </a:p>
        </p:txBody>
      </p:sp>
      <p:pic>
        <p:nvPicPr>
          <p:cNvPr id="19" name="Card 22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5107" y="3130665"/>
            <a:ext cx="2057949" cy="1971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20" name="Icon FaStar 221" descr="S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2601" y="3346335"/>
            <a:ext cx="822960" cy="822960"/>
          </a:xfrm>
          <a:prstGeom prst="rect">
            <a:avLst/>
          </a:prstGeom>
        </p:spPr>
      </p:pic>
      <p:sp>
        <p:nvSpPr>
          <p:cNvPr id="21" name="Text 222"/>
          <p:cNvSpPr txBox="1"/>
          <p:nvPr/>
        </p:nvSpPr>
        <p:spPr>
          <a:xfrm>
            <a:off x="9722267" y="4295371"/>
            <a:ext cx="1783629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Espíritu Westhill.</a:t>
            </a:r>
            <a:endParaRPr lang="en-US" sz="1500" dirty="0"/>
          </a:p>
        </p:txBody>
      </p:sp>
      <p:pic>
        <p:nvPicPr>
          <p:cNvPr id="22" name="Card 22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325687"/>
            <a:ext cx="11094415" cy="1075113"/>
          </a:xfrm>
          <a:prstGeom prst="rect">
            <a:avLst/>
          </a:prstGeom>
        </p:spPr>
      </p:pic>
      <p:sp>
        <p:nvSpPr>
          <p:cNvPr id="23" name="Text 224"/>
          <p:cNvSpPr txBox="1"/>
          <p:nvPr/>
        </p:nvSpPr>
        <p:spPr>
          <a:xfrm>
            <a:off x="868680" y="5325687"/>
            <a:ext cx="1828800" cy="1075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Esto genera:</a:t>
            </a:r>
            <a:endParaRPr lang="en-US" sz="1700" dirty="0"/>
          </a:p>
        </p:txBody>
      </p:sp>
      <p:sp>
        <p:nvSpPr>
          <p:cNvPr id="24" name="Pill 225"/>
          <p:cNvSpPr txBox="1"/>
          <p:nvPr/>
        </p:nvSpPr>
        <p:spPr>
          <a:xfrm>
            <a:off x="2788920" y="5639262"/>
            <a:ext cx="2011680" cy="447964"/>
          </a:xfrm>
          <a:prstGeom prst="roundRect">
            <a:avLst>
              <a:gd name="adj" fmla="val 5103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Participación,</a:t>
            </a:r>
            <a:endParaRPr lang="en-US" sz="1400" dirty="0"/>
          </a:p>
        </p:txBody>
      </p:sp>
      <p:sp>
        <p:nvSpPr>
          <p:cNvPr id="25" name="Pill 226"/>
          <p:cNvSpPr txBox="1"/>
          <p:nvPr/>
        </p:nvSpPr>
        <p:spPr>
          <a:xfrm>
            <a:off x="4983480" y="5639262"/>
            <a:ext cx="2011680" cy="447964"/>
          </a:xfrm>
          <a:prstGeom prst="roundRect">
            <a:avLst>
              <a:gd name="adj" fmla="val 5103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emoción,</a:t>
            </a:r>
            <a:endParaRPr lang="en-US" sz="1400" dirty="0"/>
          </a:p>
        </p:txBody>
      </p:sp>
      <p:sp>
        <p:nvSpPr>
          <p:cNvPr id="26" name="Pill 227"/>
          <p:cNvSpPr txBox="1"/>
          <p:nvPr/>
        </p:nvSpPr>
        <p:spPr>
          <a:xfrm>
            <a:off x="7178040" y="5639262"/>
            <a:ext cx="2011680" cy="447964"/>
          </a:xfrm>
          <a:prstGeom prst="roundRect">
            <a:avLst>
              <a:gd name="adj" fmla="val 5103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recuerdo</a:t>
            </a:r>
            <a:endParaRPr lang="en-US" sz="1400" dirty="0"/>
          </a:p>
        </p:txBody>
      </p:sp>
      <p:sp>
        <p:nvSpPr>
          <p:cNvPr id="27" name="Pill 228"/>
          <p:cNvSpPr txBox="1"/>
          <p:nvPr/>
        </p:nvSpPr>
        <p:spPr>
          <a:xfrm>
            <a:off x="9372600" y="5639262"/>
            <a:ext cx="2011680" cy="447964"/>
          </a:xfrm>
          <a:prstGeom prst="roundRect">
            <a:avLst>
              <a:gd name="adj" fmla="val 5103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 contenido.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229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2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231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Section number 232"/>
          <p:cNvSpPr txBox="1"/>
          <p:nvPr/>
        </p:nvSpPr>
        <p:spPr>
          <a:xfrm>
            <a:off x="41148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endParaRPr lang="en-US" sz="8800" dirty="0"/>
          </a:p>
        </p:txBody>
      </p:sp>
      <p:sp>
        <p:nvSpPr>
          <p:cNvPr id="6" name="Section kicker 233"/>
          <p:cNvSpPr txBox="1"/>
          <p:nvPr/>
        </p:nvSpPr>
        <p:spPr>
          <a:xfrm>
            <a:off x="411480" y="3172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SECCIÓN</a:t>
            </a:r>
            <a:endParaRPr lang="en-US" sz="1400" dirty="0"/>
          </a:p>
        </p:txBody>
      </p:sp>
      <p:sp>
        <p:nvSpPr>
          <p:cNvPr id="7" name="Section title 234"/>
          <p:cNvSpPr txBox="1"/>
          <p:nvPr/>
        </p:nvSpPr>
        <p:spPr>
          <a:xfrm>
            <a:off x="411480" y="350215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y seguimiento</a:t>
            </a:r>
            <a:endParaRPr lang="en-US" sz="3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35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Embajador Westhill</a:t>
            </a:r>
            <a:endParaRPr lang="en-US" sz="3000" dirty="0"/>
          </a:p>
        </p:txBody>
      </p:sp>
      <p:sp>
        <p:nvSpPr>
          <p:cNvPr id="4" name="Subtitle 236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Conectar el plan de embajadores.</a:t>
            </a:r>
            <a:endParaRPr lang="en-US" sz="1600" dirty="0"/>
          </a:p>
        </p:txBody>
      </p:sp>
      <p:pic>
        <p:nvPicPr>
          <p:cNvPr id="5" name="Card 2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3516"/>
            <a:ext cx="4572000" cy="389728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6" name="Watermark FaUserGraduate 2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84684"/>
            <a:ext cx="1371600" cy="1371600"/>
          </a:xfrm>
          <a:prstGeom prst="rect">
            <a:avLst/>
          </a:prstGeom>
        </p:spPr>
      </p:pic>
      <p:pic>
        <p:nvPicPr>
          <p:cNvPr id="7" name="Icon FaUserGraduate 239" descr="UserGradu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64444"/>
            <a:ext cx="777240" cy="777240"/>
          </a:xfrm>
          <a:prstGeom prst="rect">
            <a:avLst/>
          </a:prstGeom>
        </p:spPr>
      </p:pic>
      <p:sp>
        <p:nvSpPr>
          <p:cNvPr id="8" name="Text 240"/>
          <p:cNvSpPr txBox="1"/>
          <p:nvPr/>
        </p:nvSpPr>
        <p:spPr>
          <a:xfrm>
            <a:off x="914400" y="3713018"/>
            <a:ext cx="3840480" cy="134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está creando su comunidad de EMBAJADORES y queremos que tú seas parte.</a:t>
            </a:r>
            <a:endParaRPr lang="en-US" sz="1900" dirty="0"/>
          </a:p>
        </p:txBody>
      </p:sp>
      <p:sp>
        <p:nvSpPr>
          <p:cNvPr id="9" name="Text 241"/>
          <p:cNvSpPr txBox="1"/>
          <p:nvPr/>
        </p:nvSpPr>
        <p:spPr>
          <a:xfrm>
            <a:off x="914400" y="5280891"/>
            <a:ext cx="3840480" cy="80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 tu siguiente paso inspirando futuros.</a:t>
            </a:r>
            <a:endParaRPr lang="en-US" sz="1600" dirty="0"/>
          </a:p>
        </p:txBody>
      </p:sp>
      <p:sp>
        <p:nvSpPr>
          <p:cNvPr id="10" name="Text 242"/>
          <p:cNvSpPr txBox="1"/>
          <p:nvPr/>
        </p:nvSpPr>
        <p:spPr>
          <a:xfrm>
            <a:off x="5394960" y="2503516"/>
            <a:ext cx="6248095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hace un Embajador?</a:t>
            </a:r>
            <a:endParaRPr lang="en-US" sz="1900" dirty="0"/>
          </a:p>
        </p:txBody>
      </p:sp>
      <p:pic>
        <p:nvPicPr>
          <p:cNvPr id="11" name="Card 24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085869"/>
            <a:ext cx="6248095" cy="573393"/>
          </a:xfrm>
          <a:prstGeom prst="rect">
            <a:avLst/>
          </a:prstGeom>
        </p:spPr>
      </p:pic>
      <p:pic>
        <p:nvPicPr>
          <p:cNvPr id="12" name="Icon FaShareNodes 244" descr="ShareNod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125678"/>
            <a:ext cx="493776" cy="493776"/>
          </a:xfrm>
          <a:prstGeom prst="rect">
            <a:avLst/>
          </a:prstGeom>
        </p:spPr>
      </p:pic>
      <p:sp>
        <p:nvSpPr>
          <p:cNvPr id="13" name="Text 245"/>
          <p:cNvSpPr txBox="1"/>
          <p:nvPr/>
        </p:nvSpPr>
        <p:spPr>
          <a:xfrm>
            <a:off x="6126480" y="3085869"/>
            <a:ext cx="5379415" cy="57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Invita a tus amigos a conocer Westhill.</a:t>
            </a:r>
            <a:endParaRPr lang="en-US" sz="1450" dirty="0"/>
          </a:p>
        </p:txBody>
      </p:sp>
      <p:pic>
        <p:nvPicPr>
          <p:cNvPr id="14" name="Card 24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757815"/>
            <a:ext cx="6248095" cy="573393"/>
          </a:xfrm>
          <a:prstGeom prst="rect">
            <a:avLst/>
          </a:prstGeom>
        </p:spPr>
      </p:pic>
      <p:pic>
        <p:nvPicPr>
          <p:cNvPr id="15" name="Icon FaComments 247" descr="Comment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3797623"/>
            <a:ext cx="493776" cy="493776"/>
          </a:xfrm>
          <a:prstGeom prst="rect">
            <a:avLst/>
          </a:prstGeom>
        </p:spPr>
      </p:pic>
      <p:sp>
        <p:nvSpPr>
          <p:cNvPr id="16" name="Text 248"/>
          <p:cNvSpPr txBox="1"/>
          <p:nvPr/>
        </p:nvSpPr>
        <p:spPr>
          <a:xfrm>
            <a:off x="6126480" y="3757815"/>
            <a:ext cx="5379415" cy="57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Comparte tu experiencia.</a:t>
            </a:r>
            <a:endParaRPr lang="en-US" sz="1450" dirty="0"/>
          </a:p>
        </p:txBody>
      </p:sp>
      <p:pic>
        <p:nvPicPr>
          <p:cNvPr id="17" name="Card 24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4429760"/>
            <a:ext cx="6248095" cy="573393"/>
          </a:xfrm>
          <a:prstGeom prst="rect">
            <a:avLst/>
          </a:prstGeom>
        </p:spPr>
      </p:pic>
      <p:pic>
        <p:nvPicPr>
          <p:cNvPr id="18" name="Icon FaTicket 250" descr="Ticke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8968" y="4469569"/>
            <a:ext cx="493776" cy="493776"/>
          </a:xfrm>
          <a:prstGeom prst="rect">
            <a:avLst/>
          </a:prstGeom>
        </p:spPr>
      </p:pic>
      <p:sp>
        <p:nvSpPr>
          <p:cNvPr id="19" name="Text 251"/>
          <p:cNvSpPr txBox="1"/>
          <p:nvPr/>
        </p:nvSpPr>
        <p:spPr>
          <a:xfrm>
            <a:off x="6126480" y="4429760"/>
            <a:ext cx="5379415" cy="57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Accede a experiencias especiales.</a:t>
            </a:r>
            <a:endParaRPr lang="en-US" sz="1450" dirty="0"/>
          </a:p>
        </p:txBody>
      </p:sp>
      <p:pic>
        <p:nvPicPr>
          <p:cNvPr id="20" name="Card 25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5101705"/>
            <a:ext cx="6248095" cy="573393"/>
          </a:xfrm>
          <a:prstGeom prst="rect">
            <a:avLst/>
          </a:prstGeom>
        </p:spPr>
      </p:pic>
      <p:pic>
        <p:nvPicPr>
          <p:cNvPr id="21" name="Icon FaTrophy 253" descr="Troph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8968" y="5141514"/>
            <a:ext cx="493776" cy="493776"/>
          </a:xfrm>
          <a:prstGeom prst="rect">
            <a:avLst/>
          </a:prstGeom>
        </p:spPr>
      </p:pic>
      <p:sp>
        <p:nvSpPr>
          <p:cNvPr id="22" name="Text 254"/>
          <p:cNvSpPr txBox="1"/>
          <p:nvPr/>
        </p:nvSpPr>
        <p:spPr>
          <a:xfrm>
            <a:off x="6126480" y="5101705"/>
            <a:ext cx="5379415" cy="57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Participa en Retos.</a:t>
            </a:r>
            <a:endParaRPr lang="en-US" sz="1450" dirty="0"/>
          </a:p>
        </p:txBody>
      </p:sp>
      <p:pic>
        <p:nvPicPr>
          <p:cNvPr id="23" name="Card 255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94960" y="5773651"/>
            <a:ext cx="6248095" cy="573393"/>
          </a:xfrm>
          <a:prstGeom prst="rect">
            <a:avLst/>
          </a:prstGeom>
        </p:spPr>
      </p:pic>
      <p:pic>
        <p:nvPicPr>
          <p:cNvPr id="24" name="Icon FaGift 256" descr="Gif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58968" y="5813460"/>
            <a:ext cx="493776" cy="493776"/>
          </a:xfrm>
          <a:prstGeom prst="rect">
            <a:avLst/>
          </a:prstGeom>
        </p:spPr>
      </p:pic>
      <p:sp>
        <p:nvSpPr>
          <p:cNvPr id="25" name="Text 257"/>
          <p:cNvSpPr txBox="1"/>
          <p:nvPr/>
        </p:nvSpPr>
        <p:spPr>
          <a:xfrm>
            <a:off x="6126480" y="5773651"/>
            <a:ext cx="5379415" cy="573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 obtén beneficios por las recomendaciones que realmente avancen.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58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¿Cómo convertimos la experiencia en resultados?</a:t>
            </a:r>
            <a:endParaRPr lang="en-US" sz="3000" dirty="0"/>
          </a:p>
        </p:txBody>
      </p:sp>
      <p:pic>
        <p:nvPicPr>
          <p:cNvPr id="4" name="Card 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0756"/>
            <a:ext cx="6949440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5" name="Text 260"/>
          <p:cNvSpPr txBox="1"/>
          <p:nvPr/>
        </p:nvSpPr>
        <p:spPr>
          <a:xfrm>
            <a:off x="548640" y="2010756"/>
            <a:ext cx="694944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Alumnos asistentes</a:t>
            </a:r>
            <a:endParaRPr lang="en-US" sz="1600" dirty="0"/>
          </a:p>
        </p:txBody>
      </p:sp>
      <p:pic>
        <p:nvPicPr>
          <p:cNvPr id="6" name="Card 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27498"/>
            <a:ext cx="6181344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7" name="Text 262"/>
          <p:cNvSpPr txBox="1"/>
          <p:nvPr/>
        </p:nvSpPr>
        <p:spPr>
          <a:xfrm>
            <a:off x="932688" y="2727498"/>
            <a:ext cx="6181344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Interesados</a:t>
            </a:r>
            <a:endParaRPr lang="en-US" sz="1600" dirty="0"/>
          </a:p>
        </p:txBody>
      </p:sp>
      <p:pic>
        <p:nvPicPr>
          <p:cNvPr id="8" name="Card 2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3444240"/>
            <a:ext cx="5413248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9" name="Text 264"/>
          <p:cNvSpPr txBox="1"/>
          <p:nvPr/>
        </p:nvSpPr>
        <p:spPr>
          <a:xfrm>
            <a:off x="1316736" y="3444240"/>
            <a:ext cx="5413248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Prospectos calificados</a:t>
            </a:r>
            <a:endParaRPr lang="en-US" sz="1600" dirty="0"/>
          </a:p>
        </p:txBody>
      </p:sp>
      <p:pic>
        <p:nvPicPr>
          <p:cNvPr id="10" name="Card 2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160982"/>
            <a:ext cx="4645152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1" name="Text 266"/>
          <p:cNvSpPr txBox="1"/>
          <p:nvPr/>
        </p:nvSpPr>
        <p:spPr>
          <a:xfrm>
            <a:off x="1700784" y="4160982"/>
            <a:ext cx="4645152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Citas</a:t>
            </a:r>
            <a:endParaRPr lang="en-US" sz="1600" dirty="0"/>
          </a:p>
        </p:txBody>
      </p:sp>
      <p:pic>
        <p:nvPicPr>
          <p:cNvPr id="12" name="Card 26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832" y="4877724"/>
            <a:ext cx="3877056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3" name="Text 268"/>
          <p:cNvSpPr txBox="1"/>
          <p:nvPr/>
        </p:nvSpPr>
        <p:spPr>
          <a:xfrm>
            <a:off x="2084832" y="4877724"/>
            <a:ext cx="3877056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Proceso de admisiones</a:t>
            </a:r>
            <a:endParaRPr lang="en-US" sz="1600" dirty="0"/>
          </a:p>
        </p:txBody>
      </p:sp>
      <p:pic>
        <p:nvPicPr>
          <p:cNvPr id="14" name="Card 26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5594465"/>
            <a:ext cx="3108960" cy="59131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sp>
        <p:nvSpPr>
          <p:cNvPr id="15" name="Text 270"/>
          <p:cNvSpPr txBox="1"/>
          <p:nvPr/>
        </p:nvSpPr>
        <p:spPr>
          <a:xfrm>
            <a:off x="2468880" y="5594465"/>
            <a:ext cx="31089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Inscritos</a:t>
            </a:r>
            <a:endParaRPr lang="en-US" sz="1600" dirty="0"/>
          </a:p>
        </p:txBody>
      </p:sp>
      <p:pic>
        <p:nvPicPr>
          <p:cNvPr id="16" name="Card 27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503516"/>
            <a:ext cx="3779215" cy="322533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7" name="Watermark FaFilter 27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1455" y="4373418"/>
            <a:ext cx="1143000" cy="1143000"/>
          </a:xfrm>
          <a:prstGeom prst="rect">
            <a:avLst/>
          </a:prstGeom>
        </p:spPr>
      </p:pic>
      <p:pic>
        <p:nvPicPr>
          <p:cNvPr id="18" name="Icon FaChartLine 273" descr="ChartLin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0" y="2764905"/>
            <a:ext cx="731520" cy="731520"/>
          </a:xfrm>
          <a:prstGeom prst="rect">
            <a:avLst/>
          </a:prstGeom>
        </p:spPr>
      </p:pic>
      <p:sp>
        <p:nvSpPr>
          <p:cNvPr id="19" name="Text 274"/>
          <p:cNvSpPr txBox="1"/>
          <p:nvPr/>
        </p:nvSpPr>
        <p:spPr>
          <a:xfrm>
            <a:off x="8183880" y="3668222"/>
            <a:ext cx="3230575" cy="403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medirá por:</a:t>
            </a:r>
            <a:endParaRPr lang="en-US" sz="1500" dirty="0"/>
          </a:p>
        </p:txBody>
      </p:sp>
      <p:sp>
        <p:nvSpPr>
          <p:cNvPr id="20" name="Text 275"/>
          <p:cNvSpPr txBox="1"/>
          <p:nvPr/>
        </p:nvSpPr>
        <p:spPr>
          <a:xfrm>
            <a:off x="8183880" y="4116185"/>
            <a:ext cx="3230575" cy="1343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¿Cuántos procesos de admisión generó?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276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Promoción</a:t>
            </a:r>
            <a:endParaRPr lang="en-US" sz="3000" dirty="0"/>
          </a:p>
        </p:txBody>
      </p:sp>
      <p:sp>
        <p:nvSpPr>
          <p:cNvPr id="4" name="Subtitle 277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experiencia también debe vivir en redes.</a:t>
            </a:r>
            <a:endParaRPr lang="en-US" sz="1600" dirty="0"/>
          </a:p>
        </p:txBody>
      </p:sp>
      <p:pic>
        <p:nvPicPr>
          <p:cNvPr id="5" name="Card 2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3516"/>
            <a:ext cx="3511296" cy="389728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6" name="Icon FaBullhorn 279" descr="Bullho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64905"/>
            <a:ext cx="731520" cy="731520"/>
          </a:xfrm>
          <a:prstGeom prst="rect">
            <a:avLst/>
          </a:prstGeom>
        </p:spPr>
      </p:pic>
      <p:sp>
        <p:nvSpPr>
          <p:cNvPr id="7" name="Text 280"/>
          <p:cNvSpPr txBox="1"/>
          <p:nvPr/>
        </p:nvSpPr>
        <p:spPr>
          <a:xfrm>
            <a:off x="1783080" y="2772295"/>
            <a:ext cx="204825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Antes:</a:t>
            </a:r>
            <a:endParaRPr lang="en-US" sz="2200" dirty="0"/>
          </a:p>
        </p:txBody>
      </p:sp>
      <p:sp>
        <p:nvSpPr>
          <p:cNvPr id="8" name="Text 281"/>
          <p:cNvSpPr txBox="1"/>
          <p:nvPr/>
        </p:nvSpPr>
        <p:spPr>
          <a:xfrm>
            <a:off x="868680" y="3802611"/>
            <a:ext cx="2871216" cy="232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“Algo diferente está por suceder en Westhill”</a:t>
            </a:r>
            <a:endParaRPr lang="en-US" sz="2100" dirty="0"/>
          </a:p>
        </p:txBody>
      </p:sp>
      <p:pic>
        <p:nvPicPr>
          <p:cNvPr id="9" name="Icon FaChevronRight 282" descr="Chevron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900" y="4246511"/>
            <a:ext cx="402336" cy="402336"/>
          </a:xfrm>
          <a:prstGeom prst="rect">
            <a:avLst/>
          </a:prstGeom>
        </p:spPr>
      </p:pic>
      <p:pic>
        <p:nvPicPr>
          <p:cNvPr id="10" name="Card 2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200" y="2503516"/>
            <a:ext cx="3511296" cy="389728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11" name="Icon FaCamera 284" descr="Came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240" y="2764905"/>
            <a:ext cx="731520" cy="731520"/>
          </a:xfrm>
          <a:prstGeom prst="rect">
            <a:avLst/>
          </a:prstGeom>
        </p:spPr>
      </p:pic>
      <p:sp>
        <p:nvSpPr>
          <p:cNvPr id="12" name="Text 285"/>
          <p:cNvSpPr txBox="1"/>
          <p:nvPr/>
        </p:nvSpPr>
        <p:spPr>
          <a:xfrm>
            <a:off x="5574640" y="2772295"/>
            <a:ext cx="204825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Durante:</a:t>
            </a:r>
            <a:endParaRPr lang="en-US" sz="2200" dirty="0"/>
          </a:p>
        </p:txBody>
      </p:sp>
      <p:pic>
        <p:nvPicPr>
          <p:cNvPr id="13" name="Icon FaCamera 286" descr="Came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960" y="3753935"/>
            <a:ext cx="384048" cy="384048"/>
          </a:xfrm>
          <a:prstGeom prst="rect">
            <a:avLst/>
          </a:prstGeom>
        </p:spPr>
      </p:pic>
      <p:sp>
        <p:nvSpPr>
          <p:cNvPr id="14" name="Text 287"/>
          <p:cNvSpPr txBox="1"/>
          <p:nvPr/>
        </p:nvSpPr>
        <p:spPr>
          <a:xfrm>
            <a:off x="5254600" y="3757815"/>
            <a:ext cx="2322576" cy="37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Fotografías</a:t>
            </a:r>
            <a:endParaRPr lang="en-US" sz="1500" dirty="0"/>
          </a:p>
        </p:txBody>
      </p:sp>
      <p:pic>
        <p:nvPicPr>
          <p:cNvPr id="15" name="Icon FaVideo 288" descr="Vide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5960" y="4255655"/>
            <a:ext cx="384048" cy="384048"/>
          </a:xfrm>
          <a:prstGeom prst="rect">
            <a:avLst/>
          </a:prstGeom>
        </p:spPr>
      </p:pic>
      <p:sp>
        <p:nvSpPr>
          <p:cNvPr id="16" name="Text 289"/>
          <p:cNvSpPr txBox="1"/>
          <p:nvPr/>
        </p:nvSpPr>
        <p:spPr>
          <a:xfrm>
            <a:off x="5254600" y="4259534"/>
            <a:ext cx="2322576" cy="37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Videos</a:t>
            </a:r>
            <a:endParaRPr lang="en-US" sz="1500" dirty="0"/>
          </a:p>
        </p:txBody>
      </p:sp>
      <p:pic>
        <p:nvPicPr>
          <p:cNvPr id="17" name="Icon FaComments 290" descr="Comm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5960" y="4757374"/>
            <a:ext cx="384048" cy="384048"/>
          </a:xfrm>
          <a:prstGeom prst="rect">
            <a:avLst/>
          </a:prstGeom>
        </p:spPr>
      </p:pic>
      <p:sp>
        <p:nvSpPr>
          <p:cNvPr id="18" name="Text 291"/>
          <p:cNvSpPr txBox="1"/>
          <p:nvPr/>
        </p:nvSpPr>
        <p:spPr>
          <a:xfrm>
            <a:off x="5254600" y="4761253"/>
            <a:ext cx="2322576" cy="37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Testimonios</a:t>
            </a:r>
            <a:endParaRPr lang="en-US" sz="1500" dirty="0"/>
          </a:p>
        </p:txBody>
      </p:sp>
      <p:pic>
        <p:nvPicPr>
          <p:cNvPr id="19" name="Icon FaPuzzlePiece 292" descr="PuzzlePiec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960" y="5259093"/>
            <a:ext cx="384048" cy="384048"/>
          </a:xfrm>
          <a:prstGeom prst="rect">
            <a:avLst/>
          </a:prstGeom>
        </p:spPr>
      </p:pic>
      <p:sp>
        <p:nvSpPr>
          <p:cNvPr id="20" name="Text 293"/>
          <p:cNvSpPr txBox="1"/>
          <p:nvPr/>
        </p:nvSpPr>
        <p:spPr>
          <a:xfrm>
            <a:off x="5254600" y="5262972"/>
            <a:ext cx="2322576" cy="37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Retos</a:t>
            </a:r>
            <a:endParaRPr lang="en-US" sz="1500" dirty="0"/>
          </a:p>
        </p:txBody>
      </p:sp>
      <p:pic>
        <p:nvPicPr>
          <p:cNvPr id="21" name="Icon FaStar 294" descr="Sta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5960" y="5760812"/>
            <a:ext cx="384048" cy="384048"/>
          </a:xfrm>
          <a:prstGeom prst="rect">
            <a:avLst/>
          </a:prstGeom>
        </p:spPr>
      </p:pic>
      <p:sp>
        <p:nvSpPr>
          <p:cNvPr id="22" name="Text 295"/>
          <p:cNvSpPr txBox="1"/>
          <p:nvPr/>
        </p:nvSpPr>
        <p:spPr>
          <a:xfrm>
            <a:off x="5254600" y="5764692"/>
            <a:ext cx="2322576" cy="376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Experiencia</a:t>
            </a:r>
            <a:endParaRPr lang="en-US" sz="1500" dirty="0"/>
          </a:p>
        </p:txBody>
      </p:sp>
      <p:pic>
        <p:nvPicPr>
          <p:cNvPr id="23" name="Icon FaChevronRight 296" descr="ChevronRigh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0459" y="4246511"/>
            <a:ext cx="402336" cy="402336"/>
          </a:xfrm>
          <a:prstGeom prst="rect">
            <a:avLst/>
          </a:prstGeom>
        </p:spPr>
      </p:pic>
      <p:pic>
        <p:nvPicPr>
          <p:cNvPr id="24" name="Card 29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1759" y="2503516"/>
            <a:ext cx="3511296" cy="389728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25" name="Icon FaHeart 298" descr="Hear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1799" y="2764905"/>
            <a:ext cx="731520" cy="731520"/>
          </a:xfrm>
          <a:prstGeom prst="rect">
            <a:avLst/>
          </a:prstGeom>
        </p:spPr>
      </p:pic>
      <p:sp>
        <p:nvSpPr>
          <p:cNvPr id="26" name="Text 299"/>
          <p:cNvSpPr txBox="1"/>
          <p:nvPr/>
        </p:nvSpPr>
        <p:spPr>
          <a:xfrm>
            <a:off x="9366199" y="2772295"/>
            <a:ext cx="2048256" cy="716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Después:</a:t>
            </a:r>
            <a:endParaRPr lang="en-US" sz="2200" dirty="0"/>
          </a:p>
        </p:txBody>
      </p:sp>
      <p:sp>
        <p:nvSpPr>
          <p:cNvPr id="27" name="Text 300"/>
          <p:cNvSpPr txBox="1"/>
          <p:nvPr/>
        </p:nvSpPr>
        <p:spPr>
          <a:xfrm>
            <a:off x="8451799" y="3802611"/>
            <a:ext cx="2871216" cy="232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“Gracias Preparatoria invitada”.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shtag 301"/>
          <p:cNvSpPr txBox="1"/>
          <p:nvPr/>
        </p:nvSpPr>
        <p:spPr>
          <a:xfrm>
            <a:off x="1051560" y="91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2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Piloto</a:t>
            </a:r>
            <a:endParaRPr lang="en-US" sz="3000" dirty="0"/>
          </a:p>
        </p:txBody>
      </p:sp>
      <p:sp>
        <p:nvSpPr>
          <p:cNvPr id="4" name="Subtitle 302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Preparatoria IPEFH</a:t>
            </a:r>
            <a:endParaRPr lang="en-US" sz="1600" dirty="0"/>
          </a:p>
        </p:txBody>
      </p:sp>
      <p:pic>
        <p:nvPicPr>
          <p:cNvPr id="5" name="Card 3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3516"/>
            <a:ext cx="5396332" cy="371809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25000"/>
              </a:srgbClr>
            </a:outerShdw>
          </a:effectLst>
        </p:spPr>
      </p:pic>
      <p:pic>
        <p:nvPicPr>
          <p:cNvPr id="6" name="Icon FaCalendarDays 304" descr="CalendarD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64444"/>
            <a:ext cx="777240" cy="777240"/>
          </a:xfrm>
          <a:prstGeom prst="rect">
            <a:avLst/>
          </a:prstGeom>
        </p:spPr>
      </p:pic>
      <p:sp>
        <p:nvSpPr>
          <p:cNvPr id="7" name="Text 305"/>
          <p:cNvSpPr txBox="1"/>
          <p:nvPr/>
        </p:nvSpPr>
        <p:spPr>
          <a:xfrm>
            <a:off x="1874520" y="2772295"/>
            <a:ext cx="3841852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FECHA DE VISITA:</a:t>
            </a:r>
            <a:endParaRPr lang="en-US" sz="1300" dirty="0"/>
          </a:p>
        </p:txBody>
      </p:sp>
      <p:sp>
        <p:nvSpPr>
          <p:cNvPr id="8" name="Text 306"/>
          <p:cNvSpPr txBox="1"/>
          <p:nvPr/>
        </p:nvSpPr>
        <p:spPr>
          <a:xfrm>
            <a:off x="1874520" y="3112747"/>
            <a:ext cx="3841852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Miércoles 14 de octubre:</a:t>
            </a:r>
            <a:endParaRPr lang="en-US" sz="2200" dirty="0"/>
          </a:p>
        </p:txBody>
      </p:sp>
      <p:pic>
        <p:nvPicPr>
          <p:cNvPr id="9" name="Icon FaSchool 307" descr="Scho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87124"/>
            <a:ext cx="502920" cy="502920"/>
          </a:xfrm>
          <a:prstGeom prst="rect">
            <a:avLst/>
          </a:prstGeom>
        </p:spPr>
      </p:pic>
      <p:sp>
        <p:nvSpPr>
          <p:cNvPr id="10" name="Text 308"/>
          <p:cNvSpPr txBox="1"/>
          <p:nvPr/>
        </p:nvSpPr>
        <p:spPr>
          <a:xfrm>
            <a:off x="1600200" y="3847407"/>
            <a:ext cx="4116172" cy="58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Planteles Aeropuerto y Calimaya</a:t>
            </a:r>
            <a:endParaRPr lang="en-US" sz="1700" dirty="0"/>
          </a:p>
        </p:txBody>
      </p:sp>
      <p:sp>
        <p:nvSpPr>
          <p:cNvPr id="11" name="Text 309"/>
          <p:cNvSpPr txBox="1"/>
          <p:nvPr/>
        </p:nvSpPr>
        <p:spPr>
          <a:xfrm>
            <a:off x="914400" y="4698538"/>
            <a:ext cx="283464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Número de alumnos:</a:t>
            </a:r>
            <a:endParaRPr lang="en-US" sz="1500" dirty="0"/>
          </a:p>
        </p:txBody>
      </p:sp>
      <p:sp>
        <p:nvSpPr>
          <p:cNvPr id="12" name="Field line 310"/>
          <p:cNvSpPr/>
          <p:nvPr/>
        </p:nvSpPr>
        <p:spPr>
          <a:xfrm>
            <a:off x="3749040" y="5128583"/>
            <a:ext cx="1784452" cy="0"/>
          </a:xfrm>
          <a:prstGeom prst="line">
            <a:avLst/>
          </a:prstGeom>
          <a:noFill/>
          <a:ln w="15875">
            <a:solidFill>
              <a:srgbClr val="8FB3D9"/>
            </a:solidFill>
            <a:prstDash val="dash"/>
          </a:ln>
        </p:spPr>
      </p:sp>
      <p:pic>
        <p:nvPicPr>
          <p:cNvPr id="13" name="Card 3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724" y="2503516"/>
            <a:ext cx="5396332" cy="3718098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E2A47">
                <a:alpha val="10000"/>
              </a:srgbClr>
            </a:outerShdw>
          </a:effectLst>
        </p:spPr>
      </p:pic>
      <p:pic>
        <p:nvPicPr>
          <p:cNvPr id="14" name="Icon FaCalendarDays 312" descr="CalendarDay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484" y="2764444"/>
            <a:ext cx="777240" cy="777240"/>
          </a:xfrm>
          <a:prstGeom prst="rect">
            <a:avLst/>
          </a:prstGeom>
        </p:spPr>
      </p:pic>
      <p:sp>
        <p:nvSpPr>
          <p:cNvPr id="15" name="Text 313"/>
          <p:cNvSpPr txBox="1"/>
          <p:nvPr/>
        </p:nvSpPr>
        <p:spPr>
          <a:xfrm>
            <a:off x="7572604" y="2772295"/>
            <a:ext cx="3841852" cy="35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Segunda visita:</a:t>
            </a:r>
            <a:endParaRPr lang="en-US" sz="1300" dirty="0"/>
          </a:p>
        </p:txBody>
      </p:sp>
      <p:sp>
        <p:nvSpPr>
          <p:cNvPr id="16" name="Text 314"/>
          <p:cNvSpPr txBox="1"/>
          <p:nvPr/>
        </p:nvSpPr>
        <p:spPr>
          <a:xfrm>
            <a:off x="7572604" y="3112747"/>
            <a:ext cx="3841852" cy="447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Viernes 16 de octubre:</a:t>
            </a:r>
            <a:endParaRPr lang="en-US" sz="2200" dirty="0"/>
          </a:p>
        </p:txBody>
      </p:sp>
      <p:pic>
        <p:nvPicPr>
          <p:cNvPr id="17" name="Icon FaSchool 315" descr="Scho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484" y="3887124"/>
            <a:ext cx="502920" cy="502920"/>
          </a:xfrm>
          <a:prstGeom prst="rect">
            <a:avLst/>
          </a:prstGeom>
        </p:spPr>
      </p:pic>
      <p:sp>
        <p:nvSpPr>
          <p:cNvPr id="18" name="Text 316"/>
          <p:cNvSpPr txBox="1"/>
          <p:nvPr/>
        </p:nvSpPr>
        <p:spPr>
          <a:xfrm>
            <a:off x="7298284" y="3847407"/>
            <a:ext cx="4116172" cy="582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Plantel Toluca</a:t>
            </a:r>
            <a:endParaRPr lang="en-US" sz="1700" dirty="0"/>
          </a:p>
        </p:txBody>
      </p:sp>
      <p:sp>
        <p:nvSpPr>
          <p:cNvPr id="19" name="Text 317"/>
          <p:cNvSpPr txBox="1"/>
          <p:nvPr/>
        </p:nvSpPr>
        <p:spPr>
          <a:xfrm>
            <a:off x="6612484" y="4698538"/>
            <a:ext cx="283464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Número de alumnos:</a:t>
            </a:r>
            <a:endParaRPr lang="en-US" sz="1500" dirty="0"/>
          </a:p>
        </p:txBody>
      </p:sp>
      <p:sp>
        <p:nvSpPr>
          <p:cNvPr id="20" name="Field line 318"/>
          <p:cNvSpPr/>
          <p:nvPr/>
        </p:nvSpPr>
        <p:spPr>
          <a:xfrm>
            <a:off x="9447124" y="5128583"/>
            <a:ext cx="1784452" cy="0"/>
          </a:xfrm>
          <a:prstGeom prst="line">
            <a:avLst/>
          </a:prstGeom>
          <a:noFill/>
          <a:ln w="15875">
            <a:solidFill>
              <a:srgbClr val="B8C7D9"/>
            </a:solidFill>
            <a:prstDash val="dash"/>
          </a:ln>
        </p:spPr>
      </p:sp>
      <p:sp>
        <p:nvSpPr>
          <p:cNvPr id="21" name="Text 319"/>
          <p:cNvSpPr txBox="1"/>
          <p:nvPr/>
        </p:nvSpPr>
        <p:spPr>
          <a:xfrm>
            <a:off x="6612484" y="5460076"/>
            <a:ext cx="2834640" cy="537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Número de administrativos.</a:t>
            </a:r>
            <a:endParaRPr lang="en-US" sz="1500" dirty="0"/>
          </a:p>
        </p:txBody>
      </p:sp>
      <p:sp>
        <p:nvSpPr>
          <p:cNvPr id="22" name="Field line 320"/>
          <p:cNvSpPr/>
          <p:nvPr/>
        </p:nvSpPr>
        <p:spPr>
          <a:xfrm>
            <a:off x="9447124" y="5890121"/>
            <a:ext cx="1784452" cy="0"/>
          </a:xfrm>
          <a:prstGeom prst="line">
            <a:avLst/>
          </a:prstGeom>
          <a:noFill/>
          <a:ln w="15875">
            <a:solidFill>
              <a:srgbClr val="B8C7D9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510528"/>
            <a:ext cx="41148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  <a:latin typeface="Raleway"/>
                <a:ea typeface="Raleway"/>
                <a:cs typeface="Raleway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tro background 321" descr="Campus Universidad Westh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 Westhill 3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12" y="-384048"/>
            <a:ext cx="1316736" cy="1581441"/>
          </a:xfrm>
          <a:prstGeom prst="rect">
            <a:avLst/>
          </a:prstGeom>
        </p:spPr>
      </p:pic>
      <p:sp>
        <p:nvSpPr>
          <p:cNvPr id="4" name="Hashtag 323"/>
          <p:cNvSpPr txBox="1"/>
          <p:nvPr/>
        </p:nvSpPr>
        <p:spPr>
          <a:xfrm>
            <a:off x="8412480" y="635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</a:t>
            </a:r>
            <a:endParaRPr lang="en-US" sz="1700" dirty="0"/>
          </a:p>
        </p:txBody>
      </p:sp>
      <p:sp>
        <p:nvSpPr>
          <p:cNvPr id="5" name="Closing headline 324"/>
          <p:cNvSpPr txBox="1"/>
          <p:nvPr/>
        </p:nvSpPr>
        <p:spPr>
          <a:xfrm>
            <a:off x="4114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#SOMOSWESTHILL</a:t>
            </a:r>
            <a:endParaRPr lang="en-US" sz="3600" dirty="0"/>
          </a:p>
        </p:txBody>
      </p:sp>
      <p:sp>
        <p:nvSpPr>
          <p:cNvPr id="6" name="Closing line 1 325"/>
          <p:cNvSpPr txBox="1"/>
          <p:nvPr/>
        </p:nvSpPr>
        <p:spPr>
          <a:xfrm>
            <a:off x="411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Westhill 360°</a:t>
            </a:r>
            <a:endParaRPr lang="en-US" sz="2000" dirty="0"/>
          </a:p>
        </p:txBody>
      </p:sp>
      <p:sp>
        <p:nvSpPr>
          <p:cNvPr id="7" name="Closing line 2 326"/>
          <p:cNvSpPr txBox="1"/>
          <p:nvPr/>
        </p:nvSpPr>
        <p:spPr>
          <a:xfrm>
            <a:off x="4114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 de preparatorias</a:t>
            </a:r>
            <a:endParaRPr lang="en-US" sz="1700" dirty="0"/>
          </a:p>
        </p:txBody>
      </p:sp>
      <p:sp>
        <p:nvSpPr>
          <p:cNvPr id="8" name="Handle 327"/>
          <p:cNvSpPr txBox="1"/>
          <p:nvPr/>
        </p:nvSpPr>
        <p:spPr>
          <a:xfrm>
            <a:off x="1371600" y="4160520"/>
            <a:ext cx="2651760" cy="51206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tx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@univwesthill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esthill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4A90C8"/>
      </a:accent3>
      <a:accent4>
        <a:srgbClr val="163A5F"/>
      </a:accent4>
      <a:accent5>
        <a:srgbClr val="8FB3D9"/>
      </a:accent5>
      <a:accent6>
        <a:srgbClr val="5B6B7D"/>
      </a:accent6>
      <a:hlink>
        <a:srgbClr val="266294"/>
      </a:hlink>
      <a:folHlink>
        <a:srgbClr val="163A5F"/>
      </a:folHlink>
    </a:clrScheme>
    <a:fontScheme name="Office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Westhill 360° · Visita de preparatorias</dc:title>
  <dc:subject>PptxGenJS Presentation</dc:subject>
  <dc:creator>Universidad Westhill</dc:creator>
  <cp:lastModifiedBy>Universidad Westhill</cp:lastModifiedBy>
  <cp:revision>1</cp:revision>
  <dcterms:created xsi:type="dcterms:W3CDTF">2026-10-05T21:11:54Z</dcterms:created>
  <dcterms:modified xsi:type="dcterms:W3CDTF">2026-10-05T21:11:54Z</dcterms:modified>
</cp:coreProperties>
</file>
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031638ae-5eeb-12bf-fbb0-b63b2e92a25a}">
          <p14:sldIdLst>
            <p14:sldId id="256"/>
          </p14:sldIdLst>
        </p14:section>
        <p14:section name="La propuesta" id="{84d45f8e-6941-df40-3cc0-47cdf28eb13b}">
          <p14:sldIdLst>
            <p14:sldId id="257"/>
            <p14:sldId id="258"/>
            <p14:sldId id="259"/>
            <p14:sldId id="260"/>
            <p14:sldId id="261"/>
          </p14:sldIdLst>
        </p14:section>
        <p14:section name="El formato" id="{14bd2e4d-542c-7654-52bf-b1431d91994c}">
          <p14:sldIdLst>
            <p14:sldId id="262"/>
            <p14:sldId id="263"/>
            <p14:sldId id="264"/>
            <p14:sldId id="265"/>
            <p14:sldId id="266"/>
            <p14:sldId id="267"/>
          </p14:sldIdLst>
        </p14:section>
        <p14:section name="Resultados" id="{eae79e73-f5b5-076a-5c63-5d666ac334b7}">
          <p14:sldIdLst>
            <p14:sldId id="268"/>
            <p14:sldId id="269"/>
            <p14:sldId id="270"/>
            <p14:sldId id="271"/>
            <p14:sldId id="272"/>
          </p14:sldIdLst>
        </p14:section>
        <p14:section name="Cierre" id="{700b46dd-5e59-7078-9848-87b7986d6000}">
          <p14:sldIdLst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960120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6943" y="-36576"/>
            <a:ext cx="896112" cy="107625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351215" y="6510528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esthill Intr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2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image" Target="../media/image-4-9.png"/><Relationship Id="rId10" Type="http://schemas.openxmlformats.org/officeDocument/2006/relationships/image" Target="../media/image-4-10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image" Target="../media/image-4-13.png"/><Relationship Id="rId14" Type="http://schemas.openxmlformats.org/officeDocument/2006/relationships/image" Target="../media/image-4-14.png"/><Relationship Id="rId15" Type="http://schemas.openxmlformats.org/officeDocument/2006/relationships/image" Target="../media/image-4-15.png"/><Relationship Id="rId16" Type="http://schemas.openxmlformats.org/officeDocument/2006/relationships/slideLayout" Target="../slideLayouts/slideLayout2.xml"/><Relationship Id="rId1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image" Target="../media/image-5-9.png"/><Relationship Id="rId10" Type="http://schemas.openxmlformats.org/officeDocument/2006/relationships/image" Target="../media/image-5-10.png"/><Relationship Id="rId11" Type="http://schemas.openxmlformats.org/officeDocument/2006/relationships/image" Target="../media/image-5-11.png"/><Relationship Id="rId12" Type="http://schemas.openxmlformats.org/officeDocument/2006/relationships/image" Target="../media/image-5-12.png"/><Relationship Id="rId13" Type="http://schemas.openxmlformats.org/officeDocument/2006/relationships/image" Target="../media/image-5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5" Type="http://schemas.openxmlformats.org/officeDocument/2006/relationships/image" Target="../media/image-8-15.png"/><Relationship Id="rId16" Type="http://schemas.openxmlformats.org/officeDocument/2006/relationships/image" Target="../media/image-8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image" Target="../media/image-9-5.png"/><Relationship Id="rId6" Type="http://schemas.openxmlformats.org/officeDocument/2006/relationships/image" Target="../media/image-9-6.png"/><Relationship Id="rId7" Type="http://schemas.openxmlformats.org/officeDocument/2006/relationships/image" Target="../media/image-9-7.png"/><Relationship Id="rId8" Type="http://schemas.openxmlformats.org/officeDocument/2006/relationships/image" Target="../media/image-9-8.png"/><Relationship Id="rId9" Type="http://schemas.openxmlformats.org/officeDocument/2006/relationships/image" Target="../media/image-9-9.png"/><Relationship Id="rId10" Type="http://schemas.openxmlformats.org/officeDocument/2006/relationships/image" Target="../media/image-9-10.png"/><Relationship Id="rId11" Type="http://schemas.openxmlformats.org/officeDocument/2006/relationships/image" Target="../media/image-9-11.png"/><Relationship Id="rId12" Type="http://schemas.openxmlformats.org/officeDocument/2006/relationships/image" Target="../media/image-9-12.png"/><Relationship Id="rId13" Type="http://schemas.openxmlformats.org/officeDocument/2006/relationships/image" Target="../media/image-9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image" Target="../media/image-12-9.png"/><Relationship Id="rId10" Type="http://schemas.openxmlformats.org/officeDocument/2006/relationships/image" Target="../media/image-12-10.png"/><Relationship Id="rId11" Type="http://schemas.openxmlformats.org/officeDocument/2006/relationships/image" Target="../media/image-12-11.png"/><Relationship Id="rId12" Type="http://schemas.openxmlformats.org/officeDocument/2006/relationships/slideLayout" Target="../slideLayouts/slideLayout2.xml"/><Relationship Id="rId1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image" Target="../media/image-14-9.png"/><Relationship Id="rId10" Type="http://schemas.openxmlformats.org/officeDocument/2006/relationships/image" Target="../media/image-14-10.png"/><Relationship Id="rId11" Type="http://schemas.openxmlformats.org/officeDocument/2006/relationships/image" Target="../media/image-14-11.png"/><Relationship Id="rId12" Type="http://schemas.openxmlformats.org/officeDocument/2006/relationships/image" Target="../media/image-14-12.png"/><Relationship Id="rId13" Type="http://schemas.openxmlformats.org/officeDocument/2006/relationships/image" Target="../media/image-14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image" Target="../media/image-16-10.png"/><Relationship Id="rId11" Type="http://schemas.openxmlformats.org/officeDocument/2006/relationships/image" Target="../media/image-16-11.png"/><Relationship Id="rId12" Type="http://schemas.openxmlformats.org/officeDocument/2006/relationships/image" Target="../media/image-16-12.png"/><Relationship Id="rId13" Type="http://schemas.openxmlformats.org/officeDocument/2006/relationships/image" Target="../media/image-16-13.pn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Cover title 4"/>
          <p:cNvSpPr txBox="1"/>
          <p:nvPr/>
        </p:nvSpPr>
        <p:spPr>
          <a:xfrm>
            <a:off x="411480" y="2377440"/>
            <a:ext cx="4572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 DE PREPARATORIAS</a:t>
            </a:r>
            <a:endParaRPr lang="en-US" sz="3800" dirty="0"/>
          </a:p>
        </p:txBody>
      </p:sp>
      <p:sp>
        <p:nvSpPr>
          <p:cNvPr id="6" name="Cover date 5"/>
          <p:cNvSpPr txBox="1"/>
          <p:nvPr/>
        </p:nvSpPr>
        <p:spPr>
          <a:xfrm>
            <a:off x="411480" y="393192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AGOSTO 2027</a:t>
            </a:r>
            <a:endParaRPr lang="en-US" sz="2600" dirty="0"/>
          </a:p>
        </p:txBody>
      </p:sp>
      <p:sp>
        <p:nvSpPr>
          <p:cNvPr id="7" name="Cover program 6"/>
          <p:cNvSpPr txBox="1"/>
          <p:nvPr/>
        </p:nvSpPr>
        <p:spPr>
          <a:xfrm>
            <a:off x="411480" y="44348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  360°</a:t>
            </a:r>
            <a:endParaRPr lang="en-US" sz="32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7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9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10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8800" dirty="0"/>
          </a:p>
        </p:txBody>
      </p:sp>
      <p:sp>
        <p:nvSpPr>
          <p:cNvPr id="6" name="Section kicker 11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12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3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sí recibir escuelas?</a:t>
            </a:r>
            <a:endParaRPr lang="en-US" sz="3000" dirty="0"/>
          </a:p>
        </p:txBody>
      </p:sp>
      <p:sp>
        <p:nvSpPr>
          <p:cNvPr id="4" name="Text 14"/>
          <p:cNvSpPr txBox="1"/>
          <p:nvPr/>
        </p:nvSpPr>
        <p:spPr>
          <a:xfrm>
            <a:off x="548640" y="1965960"/>
            <a:ext cx="11094415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Porque tenemos la oportunidad de llevar el proceso de decisión al lugar donde Westhill puede mostrar su mayor fortaleza:</a:t>
            </a:r>
            <a:endParaRPr lang="en-US" sz="1600" dirty="0"/>
          </a:p>
        </p:txBody>
      </p:sp>
      <p:pic>
        <p:nvPicPr>
          <p:cNvPr id="5" name="Card 1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93109"/>
            <a:ext cx="4114800" cy="15678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MobileScreen 16" descr="MobileScre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811087"/>
            <a:ext cx="594360" cy="594360"/>
          </a:xfrm>
          <a:prstGeom prst="rect">
            <a:avLst/>
          </a:prstGeom>
        </p:spPr>
      </p:pic>
      <p:sp>
        <p:nvSpPr>
          <p:cNvPr id="7" name="Text 17"/>
          <p:cNvSpPr txBox="1"/>
          <p:nvPr/>
        </p:nvSpPr>
        <p:spPr>
          <a:xfrm>
            <a:off x="1600200" y="2727498"/>
            <a:ext cx="2880360" cy="12990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alumno puede ver una publicación, recibir un mensaje y visitar una feria.</a:t>
            </a:r>
            <a:endParaRPr lang="en-US" sz="1400" dirty="0"/>
          </a:p>
        </p:txBody>
      </p:sp>
      <p:pic>
        <p:nvPicPr>
          <p:cNvPr id="8" name="Card 1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2593109"/>
            <a:ext cx="6751015" cy="156787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9" name="Icon FaBuildingColumns 19" descr="BuildingColumns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2811087"/>
            <a:ext cx="594360" cy="594360"/>
          </a:xfrm>
          <a:prstGeom prst="rect">
            <a:avLst/>
          </a:prstGeom>
        </p:spPr>
      </p:pic>
      <p:sp>
        <p:nvSpPr>
          <p:cNvPr id="10" name="Text 20"/>
          <p:cNvSpPr txBox="1"/>
          <p:nvPr/>
        </p:nvSpPr>
        <p:spPr>
          <a:xfrm>
            <a:off x="5943600" y="2682702"/>
            <a:ext cx="5516575" cy="13886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Pero cuando entra a Westhill, experimenta una carrera, convive con directores, maestros y alumnos el beneficio es que se convierte en una posibilidad real creando más seguridad en su elección.</a:t>
            </a:r>
            <a:endParaRPr lang="en-US" sz="1400" dirty="0"/>
          </a:p>
        </p:txBody>
      </p:sp>
      <p:pic>
        <p:nvPicPr>
          <p:cNvPr id="11" name="Card 21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4340167"/>
            <a:ext cx="11094415" cy="895927"/>
          </a:xfrm>
          <a:prstGeom prst="rect">
            <a:avLst/>
          </a:prstGeom>
        </p:spPr>
      </p:pic>
      <p:pic>
        <p:nvPicPr>
          <p:cNvPr id="12" name="Icon FaQuoteLeft 22" descr="QuoteLef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2960" y="4513811"/>
            <a:ext cx="548640" cy="548640"/>
          </a:xfrm>
          <a:prstGeom prst="rect">
            <a:avLst/>
          </a:prstGeom>
        </p:spPr>
      </p:pic>
      <p:sp>
        <p:nvSpPr>
          <p:cNvPr id="13" name="Text 23"/>
          <p:cNvSpPr txBox="1"/>
          <p:nvPr/>
        </p:nvSpPr>
        <p:spPr>
          <a:xfrm>
            <a:off x="1554480" y="4384964"/>
            <a:ext cx="9905695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resultado de estas visitas es que los alumnos salgan pensando: </a:t>
            </a:r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“Aquí quiero estudiar”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 y además, que el colegio quiera repetir la experiencia.</a:t>
            </a:r>
            <a:endParaRPr lang="en-US" sz="1500" dirty="0"/>
          </a:p>
        </p:txBody>
      </p:sp>
      <p:pic>
        <p:nvPicPr>
          <p:cNvPr id="14" name="Card 24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8640" y="5415280"/>
            <a:ext cx="11094415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5" name="Icon FaLightbulb 25" descr="Lightbulb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2960" y="5588924"/>
            <a:ext cx="548640" cy="548640"/>
          </a:xfrm>
          <a:prstGeom prst="rect">
            <a:avLst/>
          </a:prstGeom>
        </p:spPr>
      </p:pic>
      <p:sp>
        <p:nvSpPr>
          <p:cNvPr id="16" name="Text 26"/>
          <p:cNvSpPr txBox="1"/>
          <p:nvPr/>
        </p:nvSpPr>
        <p:spPr>
          <a:xfrm>
            <a:off x="1554480" y="5460076"/>
            <a:ext cx="9905695" cy="8959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concreta de admisiones es crear una experiencia que conecte al alumno con su vocación, con nuestros directores, maestros, alumnos y vivan el ambiente real de Westhill.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10" grpId="0" animBg="1"/>
      <p:bldP spid="13" grpId="0" animBg="1"/>
      <p:bldP spid="16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 360°</a:t>
            </a:r>
            <a:endParaRPr lang="en-US" sz="3000" dirty="0"/>
          </a:p>
        </p:txBody>
      </p:sp>
      <p:sp>
        <p:nvSpPr>
          <p:cNvPr id="4" name="Text 28"/>
          <p:cNvSpPr txBox="1"/>
          <p:nvPr/>
        </p:nvSpPr>
        <p:spPr>
          <a:xfrm>
            <a:off x="548640" y="1965960"/>
            <a:ext cx="11094415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i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“Tu futuro empieza cuando lo experimentas”.</a:t>
            </a:r>
            <a:endParaRPr lang="en-US" sz="2400" dirty="0"/>
          </a:p>
        </p:txBody>
      </p:sp>
      <p:sp>
        <p:nvSpPr>
          <p:cNvPr id="5" name="Text 29"/>
          <p:cNvSpPr txBox="1"/>
          <p:nvPr/>
        </p:nvSpPr>
        <p:spPr>
          <a:xfrm>
            <a:off x="548640" y="2485598"/>
            <a:ext cx="11094415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Propuesta de admisiones para transformar las visitas escolares en estrategia de captación y conversión.</a:t>
            </a:r>
            <a:endParaRPr lang="en-US" sz="1500" dirty="0"/>
          </a:p>
        </p:txBody>
      </p:sp>
      <p:pic>
        <p:nvPicPr>
          <p:cNvPr id="6" name="Card 3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996276"/>
            <a:ext cx="4069080" cy="340452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7" name="Watermark FaBullseye 3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54680" y="4864331"/>
            <a:ext cx="1325880" cy="1325880"/>
          </a:xfrm>
          <a:prstGeom prst="rect">
            <a:avLst/>
          </a:prstGeom>
        </p:spPr>
      </p:pic>
      <p:pic>
        <p:nvPicPr>
          <p:cNvPr id="8" name="Icon FaBullseye 32" descr="Bullsey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258127"/>
            <a:ext cx="685800" cy="685800"/>
          </a:xfrm>
          <a:prstGeom prst="rect">
            <a:avLst/>
          </a:prstGeom>
        </p:spPr>
      </p:pic>
      <p:sp>
        <p:nvSpPr>
          <p:cNvPr id="9" name="Text 33"/>
          <p:cNvSpPr txBox="1"/>
          <p:nvPr/>
        </p:nvSpPr>
        <p:spPr>
          <a:xfrm>
            <a:off x="1737360" y="3265055"/>
            <a:ext cx="2651760" cy="671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OBJETIVO:</a:t>
            </a:r>
            <a:endParaRPr lang="en-US" sz="1600" dirty="0"/>
          </a:p>
        </p:txBody>
      </p:sp>
      <p:sp>
        <p:nvSpPr>
          <p:cNvPr id="10" name="Text 34"/>
          <p:cNvSpPr txBox="1"/>
          <p:nvPr/>
        </p:nvSpPr>
        <p:spPr>
          <a:xfrm>
            <a:off x="868680" y="4116185"/>
            <a:ext cx="3474720" cy="12542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una conexión emocional alumno-Universidad Westhill que permita:</a:t>
            </a:r>
            <a:endParaRPr lang="en-US" sz="1700" dirty="0"/>
          </a:p>
        </p:txBody>
      </p:sp>
      <p:pic>
        <p:nvPicPr>
          <p:cNvPr id="11" name="Card 3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6320" y="2996276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2" name="Icon FaLightbulb 36" descr="Lightbulb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3214716"/>
            <a:ext cx="548640" cy="548640"/>
          </a:xfrm>
          <a:prstGeom prst="rect">
            <a:avLst/>
          </a:prstGeom>
        </p:spPr>
      </p:pic>
      <p:sp>
        <p:nvSpPr>
          <p:cNvPr id="13" name="Text 37"/>
          <p:cNvSpPr txBox="1"/>
          <p:nvPr/>
        </p:nvSpPr>
        <p:spPr>
          <a:xfrm>
            <a:off x="5742432" y="3067951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Despertar vocaciones.</a:t>
            </a:r>
            <a:endParaRPr lang="en-US" sz="1400" dirty="0"/>
          </a:p>
        </p:txBody>
      </p:sp>
      <p:pic>
        <p:nvPicPr>
          <p:cNvPr id="14" name="Card 3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58988" y="2996276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5" name="Icon FaChalkboardUser 39" descr="ChalkboardUse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60156" y="3214716"/>
            <a:ext cx="548640" cy="548640"/>
          </a:xfrm>
          <a:prstGeom prst="rect">
            <a:avLst/>
          </a:prstGeom>
        </p:spPr>
      </p:pic>
      <p:sp>
        <p:nvSpPr>
          <p:cNvPr id="16" name="Text 40"/>
          <p:cNvSpPr txBox="1"/>
          <p:nvPr/>
        </p:nvSpPr>
        <p:spPr>
          <a:xfrm>
            <a:off x="9255100" y="3067951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Presentar las licenciaturas de manera práctica.</a:t>
            </a:r>
            <a:endParaRPr lang="en-US" sz="1400" dirty="0"/>
          </a:p>
        </p:txBody>
      </p:sp>
      <p:pic>
        <p:nvPicPr>
          <p:cNvPr id="17" name="Card 41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46320" y="4205778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8" name="Icon FaBuildingColumns 42" descr="BuildingColumns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47488" y="4424218"/>
            <a:ext cx="548640" cy="548640"/>
          </a:xfrm>
          <a:prstGeom prst="rect">
            <a:avLst/>
          </a:prstGeom>
        </p:spPr>
      </p:pic>
      <p:sp>
        <p:nvSpPr>
          <p:cNvPr id="19" name="Text 43"/>
          <p:cNvSpPr txBox="1"/>
          <p:nvPr/>
        </p:nvSpPr>
        <p:spPr>
          <a:xfrm>
            <a:off x="5742432" y="4277452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Vivir el ambiente universitario.</a:t>
            </a:r>
            <a:endParaRPr lang="en-US" sz="1400" dirty="0"/>
          </a:p>
        </p:txBody>
      </p:sp>
      <p:pic>
        <p:nvPicPr>
          <p:cNvPr id="20" name="Card 44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58988" y="4205778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1" name="Icon FaPeopleGroup 45" descr="PeopleGroup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560156" y="4424218"/>
            <a:ext cx="548640" cy="548640"/>
          </a:xfrm>
          <a:prstGeom prst="rect">
            <a:avLst/>
          </a:prstGeom>
        </p:spPr>
      </p:pic>
      <p:sp>
        <p:nvSpPr>
          <p:cNvPr id="22" name="Text 46"/>
          <p:cNvSpPr txBox="1"/>
          <p:nvPr/>
        </p:nvSpPr>
        <p:spPr>
          <a:xfrm>
            <a:off x="9255100" y="4277452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Convivir con Directores, profesores y alumnos.</a:t>
            </a:r>
            <a:endParaRPr lang="en-US" sz="1400" dirty="0"/>
          </a:p>
        </p:txBody>
      </p:sp>
      <p:pic>
        <p:nvPicPr>
          <p:cNvPr id="23" name="Card 47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46320" y="5415280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4" name="Icon FaUserCheck 48" descr="UserCheck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047488" y="5633720"/>
            <a:ext cx="548640" cy="548640"/>
          </a:xfrm>
          <a:prstGeom prst="rect">
            <a:avLst/>
          </a:prstGeom>
        </p:spPr>
      </p:pic>
      <p:sp>
        <p:nvSpPr>
          <p:cNvPr id="25" name="Text 49"/>
          <p:cNvSpPr txBox="1"/>
          <p:nvPr/>
        </p:nvSpPr>
        <p:spPr>
          <a:xfrm>
            <a:off x="5742432" y="5486954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Generar prospectos calificados.</a:t>
            </a:r>
            <a:endParaRPr lang="en-US" sz="1400" dirty="0"/>
          </a:p>
        </p:txBody>
      </p:sp>
      <p:pic>
        <p:nvPicPr>
          <p:cNvPr id="26" name="Card 50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358988" y="5415280"/>
            <a:ext cx="3284068" cy="98552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7" name="Icon FaHeadset 51" descr="Headset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560156" y="5633720"/>
            <a:ext cx="548640" cy="548640"/>
          </a:xfrm>
          <a:prstGeom prst="rect">
            <a:avLst/>
          </a:prstGeom>
        </p:spPr>
      </p:pic>
      <p:sp>
        <p:nvSpPr>
          <p:cNvPr id="28" name="Text 52"/>
          <p:cNvSpPr txBox="1"/>
          <p:nvPr/>
        </p:nvSpPr>
        <p:spPr>
          <a:xfrm>
            <a:off x="9255100" y="5486954"/>
            <a:ext cx="2232508" cy="8421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Dar seguimiento personalizado desde Admisiones.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9" grpId="0" animBg="1"/>
      <p:bldP spid="10" grpId="0" animBg="1"/>
      <p:bldP spid="13" grpId="0" animBg="1"/>
      <p:bldP spid="16" grpId="0" animBg="1"/>
      <p:bldP spid="19" grpId="0" animBg="1"/>
      <p:bldP spid="22" grpId="0" animBg="1"/>
      <p:bldP spid="25" grpId="0" animBg="1"/>
      <p:bldP spid="2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53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¿Por qué la experiencia puede generar conversión?</a:t>
            </a:r>
            <a:endParaRPr lang="en-US" sz="3000" dirty="0"/>
          </a:p>
        </p:txBody>
      </p:sp>
      <p:sp>
        <p:nvSpPr>
          <p:cNvPr id="4" name="Subtitle 54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experiencia busca llevar al alumno por cuatro momentos:</a:t>
            </a:r>
            <a:endParaRPr lang="en-US" sz="1600" dirty="0"/>
          </a:p>
        </p:txBody>
      </p:sp>
      <p:pic>
        <p:nvPicPr>
          <p:cNvPr id="5" name="Card 55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58720"/>
            <a:ext cx="2514600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6" name="Text 56"/>
          <p:cNvSpPr txBox="1"/>
          <p:nvPr/>
        </p:nvSpPr>
        <p:spPr>
          <a:xfrm>
            <a:off x="822960" y="2682702"/>
            <a:ext cx="1097280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3600" dirty="0"/>
          </a:p>
        </p:txBody>
      </p:sp>
      <p:pic>
        <p:nvPicPr>
          <p:cNvPr id="7" name="Icon FaEye 57" descr="Ey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2657579"/>
            <a:ext cx="713232" cy="713232"/>
          </a:xfrm>
          <a:prstGeom prst="rect">
            <a:avLst/>
          </a:prstGeom>
        </p:spPr>
      </p:pic>
      <p:sp>
        <p:nvSpPr>
          <p:cNvPr id="8" name="Text 58"/>
          <p:cNvSpPr txBox="1"/>
          <p:nvPr/>
        </p:nvSpPr>
        <p:spPr>
          <a:xfrm>
            <a:off x="822960" y="3489036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</a:t>
            </a:r>
            <a:endParaRPr lang="en-US" sz="1900" dirty="0"/>
          </a:p>
        </p:txBody>
      </p:sp>
      <p:sp>
        <p:nvSpPr>
          <p:cNvPr id="9" name="Text 59"/>
          <p:cNvSpPr txBox="1"/>
          <p:nvPr/>
        </p:nvSpPr>
        <p:spPr>
          <a:xfrm>
            <a:off x="822960" y="3937000"/>
            <a:ext cx="205740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Conoce la Universidad, sus espacios y su oferta académica.</a:t>
            </a:r>
            <a:endParaRPr lang="en-US" sz="1350" dirty="0"/>
          </a:p>
        </p:txBody>
      </p:sp>
      <p:pic>
        <p:nvPicPr>
          <p:cNvPr id="10" name="Icon FaChevronRight 60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4741" y="3753751"/>
            <a:ext cx="402336" cy="402336"/>
          </a:xfrm>
          <a:prstGeom prst="rect">
            <a:avLst/>
          </a:prstGeom>
        </p:spPr>
      </p:pic>
      <p:pic>
        <p:nvPicPr>
          <p:cNvPr id="11" name="Card 6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8578" y="2458720"/>
            <a:ext cx="2514600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2" name="Text 62"/>
          <p:cNvSpPr txBox="1"/>
          <p:nvPr/>
        </p:nvSpPr>
        <p:spPr>
          <a:xfrm>
            <a:off x="3682898" y="2682702"/>
            <a:ext cx="1097280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3600" dirty="0"/>
          </a:p>
        </p:txBody>
      </p:sp>
      <p:pic>
        <p:nvPicPr>
          <p:cNvPr id="13" name="Icon FaHandPointer 63" descr="HandPoint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17338" y="2657579"/>
            <a:ext cx="713232" cy="713232"/>
          </a:xfrm>
          <a:prstGeom prst="rect">
            <a:avLst/>
          </a:prstGeom>
        </p:spPr>
      </p:pic>
      <p:sp>
        <p:nvSpPr>
          <p:cNvPr id="14" name="Text 64"/>
          <p:cNvSpPr txBox="1"/>
          <p:nvPr/>
        </p:nvSpPr>
        <p:spPr>
          <a:xfrm>
            <a:off x="3682898" y="3489036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EXPERIMENTA</a:t>
            </a:r>
            <a:endParaRPr lang="en-US" sz="1900" dirty="0"/>
          </a:p>
        </p:txBody>
      </p:sp>
      <p:sp>
        <p:nvSpPr>
          <p:cNvPr id="15" name="Text 65"/>
          <p:cNvSpPr txBox="1"/>
          <p:nvPr/>
        </p:nvSpPr>
        <p:spPr>
          <a:xfrm>
            <a:off x="3682898" y="3937000"/>
            <a:ext cx="205740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una actividad donde se convierte en el protagonista de la historia relacionada con la licenciatura de su interés.</a:t>
            </a:r>
            <a:endParaRPr lang="en-US" sz="1350" dirty="0"/>
          </a:p>
        </p:txBody>
      </p:sp>
      <p:pic>
        <p:nvPicPr>
          <p:cNvPr id="16" name="Icon FaChevronRight 66" descr="Chevron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94680" y="3753751"/>
            <a:ext cx="402336" cy="402336"/>
          </a:xfrm>
          <a:prstGeom prst="rect">
            <a:avLst/>
          </a:prstGeom>
        </p:spPr>
      </p:pic>
      <p:pic>
        <p:nvPicPr>
          <p:cNvPr id="17" name="Card 6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68517" y="2458720"/>
            <a:ext cx="2514600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8" name="Text 68"/>
          <p:cNvSpPr txBox="1"/>
          <p:nvPr/>
        </p:nvSpPr>
        <p:spPr>
          <a:xfrm>
            <a:off x="6542837" y="2682702"/>
            <a:ext cx="1097280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3600" dirty="0"/>
          </a:p>
        </p:txBody>
      </p:sp>
      <p:pic>
        <p:nvPicPr>
          <p:cNvPr id="19" name="Icon FaMagnifyingGlass 69" descr="MagnifyingGlas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7277" y="2657579"/>
            <a:ext cx="713232" cy="713232"/>
          </a:xfrm>
          <a:prstGeom prst="rect">
            <a:avLst/>
          </a:prstGeom>
        </p:spPr>
      </p:pic>
      <p:sp>
        <p:nvSpPr>
          <p:cNvPr id="20" name="Text 70"/>
          <p:cNvSpPr txBox="1"/>
          <p:nvPr/>
        </p:nvSpPr>
        <p:spPr>
          <a:xfrm>
            <a:off x="6542837" y="3489036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IDENTIFICA</a:t>
            </a:r>
            <a:endParaRPr lang="en-US" sz="1900" dirty="0"/>
          </a:p>
        </p:txBody>
      </p:sp>
      <p:sp>
        <p:nvSpPr>
          <p:cNvPr id="21" name="Text 71"/>
          <p:cNvSpPr txBox="1"/>
          <p:nvPr/>
        </p:nvSpPr>
        <p:spPr>
          <a:xfrm>
            <a:off x="6542837" y="3937000"/>
            <a:ext cx="205740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Descubre sus habilidades.</a:t>
            </a:r>
            <a:endParaRPr lang="en-US" sz="1350" dirty="0"/>
          </a:p>
        </p:txBody>
      </p:sp>
      <p:pic>
        <p:nvPicPr>
          <p:cNvPr id="22" name="Icon FaChevronRight 72" descr="ChevronRigh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754618" y="3753751"/>
            <a:ext cx="402336" cy="402336"/>
          </a:xfrm>
          <a:prstGeom prst="rect">
            <a:avLst/>
          </a:prstGeom>
        </p:spPr>
      </p:pic>
      <p:pic>
        <p:nvPicPr>
          <p:cNvPr id="23" name="Card 73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28455" y="2458720"/>
            <a:ext cx="2514600" cy="3001356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24" name="Text 74"/>
          <p:cNvSpPr txBox="1"/>
          <p:nvPr/>
        </p:nvSpPr>
        <p:spPr>
          <a:xfrm>
            <a:off x="9402775" y="2682702"/>
            <a:ext cx="1097280" cy="62714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04</a:t>
            </a:r>
            <a:endParaRPr lang="en-US" sz="3600" dirty="0"/>
          </a:p>
        </p:txBody>
      </p:sp>
      <p:pic>
        <p:nvPicPr>
          <p:cNvPr id="25" name="Icon FaFlagCheckered 75" descr="FlagCheckered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37215" y="2657579"/>
            <a:ext cx="713232" cy="713232"/>
          </a:xfrm>
          <a:prstGeom prst="rect">
            <a:avLst/>
          </a:prstGeom>
        </p:spPr>
      </p:pic>
      <p:sp>
        <p:nvSpPr>
          <p:cNvPr id="26" name="Text 76"/>
          <p:cNvSpPr txBox="1"/>
          <p:nvPr/>
        </p:nvSpPr>
        <p:spPr>
          <a:xfrm>
            <a:off x="9402775" y="3489036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DECIDE</a:t>
            </a:r>
            <a:endParaRPr lang="en-US" sz="1900" dirty="0"/>
          </a:p>
        </p:txBody>
      </p:sp>
      <p:sp>
        <p:nvSpPr>
          <p:cNvPr id="27" name="Text 77"/>
          <p:cNvSpPr txBox="1"/>
          <p:nvPr/>
        </p:nvSpPr>
        <p:spPr>
          <a:xfrm>
            <a:off x="9402775" y="3937000"/>
            <a:ext cx="2057400" cy="14334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Obtiene mayor seguridad para continuar su proceso de admisiones.</a:t>
            </a:r>
            <a:endParaRPr lang="en-US" sz="1350" dirty="0"/>
          </a:p>
        </p:txBody>
      </p:sp>
      <p:pic>
        <p:nvPicPr>
          <p:cNvPr id="28" name="Card 78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48640" y="5684058"/>
            <a:ext cx="11094415" cy="71674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29" name="Icon FaRocket 79" descr="Rocke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" y="5786397"/>
            <a:ext cx="512064" cy="512064"/>
          </a:xfrm>
          <a:prstGeom prst="rect">
            <a:avLst/>
          </a:prstGeom>
        </p:spPr>
      </p:pic>
      <p:sp>
        <p:nvSpPr>
          <p:cNvPr id="30" name="Text 80"/>
          <p:cNvSpPr txBox="1"/>
          <p:nvPr/>
        </p:nvSpPr>
        <p:spPr>
          <a:xfrm>
            <a:off x="1508760" y="5684058"/>
            <a:ext cx="9905695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conversión comienza antes de hablar de inscripción.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2" grpId="0" animBg="1"/>
      <p:bldP spid="14" grpId="0" animBg="1"/>
      <p:bldP spid="15" grpId="0" animBg="1"/>
      <p:bldP spid="18" grpId="0" animBg="1"/>
      <p:bldP spid="20" grpId="0" animBg="1"/>
      <p:bldP spid="21" grpId="0" animBg="1"/>
      <p:bldP spid="24" grpId="0" animBg="1"/>
      <p:bldP spid="26" grpId="0" animBg="1"/>
      <p:bldP spid="27" grpId="0" animBg="1"/>
      <p:bldP spid="3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8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Inversión</a:t>
            </a:r>
            <a:endParaRPr lang="en-US" sz="3000" dirty="0"/>
          </a:p>
        </p:txBody>
      </p:sp>
      <p:sp>
        <p:nvSpPr>
          <p:cNvPr id="4" name="Subtitle 82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contempla tres grandes rubros:</a:t>
            </a:r>
            <a:endParaRPr lang="en-US" sz="1600" dirty="0"/>
          </a:p>
        </p:txBody>
      </p:sp>
      <p:pic>
        <p:nvPicPr>
          <p:cNvPr id="5" name="Card 8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03516"/>
            <a:ext cx="3511296" cy="376289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Bus 84" descr="Bu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807855"/>
            <a:ext cx="914400" cy="914400"/>
          </a:xfrm>
          <a:prstGeom prst="rect">
            <a:avLst/>
          </a:prstGeom>
        </p:spPr>
      </p:pic>
      <p:sp>
        <p:nvSpPr>
          <p:cNvPr id="7" name="Text 85"/>
          <p:cNvSpPr txBox="1"/>
          <p:nvPr/>
        </p:nvSpPr>
        <p:spPr>
          <a:xfrm>
            <a:off x="914400" y="3892204"/>
            <a:ext cx="137160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86"/>
          <p:cNvSpPr txBox="1"/>
          <p:nvPr/>
        </p:nvSpPr>
        <p:spPr>
          <a:xfrm>
            <a:off x="914400" y="4340167"/>
            <a:ext cx="277977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TRANSPORTE</a:t>
            </a:r>
            <a:endParaRPr lang="en-US" sz="2100" dirty="0"/>
          </a:p>
        </p:txBody>
      </p:sp>
      <p:sp>
        <p:nvSpPr>
          <p:cNvPr id="9" name="Text 87"/>
          <p:cNvSpPr txBox="1"/>
          <p:nvPr/>
        </p:nvSpPr>
        <p:spPr>
          <a:xfrm>
            <a:off x="914400" y="5056909"/>
            <a:ext cx="2779776" cy="1075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Facilitar la llegada de los alumnos y eliminar una barrera logística para las escuelas.</a:t>
            </a:r>
            <a:endParaRPr lang="en-US" sz="1500" dirty="0"/>
          </a:p>
        </p:txBody>
      </p:sp>
      <p:pic>
        <p:nvPicPr>
          <p:cNvPr id="10" name="Card 88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0200" y="2503516"/>
            <a:ext cx="3511296" cy="376289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1" name="Icon FaMugHot 89" descr="MugHo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5960" y="2807855"/>
            <a:ext cx="914400" cy="914400"/>
          </a:xfrm>
          <a:prstGeom prst="rect">
            <a:avLst/>
          </a:prstGeom>
        </p:spPr>
      </p:pic>
      <p:sp>
        <p:nvSpPr>
          <p:cNvPr id="12" name="Text 90"/>
          <p:cNvSpPr txBox="1"/>
          <p:nvPr/>
        </p:nvSpPr>
        <p:spPr>
          <a:xfrm>
            <a:off x="4705960" y="3892204"/>
            <a:ext cx="137160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91"/>
          <p:cNvSpPr txBox="1"/>
          <p:nvPr/>
        </p:nvSpPr>
        <p:spPr>
          <a:xfrm>
            <a:off x="4705960" y="4340167"/>
            <a:ext cx="277977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REFRIGERIO</a:t>
            </a:r>
            <a:endParaRPr lang="en-US" sz="2100" dirty="0"/>
          </a:p>
        </p:txBody>
      </p:sp>
      <p:sp>
        <p:nvSpPr>
          <p:cNvPr id="14" name="Text 92"/>
          <p:cNvSpPr txBox="1"/>
          <p:nvPr/>
        </p:nvSpPr>
        <p:spPr>
          <a:xfrm>
            <a:off x="4705960" y="5056909"/>
            <a:ext cx="2779776" cy="1075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Brindar una atención adecuada durante la experiencia.</a:t>
            </a:r>
            <a:endParaRPr lang="en-US" sz="1500" dirty="0"/>
          </a:p>
        </p:txBody>
      </p:sp>
      <p:pic>
        <p:nvPicPr>
          <p:cNvPr id="15" name="Card 9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1759" y="2503516"/>
            <a:ext cx="3511296" cy="376289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6" name="Watermark FaFlask 9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225735" y="2671156"/>
            <a:ext cx="1143000" cy="1143000"/>
          </a:xfrm>
          <a:prstGeom prst="rect">
            <a:avLst/>
          </a:prstGeom>
        </p:spPr>
      </p:pic>
      <p:pic>
        <p:nvPicPr>
          <p:cNvPr id="17" name="Icon FaFlask 95" descr="Flas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7519" y="2807855"/>
            <a:ext cx="914400" cy="914400"/>
          </a:xfrm>
          <a:prstGeom prst="rect">
            <a:avLst/>
          </a:prstGeom>
        </p:spPr>
      </p:pic>
      <p:sp>
        <p:nvSpPr>
          <p:cNvPr id="18" name="Text 96"/>
          <p:cNvSpPr txBox="1"/>
          <p:nvPr/>
        </p:nvSpPr>
        <p:spPr>
          <a:xfrm>
            <a:off x="8497519" y="3892204"/>
            <a:ext cx="137160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97"/>
          <p:cNvSpPr txBox="1"/>
          <p:nvPr/>
        </p:nvSpPr>
        <p:spPr>
          <a:xfrm>
            <a:off x="8497519" y="4340167"/>
            <a:ext cx="277977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ACTIVIDADES ACADÉMICAS</a:t>
            </a:r>
            <a:endParaRPr lang="en-US" sz="2100" dirty="0"/>
          </a:p>
        </p:txBody>
      </p:sp>
      <p:sp>
        <p:nvSpPr>
          <p:cNvPr id="20" name="Text 98"/>
          <p:cNvSpPr txBox="1"/>
          <p:nvPr/>
        </p:nvSpPr>
        <p:spPr>
          <a:xfrm>
            <a:off x="8497519" y="5056909"/>
            <a:ext cx="2779776" cy="10751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Experiencias prácticas diseñadas por licenciaturas.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99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10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101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102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02</a:t>
            </a:r>
            <a:endParaRPr lang="en-US" sz="8800" dirty="0"/>
          </a:p>
        </p:txBody>
      </p:sp>
      <p:sp>
        <p:nvSpPr>
          <p:cNvPr id="6" name="Section kicker 103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104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formato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05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Formato</a:t>
            </a:r>
            <a:endParaRPr lang="en-US" sz="3000" dirty="0"/>
          </a:p>
        </p:txBody>
      </p:sp>
      <p:sp>
        <p:nvSpPr>
          <p:cNvPr id="4" name="Subtitle 106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Crear una experiencia dinámica por licenciatura. La visita se dividirá en diferentes momentos:</a:t>
            </a:r>
            <a:endParaRPr lang="en-US" sz="1600" dirty="0"/>
          </a:p>
        </p:txBody>
      </p:sp>
      <p:pic>
        <p:nvPicPr>
          <p:cNvPr id="5" name="Card 10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458720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DoorOpen 108" descr="DoorOpe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2676975"/>
            <a:ext cx="566928" cy="566928"/>
          </a:xfrm>
          <a:prstGeom prst="rect">
            <a:avLst/>
          </a:prstGeom>
        </p:spPr>
      </p:pic>
      <p:sp>
        <p:nvSpPr>
          <p:cNvPr id="7" name="Pill 109"/>
          <p:cNvSpPr txBox="1"/>
          <p:nvPr/>
        </p:nvSpPr>
        <p:spPr>
          <a:xfrm>
            <a:off x="2514600" y="2754376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110"/>
          <p:cNvSpPr txBox="1"/>
          <p:nvPr/>
        </p:nvSpPr>
        <p:spPr>
          <a:xfrm>
            <a:off x="777240" y="3336729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BIENVENIDA</a:t>
            </a:r>
            <a:endParaRPr lang="en-US" sz="1350" dirty="0"/>
          </a:p>
        </p:txBody>
      </p:sp>
      <p:sp>
        <p:nvSpPr>
          <p:cNvPr id="9" name="Text 111"/>
          <p:cNvSpPr txBox="1"/>
          <p:nvPr/>
        </p:nvSpPr>
        <p:spPr>
          <a:xfrm>
            <a:off x="777240" y="3757815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cargo de admisiones.</a:t>
            </a:r>
            <a:endParaRPr lang="en-US" sz="1200" dirty="0"/>
          </a:p>
        </p:txBody>
      </p:sp>
      <p:pic>
        <p:nvPicPr>
          <p:cNvPr id="10" name="Card 11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78098" y="2458720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1" name="Icon FaPuzzlePiece 113" descr="PuzzlePiec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6698" y="2676975"/>
            <a:ext cx="566928" cy="566928"/>
          </a:xfrm>
          <a:prstGeom prst="rect">
            <a:avLst/>
          </a:prstGeom>
        </p:spPr>
      </p:pic>
      <p:sp>
        <p:nvSpPr>
          <p:cNvPr id="12" name="Pill 114"/>
          <p:cNvSpPr txBox="1"/>
          <p:nvPr/>
        </p:nvSpPr>
        <p:spPr>
          <a:xfrm>
            <a:off x="5344058" y="2754376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5"/>
          <p:cNvSpPr txBox="1"/>
          <p:nvPr/>
        </p:nvSpPr>
        <p:spPr>
          <a:xfrm>
            <a:off x="3606698" y="3336729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RETO POR LICENCIATURA</a:t>
            </a:r>
            <a:endParaRPr lang="en-US" sz="1350" dirty="0"/>
          </a:p>
        </p:txBody>
      </p:sp>
      <p:sp>
        <p:nvSpPr>
          <p:cNvPr id="14" name="Text 116"/>
          <p:cNvSpPr txBox="1"/>
          <p:nvPr/>
        </p:nvSpPr>
        <p:spPr>
          <a:xfrm>
            <a:off x="3606698" y="3757815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cargo de los Directores de cada Facultad.</a:t>
            </a:r>
            <a:endParaRPr lang="en-US" sz="1200" dirty="0"/>
          </a:p>
        </p:txBody>
      </p:sp>
      <p:pic>
        <p:nvPicPr>
          <p:cNvPr id="15" name="Card 11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07557" y="2458720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6" name="Icon FaMugHot 118" descr="MugHo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36157" y="2676975"/>
            <a:ext cx="566928" cy="566928"/>
          </a:xfrm>
          <a:prstGeom prst="rect">
            <a:avLst/>
          </a:prstGeom>
        </p:spPr>
      </p:pic>
      <p:sp>
        <p:nvSpPr>
          <p:cNvPr id="17" name="Pill 119"/>
          <p:cNvSpPr txBox="1"/>
          <p:nvPr/>
        </p:nvSpPr>
        <p:spPr>
          <a:xfrm>
            <a:off x="8173517" y="2754376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20"/>
          <p:cNvSpPr txBox="1"/>
          <p:nvPr/>
        </p:nvSpPr>
        <p:spPr>
          <a:xfrm>
            <a:off x="6436157" y="3336729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REFRIGERIO</a:t>
            </a:r>
            <a:endParaRPr lang="en-US" sz="1350" dirty="0"/>
          </a:p>
        </p:txBody>
      </p:sp>
      <p:sp>
        <p:nvSpPr>
          <p:cNvPr id="19" name="Text 121"/>
          <p:cNvSpPr txBox="1"/>
          <p:nvPr/>
        </p:nvSpPr>
        <p:spPr>
          <a:xfrm>
            <a:off x="6436157" y="3757815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cargo de finanzas.</a:t>
            </a:r>
            <a:endParaRPr lang="en-US" sz="1200" dirty="0"/>
          </a:p>
        </p:txBody>
      </p:sp>
      <p:pic>
        <p:nvPicPr>
          <p:cNvPr id="20" name="Card 122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37015" y="2458720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1" name="Icon FaMicrophone 123" descr="Microph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265615" y="2676975"/>
            <a:ext cx="566928" cy="566928"/>
          </a:xfrm>
          <a:prstGeom prst="rect">
            <a:avLst/>
          </a:prstGeom>
        </p:spPr>
      </p:pic>
      <p:sp>
        <p:nvSpPr>
          <p:cNvPr id="22" name="Pill 124"/>
          <p:cNvSpPr txBox="1"/>
          <p:nvPr/>
        </p:nvSpPr>
        <p:spPr>
          <a:xfrm>
            <a:off x="11002975" y="2754376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125"/>
          <p:cNvSpPr txBox="1"/>
          <p:nvPr/>
        </p:nvSpPr>
        <p:spPr>
          <a:xfrm>
            <a:off x="9265615" y="3336729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PRESENTACIÓN DE LA UNIVERSIDAD</a:t>
            </a:r>
            <a:endParaRPr lang="en-US" sz="1350" dirty="0"/>
          </a:p>
        </p:txBody>
      </p:sp>
      <p:sp>
        <p:nvSpPr>
          <p:cNvPr id="24" name="Text 126"/>
          <p:cNvSpPr txBox="1"/>
          <p:nvPr/>
        </p:nvSpPr>
        <p:spPr>
          <a:xfrm>
            <a:off x="9265615" y="3757815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Propuesta entrevista con un alumno.</a:t>
            </a:r>
            <a:endParaRPr lang="en-US" sz="1200" dirty="0"/>
          </a:p>
        </p:txBody>
      </p:sp>
      <p:pic>
        <p:nvPicPr>
          <p:cNvPr id="25" name="Card 127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8640" y="4564149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6" name="Icon FaAward 128" descr="Award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4782404"/>
            <a:ext cx="566928" cy="566928"/>
          </a:xfrm>
          <a:prstGeom prst="rect">
            <a:avLst/>
          </a:prstGeom>
        </p:spPr>
      </p:pic>
      <p:sp>
        <p:nvSpPr>
          <p:cNvPr id="27" name="Pill 129"/>
          <p:cNvSpPr txBox="1"/>
          <p:nvPr/>
        </p:nvSpPr>
        <p:spPr>
          <a:xfrm>
            <a:off x="2514600" y="4859805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130"/>
          <p:cNvSpPr txBox="1"/>
          <p:nvPr/>
        </p:nvSpPr>
        <p:spPr>
          <a:xfrm>
            <a:off x="777240" y="5442158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PREMIACIÓN</a:t>
            </a:r>
            <a:endParaRPr lang="en-US" sz="1350" dirty="0"/>
          </a:p>
        </p:txBody>
      </p:sp>
      <p:sp>
        <p:nvSpPr>
          <p:cNvPr id="29" name="Text 131"/>
          <p:cNvSpPr txBox="1"/>
          <p:nvPr/>
        </p:nvSpPr>
        <p:spPr>
          <a:xfrm>
            <a:off x="777240" y="5863244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los alumnos destacados en las actividades.</a:t>
            </a:r>
            <a:endParaRPr lang="en-US" sz="1200" dirty="0"/>
          </a:p>
        </p:txBody>
      </p:sp>
      <p:pic>
        <p:nvPicPr>
          <p:cNvPr id="30" name="Card 132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378098" y="4564149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31" name="Icon FaUserGraduate 133" descr="UserGraduate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606698" y="4782404"/>
            <a:ext cx="566928" cy="566928"/>
          </a:xfrm>
          <a:prstGeom prst="rect">
            <a:avLst/>
          </a:prstGeom>
        </p:spPr>
      </p:pic>
      <p:sp>
        <p:nvSpPr>
          <p:cNvPr id="32" name="Pill 134"/>
          <p:cNvSpPr txBox="1"/>
          <p:nvPr/>
        </p:nvSpPr>
        <p:spPr>
          <a:xfrm>
            <a:off x="5344058" y="4859805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</a:t>
            </a:r>
            <a:endParaRPr lang="en-US" sz="1400" dirty="0"/>
          </a:p>
        </p:txBody>
      </p:sp>
      <p:sp>
        <p:nvSpPr>
          <p:cNvPr id="33" name="Text 135"/>
          <p:cNvSpPr txBox="1"/>
          <p:nvPr/>
        </p:nvSpPr>
        <p:spPr>
          <a:xfrm>
            <a:off x="3606698" y="5442158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 WESTHILL</a:t>
            </a:r>
            <a:endParaRPr lang="en-US" sz="1350" dirty="0"/>
          </a:p>
        </p:txBody>
      </p:sp>
      <p:sp>
        <p:nvSpPr>
          <p:cNvPr id="34" name="Text 136"/>
          <p:cNvSpPr txBox="1"/>
          <p:nvPr/>
        </p:nvSpPr>
        <p:spPr>
          <a:xfrm>
            <a:off x="3606698" y="5863244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Promover el programa Admisiones.</a:t>
            </a:r>
            <a:endParaRPr lang="en-US" sz="1200" dirty="0"/>
          </a:p>
        </p:txBody>
      </p:sp>
      <p:pic>
        <p:nvPicPr>
          <p:cNvPr id="35" name="Card 137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07557" y="4564149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36" name="Icon FaPersonWalking 138" descr="PersonWalki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436157" y="4782404"/>
            <a:ext cx="566928" cy="566928"/>
          </a:xfrm>
          <a:prstGeom prst="rect">
            <a:avLst/>
          </a:prstGeom>
        </p:spPr>
      </p:pic>
      <p:sp>
        <p:nvSpPr>
          <p:cNvPr id="37" name="Pill 139"/>
          <p:cNvSpPr txBox="1"/>
          <p:nvPr/>
        </p:nvSpPr>
        <p:spPr>
          <a:xfrm>
            <a:off x="8173517" y="4859805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</a:t>
            </a:r>
            <a:endParaRPr lang="en-US" sz="1400" dirty="0"/>
          </a:p>
        </p:txBody>
      </p:sp>
      <p:sp>
        <p:nvSpPr>
          <p:cNvPr id="38" name="Text 140"/>
          <p:cNvSpPr txBox="1"/>
          <p:nvPr/>
        </p:nvSpPr>
        <p:spPr>
          <a:xfrm>
            <a:off x="6436157" y="5442158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RECORRIDO</a:t>
            </a:r>
            <a:endParaRPr lang="en-US" sz="1350" dirty="0"/>
          </a:p>
        </p:txBody>
      </p:sp>
      <p:sp>
        <p:nvSpPr>
          <p:cNvPr id="39" name="Text 141"/>
          <p:cNvSpPr txBox="1"/>
          <p:nvPr/>
        </p:nvSpPr>
        <p:spPr>
          <a:xfrm>
            <a:off x="6436157" y="5863244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 cargo de admisiones.</a:t>
            </a:r>
            <a:endParaRPr lang="en-US" sz="1200" dirty="0"/>
          </a:p>
        </p:txBody>
      </p:sp>
      <p:pic>
        <p:nvPicPr>
          <p:cNvPr id="40" name="Card 142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37015" y="4564149"/>
            <a:ext cx="2606040" cy="183665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41" name="Icon FaCamera 143" descr="Camera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9265615" y="4782404"/>
            <a:ext cx="566928" cy="566928"/>
          </a:xfrm>
          <a:prstGeom prst="rect">
            <a:avLst/>
          </a:prstGeom>
        </p:spPr>
      </p:pic>
      <p:sp>
        <p:nvSpPr>
          <p:cNvPr id="42" name="Pill 144"/>
          <p:cNvSpPr txBox="1"/>
          <p:nvPr/>
        </p:nvSpPr>
        <p:spPr>
          <a:xfrm>
            <a:off x="11002975" y="4859805"/>
            <a:ext cx="420624" cy="412127"/>
          </a:xfrm>
          <a:prstGeom prst="roundRect">
            <a:avLst>
              <a:gd name="adj" fmla="val 51031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</a:t>
            </a:r>
            <a:endParaRPr lang="en-US" sz="1400" dirty="0"/>
          </a:p>
        </p:txBody>
      </p:sp>
      <p:sp>
        <p:nvSpPr>
          <p:cNvPr id="43" name="Text 145"/>
          <p:cNvSpPr txBox="1"/>
          <p:nvPr/>
        </p:nvSpPr>
        <p:spPr>
          <a:xfrm>
            <a:off x="9265615" y="5442158"/>
            <a:ext cx="224028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CIERRE Y DESPEDIDA.</a:t>
            </a:r>
            <a:endParaRPr lang="en-US" sz="1350" dirty="0"/>
          </a:p>
        </p:txBody>
      </p:sp>
      <p:sp>
        <p:nvSpPr>
          <p:cNvPr id="44" name="Text 146"/>
          <p:cNvSpPr txBox="1"/>
          <p:nvPr/>
        </p:nvSpPr>
        <p:spPr>
          <a:xfrm>
            <a:off x="9265615" y="5863244"/>
            <a:ext cx="2240280" cy="492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En el área de admisiones. (Fotos y videos).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5" dur="6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6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7" dur="65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6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1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2" dur="65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5" dur="6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6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7" dur="65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0" dur="6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1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2" dur="650" decel="1000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5" dur="6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46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7" dur="650" decel="1000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0" dur="6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1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2" dur="650" decel="100000" fill="hold"/>
                                        <p:tgtEl>
                                          <p:spTgt spid="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6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6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57" dur="650" decel="100000" fill="hold"/>
                                        <p:tgtEl>
                                          <p:spTgt spid="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0" dur="6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1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2" dur="650" decel="100000" fill="hold"/>
                                        <p:tgtEl>
                                          <p:spTgt spid="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5" dur="6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6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7" dur="650" decel="100000" fill="hold"/>
                                        <p:tgtEl>
                                          <p:spTgt spid="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0" dur="6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1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2" dur="650" decel="100000" fill="hold"/>
                                        <p:tgtEl>
                                          <p:spTgt spid="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5" dur="65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76" dur="6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7" dur="650" decel="100000" fill="hold"/>
                                        <p:tgtEl>
                                          <p:spTgt spid="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0" dur="65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1" dur="6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2" dur="650" decel="100000" fill="hold"/>
                                        <p:tgtEl>
                                          <p:spTgt spid="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5" dur="65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6" dur="6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7" dur="650" decel="100000" fill="hold"/>
                                        <p:tgtEl>
                                          <p:spTgt spid="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0" dur="65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1" dur="65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2" dur="650" decel="100000" fill="hold"/>
                                        <p:tgtEl>
                                          <p:spTgt spid="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5" dur="65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96" dur="65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7" dur="650" decel="100000" fill="hold"/>
                                        <p:tgtEl>
                                          <p:spTgt spid="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0" dur="65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1" dur="65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2" dur="650" decel="100000" fill="hold"/>
                                        <p:tgtEl>
                                          <p:spTgt spid="4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2" grpId="0" animBg="1"/>
      <p:bldP spid="13" grpId="0" animBg="1"/>
      <p:bldP spid="14" grpId="0" animBg="1"/>
      <p:bldP spid="17" grpId="0" animBg="1"/>
      <p:bldP spid="18" grpId="0" animBg="1"/>
      <p:bldP spid="19" grpId="0" animBg="1"/>
      <p:bldP spid="22" grpId="0" animBg="1"/>
      <p:bldP spid="23" grpId="0" animBg="1"/>
      <p:bldP spid="24" grpId="0" animBg="1"/>
      <p:bldP spid="27" grpId="0" animBg="1"/>
      <p:bldP spid="28" grpId="0" animBg="1"/>
      <p:bldP spid="29" grpId="0" animBg="1"/>
      <p:bldP spid="32" grpId="0" animBg="1"/>
      <p:bldP spid="33" grpId="0" animBg="1"/>
      <p:bldP spid="34" grpId="0" animBg="1"/>
      <p:bldP spid="37" grpId="0" animBg="1"/>
      <p:bldP spid="38" grpId="0" animBg="1"/>
      <p:bldP spid="39" grpId="0" animBg="1"/>
      <p:bldP spid="42" grpId="0" animBg="1"/>
      <p:bldP spid="43" grpId="0" animBg="1"/>
      <p:bldP spid="4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47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Reto por licenciatura</a:t>
            </a:r>
            <a:endParaRPr lang="en-US" sz="3000" dirty="0"/>
          </a:p>
        </p:txBody>
      </p:sp>
      <p:sp>
        <p:nvSpPr>
          <p:cNvPr id="4" name="Text 148"/>
          <p:cNvSpPr txBox="1"/>
          <p:nvPr/>
        </p:nvSpPr>
        <p:spPr>
          <a:xfrm>
            <a:off x="548640" y="2010756"/>
            <a:ext cx="7863840" cy="8959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Esta será la actividad central.</a:t>
            </a:r>
            <a:endParaRPr lang="en-US" sz="17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propuesta es que cada alumno experimente lo que significa estudiar la carrera de su elección.</a:t>
            </a:r>
            <a:endParaRPr lang="en-US" sz="1700" dirty="0"/>
          </a:p>
        </p:txBody>
      </p:sp>
      <p:pic>
        <p:nvPicPr>
          <p:cNvPr id="5" name="Card 14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78240" y="1965960"/>
            <a:ext cx="2864815" cy="107511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Icon FaStopwatch 150" descr="Stopwatc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61120" y="2201764"/>
            <a:ext cx="603504" cy="603504"/>
          </a:xfrm>
          <a:prstGeom prst="rect">
            <a:avLst/>
          </a:prstGeom>
        </p:spPr>
      </p:pic>
      <p:sp>
        <p:nvSpPr>
          <p:cNvPr id="7" name="Text 151"/>
          <p:cNvSpPr txBox="1"/>
          <p:nvPr/>
        </p:nvSpPr>
        <p:spPr>
          <a:xfrm>
            <a:off x="9692640" y="2010756"/>
            <a:ext cx="1858975" cy="985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Duración: </a:t>
            </a:r>
            <a:endParaRPr lang="en-US" sz="1200" dirty="0"/>
          </a:p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40 minutos</a:t>
            </a:r>
            <a:endParaRPr lang="en-US" sz="1200" dirty="0"/>
          </a:p>
        </p:txBody>
      </p:sp>
      <p:sp>
        <p:nvSpPr>
          <p:cNvPr id="8" name="Text 152"/>
          <p:cNvSpPr txBox="1"/>
          <p:nvPr/>
        </p:nvSpPr>
        <p:spPr>
          <a:xfrm>
            <a:off x="548640" y="3175462"/>
            <a:ext cx="73152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Esquema general de las actividades:</a:t>
            </a:r>
            <a:endParaRPr lang="en-US" sz="1500" dirty="0"/>
          </a:p>
        </p:txBody>
      </p:sp>
      <p:pic>
        <p:nvPicPr>
          <p:cNvPr id="9" name="Card 15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623425"/>
            <a:ext cx="251460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0" name="Icon FaBullseye 154" descr="Bullsey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3840480"/>
            <a:ext cx="685800" cy="685800"/>
          </a:xfrm>
          <a:prstGeom prst="rect">
            <a:avLst/>
          </a:prstGeom>
        </p:spPr>
      </p:pic>
      <p:sp>
        <p:nvSpPr>
          <p:cNvPr id="11" name="Text 155"/>
          <p:cNvSpPr txBox="1"/>
          <p:nvPr/>
        </p:nvSpPr>
        <p:spPr>
          <a:xfrm>
            <a:off x="822960" y="4653742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MISIÓN</a:t>
            </a:r>
            <a:endParaRPr lang="en-US" sz="1900" dirty="0"/>
          </a:p>
        </p:txBody>
      </p:sp>
      <p:sp>
        <p:nvSpPr>
          <p:cNvPr id="12" name="Text 156"/>
          <p:cNvSpPr txBox="1"/>
          <p:nvPr/>
        </p:nvSpPr>
        <p:spPr>
          <a:xfrm>
            <a:off x="822960" y="5101705"/>
            <a:ext cx="2057400" cy="1209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 problema o situación real relacionada con la profesión.</a:t>
            </a:r>
            <a:endParaRPr lang="en-US" sz="1350" dirty="0"/>
          </a:p>
        </p:txBody>
      </p:sp>
      <p:pic>
        <p:nvPicPr>
          <p:cNvPr id="13" name="Icon FaChevronRight 157" descr="ChevronRigh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34741" y="4810945"/>
            <a:ext cx="402336" cy="402336"/>
          </a:xfrm>
          <a:prstGeom prst="rect">
            <a:avLst/>
          </a:prstGeom>
        </p:spPr>
      </p:pic>
      <p:pic>
        <p:nvPicPr>
          <p:cNvPr id="14" name="Card 158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8578" y="3623425"/>
            <a:ext cx="251460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5" name="Icon FaPuzzlePiece 159" descr="PuzzlePiec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682898" y="3840480"/>
            <a:ext cx="685800" cy="685800"/>
          </a:xfrm>
          <a:prstGeom prst="rect">
            <a:avLst/>
          </a:prstGeom>
        </p:spPr>
      </p:pic>
      <p:sp>
        <p:nvSpPr>
          <p:cNvPr id="16" name="Text 160"/>
          <p:cNvSpPr txBox="1"/>
          <p:nvPr/>
        </p:nvSpPr>
        <p:spPr>
          <a:xfrm>
            <a:off x="3682898" y="4653742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RETO</a:t>
            </a:r>
            <a:endParaRPr lang="en-US" sz="1900" dirty="0"/>
          </a:p>
        </p:txBody>
      </p:sp>
      <p:sp>
        <p:nvSpPr>
          <p:cNvPr id="17" name="Text 161"/>
          <p:cNvSpPr txBox="1"/>
          <p:nvPr/>
        </p:nvSpPr>
        <p:spPr>
          <a:xfrm>
            <a:off x="3682898" y="5101705"/>
            <a:ext cx="2057400" cy="1209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El equipo debe resolverlo utilizando conocimientos, habilidades de esa licenciatura.</a:t>
            </a:r>
            <a:endParaRPr lang="en-US" sz="1350" dirty="0"/>
          </a:p>
        </p:txBody>
      </p:sp>
      <p:pic>
        <p:nvPicPr>
          <p:cNvPr id="18" name="Icon FaChevronRight 162" descr="ChevronRigh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94680" y="4810945"/>
            <a:ext cx="402336" cy="402336"/>
          </a:xfrm>
          <a:prstGeom prst="rect">
            <a:avLst/>
          </a:prstGeom>
        </p:spPr>
      </p:pic>
      <p:pic>
        <p:nvPicPr>
          <p:cNvPr id="19" name="Card 163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68517" y="3623425"/>
            <a:ext cx="251460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0" name="Icon FaMicrophone 164" descr="Microphon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42837" y="3840480"/>
            <a:ext cx="685800" cy="685800"/>
          </a:xfrm>
          <a:prstGeom prst="rect">
            <a:avLst/>
          </a:prstGeom>
        </p:spPr>
      </p:pic>
      <p:sp>
        <p:nvSpPr>
          <p:cNvPr id="21" name="Text 165"/>
          <p:cNvSpPr txBox="1"/>
          <p:nvPr/>
        </p:nvSpPr>
        <p:spPr>
          <a:xfrm>
            <a:off x="6542837" y="4653742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PITCH</a:t>
            </a:r>
            <a:endParaRPr lang="en-US" sz="1900" dirty="0"/>
          </a:p>
        </p:txBody>
      </p:sp>
      <p:sp>
        <p:nvSpPr>
          <p:cNvPr id="22" name="Text 166"/>
          <p:cNvSpPr txBox="1"/>
          <p:nvPr/>
        </p:nvSpPr>
        <p:spPr>
          <a:xfrm>
            <a:off x="6542837" y="5101705"/>
            <a:ext cx="2057400" cy="1209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Cada equipo tiene 1 minuto para presentar su solución.</a:t>
            </a:r>
            <a:endParaRPr lang="en-US" sz="1350" dirty="0"/>
          </a:p>
        </p:txBody>
      </p:sp>
      <p:pic>
        <p:nvPicPr>
          <p:cNvPr id="23" name="Icon FaChevronRight 167" descr="ChevronRigh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754618" y="4810945"/>
            <a:ext cx="402336" cy="402336"/>
          </a:xfrm>
          <a:prstGeom prst="rect">
            <a:avLst/>
          </a:prstGeom>
        </p:spPr>
      </p:pic>
      <p:pic>
        <p:nvPicPr>
          <p:cNvPr id="24" name="Card 168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128455" y="3623425"/>
            <a:ext cx="2514600" cy="2777375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25" name="Icon FaTrophy 169" descr="Trophy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402775" y="3840480"/>
            <a:ext cx="685800" cy="685800"/>
          </a:xfrm>
          <a:prstGeom prst="rect">
            <a:avLst/>
          </a:prstGeom>
        </p:spPr>
      </p:pic>
      <p:sp>
        <p:nvSpPr>
          <p:cNvPr id="26" name="Text 170"/>
          <p:cNvSpPr txBox="1"/>
          <p:nvPr/>
        </p:nvSpPr>
        <p:spPr>
          <a:xfrm>
            <a:off x="9402775" y="4653742"/>
            <a:ext cx="2057400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PREMIO</a:t>
            </a:r>
            <a:endParaRPr lang="en-US" sz="1900" dirty="0"/>
          </a:p>
        </p:txBody>
      </p:sp>
      <p:sp>
        <p:nvSpPr>
          <p:cNvPr id="27" name="Text 171"/>
          <p:cNvSpPr txBox="1"/>
          <p:nvPr/>
        </p:nvSpPr>
        <p:spPr>
          <a:xfrm>
            <a:off x="9402775" y="5101705"/>
            <a:ext cx="2057400" cy="12095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Los Directores califican por licenciatura para obtener ganadores.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9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44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62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7" grpId="0" animBg="1"/>
      <p:bldP spid="8" grpId="0" animBg="1"/>
      <p:bldP spid="11" grpId="0" animBg="1"/>
      <p:bldP spid="12" grpId="0" animBg="1"/>
      <p:bldP spid="16" grpId="0" animBg="1"/>
      <p:bldP spid="17" grpId="0" animBg="1"/>
      <p:bldP spid="21" grpId="0" animBg="1"/>
      <p:bldP spid="22" grpId="0" animBg="1"/>
      <p:bldP spid="26" grpId="0" animBg="1"/>
      <p:bldP spid="2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72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Estructura de los 40 minutos</a:t>
            </a:r>
            <a:endParaRPr lang="en-US" sz="3000" dirty="0"/>
          </a:p>
        </p:txBody>
      </p:sp>
      <p:sp>
        <p:nvSpPr>
          <p:cNvPr id="4" name="Text 173"/>
          <p:cNvSpPr txBox="1"/>
          <p:nvPr/>
        </p:nvSpPr>
        <p:spPr>
          <a:xfrm>
            <a:off x="548640" y="2234738"/>
            <a:ext cx="2743200" cy="3135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TIEMPO</a:t>
            </a:r>
            <a:endParaRPr lang="en-US" sz="1200" dirty="0"/>
          </a:p>
        </p:txBody>
      </p:sp>
      <p:pic>
        <p:nvPicPr>
          <p:cNvPr id="5" name="Card 174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637905"/>
            <a:ext cx="1350226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6" name="Text 175"/>
          <p:cNvSpPr txBox="1"/>
          <p:nvPr/>
        </p:nvSpPr>
        <p:spPr>
          <a:xfrm>
            <a:off x="548640" y="2637905"/>
            <a:ext cx="1350226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min.</a:t>
            </a:r>
            <a:endParaRPr lang="en-US" sz="2400" dirty="0"/>
          </a:p>
        </p:txBody>
      </p:sp>
      <p:sp>
        <p:nvSpPr>
          <p:cNvPr id="7" name="Text 176"/>
          <p:cNvSpPr txBox="1"/>
          <p:nvPr/>
        </p:nvSpPr>
        <p:spPr>
          <a:xfrm>
            <a:off x="594360" y="4922520"/>
            <a:ext cx="1258786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Presentación de la actividad</a:t>
            </a:r>
            <a:endParaRPr lang="en-US" sz="1500" dirty="0"/>
          </a:p>
        </p:txBody>
      </p:sp>
      <p:pic>
        <p:nvPicPr>
          <p:cNvPr id="8" name="Card 177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72018" y="2637905"/>
            <a:ext cx="1350226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9" name="Text 178"/>
          <p:cNvSpPr txBox="1"/>
          <p:nvPr/>
        </p:nvSpPr>
        <p:spPr>
          <a:xfrm>
            <a:off x="1972018" y="2637905"/>
            <a:ext cx="1350226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min.</a:t>
            </a:r>
            <a:endParaRPr lang="en-US" sz="2400" dirty="0"/>
          </a:p>
        </p:txBody>
      </p:sp>
      <p:sp>
        <p:nvSpPr>
          <p:cNvPr id="10" name="Text 179"/>
          <p:cNvSpPr txBox="1"/>
          <p:nvPr/>
        </p:nvSpPr>
        <p:spPr>
          <a:xfrm>
            <a:off x="2017738" y="4922520"/>
            <a:ext cx="1258786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Explicación del reto</a:t>
            </a:r>
            <a:endParaRPr lang="en-US" sz="1500" dirty="0"/>
          </a:p>
        </p:txBody>
      </p:sp>
      <p:pic>
        <p:nvPicPr>
          <p:cNvPr id="11" name="Card 180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95396" y="2637905"/>
            <a:ext cx="5400904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2" name="Text 181"/>
          <p:cNvSpPr txBox="1"/>
          <p:nvPr/>
        </p:nvSpPr>
        <p:spPr>
          <a:xfrm>
            <a:off x="3395396" y="2637905"/>
            <a:ext cx="5400904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20 min.</a:t>
            </a:r>
            <a:endParaRPr lang="en-US" sz="4000" dirty="0"/>
          </a:p>
        </p:txBody>
      </p:sp>
      <p:sp>
        <p:nvSpPr>
          <p:cNvPr id="13" name="Text 182"/>
          <p:cNvSpPr txBox="1"/>
          <p:nvPr/>
        </p:nvSpPr>
        <p:spPr>
          <a:xfrm>
            <a:off x="3441116" y="4922520"/>
            <a:ext cx="5309464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Desarrollo de la actividad.</a:t>
            </a:r>
            <a:endParaRPr lang="en-US" sz="2000" dirty="0"/>
          </a:p>
        </p:txBody>
      </p:sp>
      <p:pic>
        <p:nvPicPr>
          <p:cNvPr id="14" name="Card 18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451" y="2637905"/>
            <a:ext cx="1350226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5" name="Text 184"/>
          <p:cNvSpPr txBox="1"/>
          <p:nvPr/>
        </p:nvSpPr>
        <p:spPr>
          <a:xfrm>
            <a:off x="8869451" y="2637905"/>
            <a:ext cx="1350226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min.</a:t>
            </a:r>
            <a:endParaRPr lang="en-US" sz="2400" dirty="0"/>
          </a:p>
        </p:txBody>
      </p:sp>
      <p:sp>
        <p:nvSpPr>
          <p:cNvPr id="16" name="Text 185"/>
          <p:cNvSpPr txBox="1"/>
          <p:nvPr/>
        </p:nvSpPr>
        <p:spPr>
          <a:xfrm>
            <a:off x="8915171" y="4922520"/>
            <a:ext cx="1258786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Preparación del pitch</a:t>
            </a:r>
            <a:endParaRPr lang="en-US" sz="1500" dirty="0"/>
          </a:p>
        </p:txBody>
      </p:sp>
      <p:pic>
        <p:nvPicPr>
          <p:cNvPr id="17" name="Card 186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92829" y="2637905"/>
            <a:ext cx="1350226" cy="170226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sp>
        <p:nvSpPr>
          <p:cNvPr id="18" name="Text 187"/>
          <p:cNvSpPr txBox="1"/>
          <p:nvPr/>
        </p:nvSpPr>
        <p:spPr>
          <a:xfrm>
            <a:off x="10292829" y="2637905"/>
            <a:ext cx="1350226" cy="17022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 min.</a:t>
            </a:r>
            <a:endParaRPr lang="en-US" sz="2400" dirty="0"/>
          </a:p>
        </p:txBody>
      </p:sp>
      <p:sp>
        <p:nvSpPr>
          <p:cNvPr id="19" name="Text 188"/>
          <p:cNvSpPr txBox="1"/>
          <p:nvPr/>
        </p:nvSpPr>
        <p:spPr>
          <a:xfrm>
            <a:off x="10338549" y="4922520"/>
            <a:ext cx="1258786" cy="1164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Presentación y evaluación.</a:t>
            </a:r>
            <a:endParaRPr lang="en-US" sz="1500" dirty="0"/>
          </a:p>
        </p:txBody>
      </p:sp>
      <p:sp>
        <p:nvSpPr>
          <p:cNvPr id="20" name="Text 189"/>
          <p:cNvSpPr txBox="1"/>
          <p:nvPr/>
        </p:nvSpPr>
        <p:spPr>
          <a:xfrm>
            <a:off x="548640" y="4519353"/>
            <a:ext cx="2743200" cy="2866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ACTIVIDAD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10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7" grpId="0" animBg="1"/>
      <p:bldP spid="9" grpId="0" animBg="1"/>
      <p:bldP spid="10" grpId="0" animBg="1"/>
      <p:bldP spid="12" grpId="0" animBg="1"/>
      <p:bldP spid="13" grpId="0" animBg="1"/>
      <p:bldP spid="15" grpId="0" animBg="1"/>
      <p:bldP spid="16" grpId="0" animBg="1"/>
      <p:bldP spid="18" grpId="0" animBg="1"/>
      <p:bldP spid="19" grpId="0" animBg="1"/>
      <p:bldP spid="20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190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Refrigerio y presentación</a:t>
            </a:r>
            <a:endParaRPr lang="en-US" sz="3000" dirty="0"/>
          </a:p>
        </p:txBody>
      </p:sp>
      <p:pic>
        <p:nvPicPr>
          <p:cNvPr id="4" name="Card 191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09869"/>
            <a:ext cx="3931920" cy="1712463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5" name="Icon FaMugHot 192" descr="MugHo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92206"/>
            <a:ext cx="548640" cy="548640"/>
          </a:xfrm>
          <a:prstGeom prst="rect">
            <a:avLst/>
          </a:prstGeom>
        </p:spPr>
      </p:pic>
      <p:sp>
        <p:nvSpPr>
          <p:cNvPr id="6" name="Pill 193"/>
          <p:cNvSpPr txBox="1"/>
          <p:nvPr/>
        </p:nvSpPr>
        <p:spPr>
          <a:xfrm>
            <a:off x="1554480" y="2290889"/>
            <a:ext cx="2377440" cy="351274"/>
          </a:xfrm>
          <a:prstGeom prst="roundRect">
            <a:avLst>
              <a:gd name="adj" fmla="val 52062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Duración: 15 minutos.</a:t>
            </a:r>
            <a:endParaRPr lang="en-US" sz="1150" dirty="0"/>
          </a:p>
        </p:txBody>
      </p:sp>
      <p:sp>
        <p:nvSpPr>
          <p:cNvPr id="7" name="Text 194"/>
          <p:cNvSpPr txBox="1"/>
          <p:nvPr/>
        </p:nvSpPr>
        <p:spPr>
          <a:xfrm>
            <a:off x="822960" y="2844146"/>
            <a:ext cx="3429000" cy="790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 término se les invita a convivir en el foyer del auditorio para el refrigerio.</a:t>
            </a:r>
            <a:endParaRPr lang="en-US" sz="1350" dirty="0"/>
          </a:p>
        </p:txBody>
      </p:sp>
      <p:pic>
        <p:nvPicPr>
          <p:cNvPr id="8" name="Card 195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3897970"/>
            <a:ext cx="3931920" cy="250283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9" name="Icon FaMicrophone 196" descr="Micro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4080306"/>
            <a:ext cx="548640" cy="548640"/>
          </a:xfrm>
          <a:prstGeom prst="rect">
            <a:avLst/>
          </a:prstGeom>
        </p:spPr>
      </p:pic>
      <p:sp>
        <p:nvSpPr>
          <p:cNvPr id="10" name="Pill 197"/>
          <p:cNvSpPr txBox="1"/>
          <p:nvPr/>
        </p:nvSpPr>
        <p:spPr>
          <a:xfrm>
            <a:off x="1554480" y="4178989"/>
            <a:ext cx="2377440" cy="351274"/>
          </a:xfrm>
          <a:prstGeom prst="roundRect">
            <a:avLst>
              <a:gd name="adj" fmla="val 52062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Duración: 20 minutos.</a:t>
            </a:r>
            <a:endParaRPr lang="en-US" sz="1150" dirty="0"/>
          </a:p>
        </p:txBody>
      </p:sp>
      <p:sp>
        <p:nvSpPr>
          <p:cNvPr id="11" name="Text 198"/>
          <p:cNvSpPr txBox="1"/>
          <p:nvPr/>
        </p:nvSpPr>
        <p:spPr>
          <a:xfrm>
            <a:off x="822960" y="4732246"/>
            <a:ext cx="3429000" cy="15807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les invita a pasar al auditorio para dar la presentación de nuestra oferta académica en el formato nuevo. (entrevista).</a:t>
            </a:r>
            <a:endParaRPr lang="en-US" sz="1350" dirty="0"/>
          </a:p>
        </p:txBody>
      </p:sp>
      <p:pic>
        <p:nvPicPr>
          <p:cNvPr id="12" name="Card 199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2009869"/>
            <a:ext cx="6888175" cy="4390931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3" name="Text 200"/>
          <p:cNvSpPr txBox="1"/>
          <p:nvPr/>
        </p:nvSpPr>
        <p:spPr>
          <a:xfrm>
            <a:off x="5074920" y="2097688"/>
            <a:ext cx="6339535" cy="526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“Pregúntale a quien ya lo está viviendo”. </a:t>
            </a:r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(Participante Embajador Westhill).</a:t>
            </a:r>
            <a:endParaRPr lang="en-US" sz="1700" dirty="0"/>
          </a:p>
        </p:txBody>
      </p:sp>
      <p:sp>
        <p:nvSpPr>
          <p:cNvPr id="14" name="Text 201"/>
          <p:cNvSpPr txBox="1"/>
          <p:nvPr/>
        </p:nvSpPr>
        <p:spPr>
          <a:xfrm>
            <a:off x="5074920" y="2624600"/>
            <a:ext cx="6339535" cy="3073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Una asesora de admisiones entrevista a un alumno.</a:t>
            </a:r>
            <a:endParaRPr lang="en-US" sz="1300" dirty="0"/>
          </a:p>
        </p:txBody>
      </p:sp>
      <p:sp>
        <p:nvSpPr>
          <p:cNvPr id="15" name="Text 202"/>
          <p:cNvSpPr txBox="1"/>
          <p:nvPr/>
        </p:nvSpPr>
        <p:spPr>
          <a:xfrm>
            <a:off x="5074920" y="3063693"/>
            <a:ext cx="3078328" cy="3249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1. ¿Por qué elegiste Westhill?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2. ¿Por qué elegiste tu licenciatura?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3. ¿Qué fue lo primero que te sorprendió de la Universidad?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4. ¿Cómo describirías el ambiente entre los estudiantes?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5. ¿Qué es lo que más disfrutas estudiar aquí?</a:t>
            </a:r>
            <a:endParaRPr lang="en-US" sz="1300" dirty="0"/>
          </a:p>
        </p:txBody>
      </p:sp>
      <p:sp>
        <p:nvSpPr>
          <p:cNvPr id="16" name="Text 203"/>
          <p:cNvSpPr txBox="1"/>
          <p:nvPr/>
        </p:nvSpPr>
        <p:spPr>
          <a:xfrm>
            <a:off x="8244688" y="3063693"/>
            <a:ext cx="3078328" cy="32492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6. ¿Cómo son tus profesores?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7. ¿Qué actividades o experiencias has vivido fuera del salón?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8. ¿Qué instalaciones utilizas más y por qué?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9. Si pudieras darle un consejo a alguien que está por elegir Universidad, ¿qué le dirías?</a:t>
            </a:r>
            <a:endParaRPr lang="en-US" sz="1300" dirty="0"/>
          </a:p>
          <a:p>
            <a:pPr indent="0" marL="0">
              <a:spcAft>
                <a:spcPts val="700"/>
              </a:spcAft>
              <a:buNone/>
            </a:pPr>
            <a:r>
              <a:rPr lang="en-US" sz="13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10. Si pudieras volver al día en que elegiste Universidad, ¿volverías a elegir Westhill?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11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04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Premiación</a:t>
            </a:r>
            <a:endParaRPr lang="en-US" sz="3000" dirty="0"/>
          </a:p>
        </p:txBody>
      </p:sp>
      <p:sp>
        <p:nvSpPr>
          <p:cNvPr id="4" name="Text 205"/>
          <p:cNvSpPr txBox="1"/>
          <p:nvPr/>
        </p:nvSpPr>
        <p:spPr>
          <a:xfrm>
            <a:off x="548640" y="2010756"/>
            <a:ext cx="8046720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 finalizar la entrevista se reconocerá a los alumnos que hayan destacado.</a:t>
            </a:r>
            <a:endParaRPr lang="en-US" sz="1700" dirty="0"/>
          </a:p>
        </p:txBody>
      </p:sp>
      <p:sp>
        <p:nvSpPr>
          <p:cNvPr id="5" name="Pill 206"/>
          <p:cNvSpPr txBox="1"/>
          <p:nvPr/>
        </p:nvSpPr>
        <p:spPr>
          <a:xfrm>
            <a:off x="9265615" y="2055553"/>
            <a:ext cx="2377440" cy="376289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Duración: 5 minutos.</a:t>
            </a:r>
            <a:endParaRPr lang="en-US" sz="1250" dirty="0"/>
          </a:p>
        </p:txBody>
      </p:sp>
      <p:sp>
        <p:nvSpPr>
          <p:cNvPr id="6" name="Text 207"/>
          <p:cNvSpPr txBox="1"/>
          <p:nvPr/>
        </p:nvSpPr>
        <p:spPr>
          <a:xfrm>
            <a:off x="548640" y="2637905"/>
            <a:ext cx="5486400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Categorías sugeridas:</a:t>
            </a:r>
            <a:endParaRPr lang="en-US" sz="1500" dirty="0"/>
          </a:p>
        </p:txBody>
      </p:sp>
      <p:pic>
        <p:nvPicPr>
          <p:cNvPr id="7" name="Card 20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8" name="Icon FaLightbulb 209" descr="Lightbul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134" y="3346335"/>
            <a:ext cx="822960" cy="822960"/>
          </a:xfrm>
          <a:prstGeom prst="rect">
            <a:avLst/>
          </a:prstGeom>
        </p:spPr>
      </p:pic>
      <p:sp>
        <p:nvSpPr>
          <p:cNvPr id="9" name="Text 210"/>
          <p:cNvSpPr txBox="1"/>
          <p:nvPr/>
        </p:nvSpPr>
        <p:spPr>
          <a:xfrm>
            <a:off x="685800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Mayor creatividad.</a:t>
            </a:r>
            <a:endParaRPr lang="en-US" sz="1500" dirty="0"/>
          </a:p>
        </p:txBody>
      </p:sp>
      <p:pic>
        <p:nvPicPr>
          <p:cNvPr id="10" name="Card 21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07757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1" name="Icon FaPeopleGroup 212" descr="PeopleGrou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5251" y="3346335"/>
            <a:ext cx="822960" cy="822960"/>
          </a:xfrm>
          <a:prstGeom prst="rect">
            <a:avLst/>
          </a:prstGeom>
        </p:spPr>
      </p:pic>
      <p:sp>
        <p:nvSpPr>
          <p:cNvPr id="12" name="Text 213"/>
          <p:cNvSpPr txBox="1"/>
          <p:nvPr/>
        </p:nvSpPr>
        <p:spPr>
          <a:xfrm>
            <a:off x="2944917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Mejor trabajo en equipo.</a:t>
            </a:r>
            <a:endParaRPr lang="en-US" sz="1500" dirty="0"/>
          </a:p>
        </p:txBody>
      </p:sp>
      <p:pic>
        <p:nvPicPr>
          <p:cNvPr id="13" name="Card 21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6873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4" name="Icon FaCrown 215" descr="Crown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84368" y="3346335"/>
            <a:ext cx="822960" cy="822960"/>
          </a:xfrm>
          <a:prstGeom prst="rect">
            <a:avLst/>
          </a:prstGeom>
        </p:spPr>
      </p:pic>
      <p:sp>
        <p:nvSpPr>
          <p:cNvPr id="15" name="Text 216"/>
          <p:cNvSpPr txBox="1"/>
          <p:nvPr/>
        </p:nvSpPr>
        <p:spPr>
          <a:xfrm>
            <a:off x="5204033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Mejor liderazgo.</a:t>
            </a:r>
            <a:endParaRPr lang="en-US" sz="1500" dirty="0"/>
          </a:p>
        </p:txBody>
      </p:sp>
      <p:pic>
        <p:nvPicPr>
          <p:cNvPr id="16" name="Card 217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25990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7" name="Icon FaMicrophone 218" descr="Microphone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43484" y="3346335"/>
            <a:ext cx="822960" cy="822960"/>
          </a:xfrm>
          <a:prstGeom prst="rect">
            <a:avLst/>
          </a:prstGeom>
        </p:spPr>
      </p:pic>
      <p:sp>
        <p:nvSpPr>
          <p:cNvPr id="18" name="Text 219"/>
          <p:cNvSpPr txBox="1"/>
          <p:nvPr/>
        </p:nvSpPr>
        <p:spPr>
          <a:xfrm>
            <a:off x="7463150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Mejor presentación.</a:t>
            </a:r>
            <a:endParaRPr lang="en-US" sz="1500" dirty="0"/>
          </a:p>
        </p:txBody>
      </p:sp>
      <p:pic>
        <p:nvPicPr>
          <p:cNvPr id="19" name="Card 220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585107" y="3130665"/>
            <a:ext cx="2057949" cy="1971040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20" name="Icon FaStar 221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02601" y="3346335"/>
            <a:ext cx="822960" cy="822960"/>
          </a:xfrm>
          <a:prstGeom prst="rect">
            <a:avLst/>
          </a:prstGeom>
        </p:spPr>
      </p:pic>
      <p:sp>
        <p:nvSpPr>
          <p:cNvPr id="21" name="Text 222"/>
          <p:cNvSpPr txBox="1"/>
          <p:nvPr/>
        </p:nvSpPr>
        <p:spPr>
          <a:xfrm>
            <a:off x="9722267" y="4295371"/>
            <a:ext cx="1783629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Espíritu Westhill.</a:t>
            </a:r>
            <a:endParaRPr lang="en-US" sz="1500" dirty="0"/>
          </a:p>
        </p:txBody>
      </p:sp>
      <p:pic>
        <p:nvPicPr>
          <p:cNvPr id="22" name="Card 223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5325687"/>
            <a:ext cx="11094415" cy="1075113"/>
          </a:xfrm>
          <a:prstGeom prst="rect">
            <a:avLst/>
          </a:prstGeom>
        </p:spPr>
      </p:pic>
      <p:sp>
        <p:nvSpPr>
          <p:cNvPr id="23" name="Text 224"/>
          <p:cNvSpPr txBox="1"/>
          <p:nvPr/>
        </p:nvSpPr>
        <p:spPr>
          <a:xfrm>
            <a:off x="868680" y="5325687"/>
            <a:ext cx="1828800" cy="107511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Esto genera:</a:t>
            </a:r>
            <a:endParaRPr lang="en-US" sz="1700" dirty="0"/>
          </a:p>
        </p:txBody>
      </p:sp>
      <p:sp>
        <p:nvSpPr>
          <p:cNvPr id="24" name="Pill 225"/>
          <p:cNvSpPr txBox="1"/>
          <p:nvPr/>
        </p:nvSpPr>
        <p:spPr>
          <a:xfrm>
            <a:off x="2788920" y="5639262"/>
            <a:ext cx="2011680" cy="447964"/>
          </a:xfrm>
          <a:prstGeom prst="roundRect">
            <a:avLst>
              <a:gd name="adj" fmla="val 51031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Participación,</a:t>
            </a:r>
            <a:endParaRPr lang="en-US" sz="1400" dirty="0"/>
          </a:p>
        </p:txBody>
      </p:sp>
      <p:sp>
        <p:nvSpPr>
          <p:cNvPr id="25" name="Pill 226"/>
          <p:cNvSpPr txBox="1"/>
          <p:nvPr/>
        </p:nvSpPr>
        <p:spPr>
          <a:xfrm>
            <a:off x="4983480" y="5639262"/>
            <a:ext cx="2011680" cy="447964"/>
          </a:xfrm>
          <a:prstGeom prst="roundRect">
            <a:avLst>
              <a:gd name="adj" fmla="val 51031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emoción,</a:t>
            </a:r>
            <a:endParaRPr lang="en-US" sz="1400" dirty="0"/>
          </a:p>
        </p:txBody>
      </p:sp>
      <p:sp>
        <p:nvSpPr>
          <p:cNvPr id="26" name="Pill 227"/>
          <p:cNvSpPr txBox="1"/>
          <p:nvPr/>
        </p:nvSpPr>
        <p:spPr>
          <a:xfrm>
            <a:off x="7178040" y="5639262"/>
            <a:ext cx="2011680" cy="447964"/>
          </a:xfrm>
          <a:prstGeom prst="roundRect">
            <a:avLst>
              <a:gd name="adj" fmla="val 51031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recuerdo</a:t>
            </a:r>
            <a:endParaRPr lang="en-US" sz="1400" dirty="0"/>
          </a:p>
        </p:txBody>
      </p:sp>
      <p:sp>
        <p:nvSpPr>
          <p:cNvPr id="27" name="Pill 228"/>
          <p:cNvSpPr txBox="1"/>
          <p:nvPr/>
        </p:nvSpPr>
        <p:spPr>
          <a:xfrm>
            <a:off x="9372600" y="5639262"/>
            <a:ext cx="2011680" cy="447964"/>
          </a:xfrm>
          <a:prstGeom prst="roundRect">
            <a:avLst>
              <a:gd name="adj" fmla="val 51031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 contenido.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12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8" presetID="42" presetClass="entr" presetSubtype="0" fill="hold" grpId="0" nodeType="withEffect">
                                  <p:stCondLst>
                                    <p:cond delay="126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0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21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2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5" grpId="0" animBg="1"/>
      <p:bldP spid="6" grpId="0" animBg="1"/>
      <p:bldP spid="9" grpId="0" animBg="1"/>
      <p:bldP spid="12" grpId="0" animBg="1"/>
      <p:bldP spid="15" grpId="0" animBg="1"/>
      <p:bldP spid="18" grpId="0" animBg="1"/>
      <p:bldP spid="21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229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23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231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Section number 232"/>
          <p:cNvSpPr txBox="1"/>
          <p:nvPr/>
        </p:nvSpPr>
        <p:spPr>
          <a:xfrm>
            <a:off x="411480" y="19202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8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03</a:t>
            </a:r>
            <a:endParaRPr lang="en-US" sz="8800" dirty="0"/>
          </a:p>
        </p:txBody>
      </p:sp>
      <p:sp>
        <p:nvSpPr>
          <p:cNvPr id="6" name="Section kicker 233"/>
          <p:cNvSpPr txBox="1"/>
          <p:nvPr/>
        </p:nvSpPr>
        <p:spPr>
          <a:xfrm>
            <a:off x="411480" y="3172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SECCIÓN</a:t>
            </a:r>
            <a:endParaRPr lang="en-US" sz="1400" dirty="0"/>
          </a:p>
        </p:txBody>
      </p:sp>
      <p:sp>
        <p:nvSpPr>
          <p:cNvPr id="7" name="Section title 234"/>
          <p:cNvSpPr txBox="1"/>
          <p:nvPr/>
        </p:nvSpPr>
        <p:spPr>
          <a:xfrm>
            <a:off x="411480" y="35021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38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Resultados y seguimiento</a:t>
            </a:r>
            <a:endParaRPr lang="en-US" sz="38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35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Embajador Westhill</a:t>
            </a:r>
            <a:endParaRPr lang="en-US" sz="3000" dirty="0"/>
          </a:p>
        </p:txBody>
      </p:sp>
      <p:sp>
        <p:nvSpPr>
          <p:cNvPr id="4" name="Subtitle 236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Conectar el plan de embajadores.</a:t>
            </a:r>
            <a:endParaRPr lang="en-US" sz="1600" dirty="0"/>
          </a:p>
        </p:txBody>
      </p:sp>
      <p:pic>
        <p:nvPicPr>
          <p:cNvPr id="5" name="Card 237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03516"/>
            <a:ext cx="4572000" cy="389728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Watermark FaUserGraduate 238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66160" y="4684684"/>
            <a:ext cx="1371600" cy="1371600"/>
          </a:xfrm>
          <a:prstGeom prst="rect">
            <a:avLst/>
          </a:prstGeom>
        </p:spPr>
      </p:pic>
      <p:pic>
        <p:nvPicPr>
          <p:cNvPr id="7" name="Icon FaUserGraduate 239" descr="UserGraduat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2764444"/>
            <a:ext cx="777240" cy="777240"/>
          </a:xfrm>
          <a:prstGeom prst="rect">
            <a:avLst/>
          </a:prstGeom>
        </p:spPr>
      </p:pic>
      <p:sp>
        <p:nvSpPr>
          <p:cNvPr id="8" name="Text 240"/>
          <p:cNvSpPr txBox="1"/>
          <p:nvPr/>
        </p:nvSpPr>
        <p:spPr>
          <a:xfrm>
            <a:off x="914400" y="3713018"/>
            <a:ext cx="3840480" cy="134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 está creando su comunidad de EMBAJADORES y queremos que tú seas parte.</a:t>
            </a:r>
            <a:endParaRPr lang="en-US" sz="1900" dirty="0"/>
          </a:p>
        </p:txBody>
      </p:sp>
      <p:sp>
        <p:nvSpPr>
          <p:cNvPr id="9" name="Text 241"/>
          <p:cNvSpPr txBox="1"/>
          <p:nvPr/>
        </p:nvSpPr>
        <p:spPr>
          <a:xfrm>
            <a:off x="914400" y="5280891"/>
            <a:ext cx="3840480" cy="8063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i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Da tu siguiente paso inspirando futuros.</a:t>
            </a:r>
            <a:endParaRPr lang="en-US" sz="1600" dirty="0"/>
          </a:p>
        </p:txBody>
      </p:sp>
      <p:sp>
        <p:nvSpPr>
          <p:cNvPr id="10" name="Text 242"/>
          <p:cNvSpPr txBox="1"/>
          <p:nvPr/>
        </p:nvSpPr>
        <p:spPr>
          <a:xfrm>
            <a:off x="5394960" y="2503516"/>
            <a:ext cx="6248095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¿Qué hace un Embajador?</a:t>
            </a:r>
            <a:endParaRPr lang="en-US" sz="1900" dirty="0"/>
          </a:p>
        </p:txBody>
      </p:sp>
      <p:pic>
        <p:nvPicPr>
          <p:cNvPr id="11" name="Card 24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94960" y="3085869"/>
            <a:ext cx="6248095" cy="573393"/>
          </a:xfrm>
          <a:prstGeom prst="rect">
            <a:avLst/>
          </a:prstGeom>
        </p:spPr>
      </p:pic>
      <p:pic>
        <p:nvPicPr>
          <p:cNvPr id="12" name="Icon FaShareNodes 244" descr="ShareNode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58968" y="3125678"/>
            <a:ext cx="493776" cy="493776"/>
          </a:xfrm>
          <a:prstGeom prst="rect">
            <a:avLst/>
          </a:prstGeom>
        </p:spPr>
      </p:pic>
      <p:sp>
        <p:nvSpPr>
          <p:cNvPr id="13" name="Text 245"/>
          <p:cNvSpPr txBox="1"/>
          <p:nvPr/>
        </p:nvSpPr>
        <p:spPr>
          <a:xfrm>
            <a:off x="6126480" y="3085869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Invita a tus amigos a conocer Westhill.</a:t>
            </a:r>
            <a:endParaRPr lang="en-US" sz="1450" dirty="0"/>
          </a:p>
        </p:txBody>
      </p:sp>
      <p:pic>
        <p:nvPicPr>
          <p:cNvPr id="14" name="Card 246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4960" y="3757815"/>
            <a:ext cx="6248095" cy="573393"/>
          </a:xfrm>
          <a:prstGeom prst="rect">
            <a:avLst/>
          </a:prstGeom>
        </p:spPr>
      </p:pic>
      <p:pic>
        <p:nvPicPr>
          <p:cNvPr id="15" name="Icon FaComments 247" descr="Comment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58968" y="3797623"/>
            <a:ext cx="493776" cy="493776"/>
          </a:xfrm>
          <a:prstGeom prst="rect">
            <a:avLst/>
          </a:prstGeom>
        </p:spPr>
      </p:pic>
      <p:sp>
        <p:nvSpPr>
          <p:cNvPr id="16" name="Text 248"/>
          <p:cNvSpPr txBox="1"/>
          <p:nvPr/>
        </p:nvSpPr>
        <p:spPr>
          <a:xfrm>
            <a:off x="6126480" y="3757815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Comparte tu experiencia.</a:t>
            </a:r>
            <a:endParaRPr lang="en-US" sz="1450" dirty="0"/>
          </a:p>
        </p:txBody>
      </p:sp>
      <p:pic>
        <p:nvPicPr>
          <p:cNvPr id="17" name="Card 249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94960" y="4429760"/>
            <a:ext cx="6248095" cy="573393"/>
          </a:xfrm>
          <a:prstGeom prst="rect">
            <a:avLst/>
          </a:prstGeom>
        </p:spPr>
      </p:pic>
      <p:pic>
        <p:nvPicPr>
          <p:cNvPr id="18" name="Icon FaTicket 250" descr="Ticke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58968" y="4469569"/>
            <a:ext cx="493776" cy="493776"/>
          </a:xfrm>
          <a:prstGeom prst="rect">
            <a:avLst/>
          </a:prstGeom>
        </p:spPr>
      </p:pic>
      <p:sp>
        <p:nvSpPr>
          <p:cNvPr id="19" name="Text 251"/>
          <p:cNvSpPr txBox="1"/>
          <p:nvPr/>
        </p:nvSpPr>
        <p:spPr>
          <a:xfrm>
            <a:off x="6126480" y="4429760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Accede a experiencias especiales.</a:t>
            </a:r>
            <a:endParaRPr lang="en-US" sz="1450" dirty="0"/>
          </a:p>
        </p:txBody>
      </p:sp>
      <p:pic>
        <p:nvPicPr>
          <p:cNvPr id="20" name="Card 252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394960" y="5101705"/>
            <a:ext cx="6248095" cy="573393"/>
          </a:xfrm>
          <a:prstGeom prst="rect">
            <a:avLst/>
          </a:prstGeom>
        </p:spPr>
      </p:pic>
      <p:pic>
        <p:nvPicPr>
          <p:cNvPr id="21" name="Icon FaTrophy 253" descr="Trophy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58968" y="5141514"/>
            <a:ext cx="493776" cy="493776"/>
          </a:xfrm>
          <a:prstGeom prst="rect">
            <a:avLst/>
          </a:prstGeom>
        </p:spPr>
      </p:pic>
      <p:sp>
        <p:nvSpPr>
          <p:cNvPr id="22" name="Text 254"/>
          <p:cNvSpPr txBox="1"/>
          <p:nvPr/>
        </p:nvSpPr>
        <p:spPr>
          <a:xfrm>
            <a:off x="6126480" y="5101705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Participa en Retos.</a:t>
            </a:r>
            <a:endParaRPr lang="en-US" sz="1450" dirty="0"/>
          </a:p>
        </p:txBody>
      </p:sp>
      <p:pic>
        <p:nvPicPr>
          <p:cNvPr id="23" name="Card 255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94960" y="5773651"/>
            <a:ext cx="6248095" cy="573393"/>
          </a:xfrm>
          <a:prstGeom prst="rect">
            <a:avLst/>
          </a:prstGeom>
        </p:spPr>
      </p:pic>
      <p:pic>
        <p:nvPicPr>
          <p:cNvPr id="24" name="Icon FaGift 256" descr="Gif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458968" y="5813460"/>
            <a:ext cx="493776" cy="493776"/>
          </a:xfrm>
          <a:prstGeom prst="rect">
            <a:avLst/>
          </a:prstGeom>
        </p:spPr>
      </p:pic>
      <p:sp>
        <p:nvSpPr>
          <p:cNvPr id="25" name="Text 257"/>
          <p:cNvSpPr txBox="1"/>
          <p:nvPr/>
        </p:nvSpPr>
        <p:spPr>
          <a:xfrm>
            <a:off x="6126480" y="5773651"/>
            <a:ext cx="5379415" cy="57339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Y obtén beneficios por las recomendaciones que realmente avancen.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14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13" grpId="0" animBg="1"/>
      <p:bldP spid="16" grpId="0" animBg="1"/>
      <p:bldP spid="19" grpId="0" animBg="1"/>
      <p:bldP spid="22" grpId="0" animBg="1"/>
      <p:bldP spid="25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58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¿Cómo convertimos la experiencia en resultados?</a:t>
            </a:r>
            <a:endParaRPr lang="en-US" sz="3000" dirty="0"/>
          </a:p>
        </p:txBody>
      </p:sp>
      <p:pic>
        <p:nvPicPr>
          <p:cNvPr id="4" name="Card 259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0756"/>
            <a:ext cx="6949440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5" name="Text 260"/>
          <p:cNvSpPr txBox="1"/>
          <p:nvPr/>
        </p:nvSpPr>
        <p:spPr>
          <a:xfrm>
            <a:off x="548640" y="2010756"/>
            <a:ext cx="694944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Alumnos asistentes</a:t>
            </a:r>
            <a:endParaRPr lang="en-US" sz="1600" dirty="0"/>
          </a:p>
        </p:txBody>
      </p:sp>
      <p:pic>
        <p:nvPicPr>
          <p:cNvPr id="6" name="Card 26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2727498"/>
            <a:ext cx="6181344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7" name="Text 262"/>
          <p:cNvSpPr txBox="1"/>
          <p:nvPr/>
        </p:nvSpPr>
        <p:spPr>
          <a:xfrm>
            <a:off x="932688" y="2727498"/>
            <a:ext cx="6181344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Interesados</a:t>
            </a:r>
            <a:endParaRPr lang="en-US" sz="1600" dirty="0"/>
          </a:p>
        </p:txBody>
      </p:sp>
      <p:pic>
        <p:nvPicPr>
          <p:cNvPr id="8" name="Card 263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6736" y="3444240"/>
            <a:ext cx="5413248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9" name="Text 264"/>
          <p:cNvSpPr txBox="1"/>
          <p:nvPr/>
        </p:nvSpPr>
        <p:spPr>
          <a:xfrm>
            <a:off x="1316736" y="3444240"/>
            <a:ext cx="5413248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Prospectos calificados</a:t>
            </a:r>
            <a:endParaRPr lang="en-US" sz="1600" dirty="0"/>
          </a:p>
        </p:txBody>
      </p:sp>
      <p:pic>
        <p:nvPicPr>
          <p:cNvPr id="10" name="Card 265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00784" y="4160982"/>
            <a:ext cx="4645152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1" name="Text 266"/>
          <p:cNvSpPr txBox="1"/>
          <p:nvPr/>
        </p:nvSpPr>
        <p:spPr>
          <a:xfrm>
            <a:off x="1700784" y="4160982"/>
            <a:ext cx="4645152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Citas</a:t>
            </a:r>
            <a:endParaRPr lang="en-US" sz="1600" dirty="0"/>
          </a:p>
        </p:txBody>
      </p:sp>
      <p:pic>
        <p:nvPicPr>
          <p:cNvPr id="12" name="Card 267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4832" y="4877724"/>
            <a:ext cx="3877056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3" name="Text 268"/>
          <p:cNvSpPr txBox="1"/>
          <p:nvPr/>
        </p:nvSpPr>
        <p:spPr>
          <a:xfrm>
            <a:off x="2084832" y="4877724"/>
            <a:ext cx="3877056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Proceso de admisiones</a:t>
            </a:r>
            <a:endParaRPr lang="en-US" sz="1600" dirty="0"/>
          </a:p>
        </p:txBody>
      </p:sp>
      <p:pic>
        <p:nvPicPr>
          <p:cNvPr id="14" name="Card 269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468880" y="5594465"/>
            <a:ext cx="3108960" cy="591312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sp>
        <p:nvSpPr>
          <p:cNvPr id="15" name="Text 270"/>
          <p:cNvSpPr txBox="1"/>
          <p:nvPr/>
        </p:nvSpPr>
        <p:spPr>
          <a:xfrm>
            <a:off x="2468880" y="5594465"/>
            <a:ext cx="3108960" cy="591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Inscritos</a:t>
            </a:r>
            <a:endParaRPr lang="en-US" sz="1600" dirty="0"/>
          </a:p>
        </p:txBody>
      </p:sp>
      <p:pic>
        <p:nvPicPr>
          <p:cNvPr id="16" name="Card 271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63840" y="2503516"/>
            <a:ext cx="3779215" cy="322533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7" name="Watermark FaFilter 272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71455" y="4373418"/>
            <a:ext cx="1143000" cy="1143000"/>
          </a:xfrm>
          <a:prstGeom prst="rect">
            <a:avLst/>
          </a:prstGeom>
        </p:spPr>
      </p:pic>
      <p:pic>
        <p:nvPicPr>
          <p:cNvPr id="18" name="Icon FaChartLine 273" descr="ChartLin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183880" y="2764905"/>
            <a:ext cx="731520" cy="731520"/>
          </a:xfrm>
          <a:prstGeom prst="rect">
            <a:avLst/>
          </a:prstGeom>
        </p:spPr>
      </p:pic>
      <p:sp>
        <p:nvSpPr>
          <p:cNvPr id="19" name="Text 274"/>
          <p:cNvSpPr txBox="1"/>
          <p:nvPr/>
        </p:nvSpPr>
        <p:spPr>
          <a:xfrm>
            <a:off x="8183880" y="3668222"/>
            <a:ext cx="3230575" cy="40316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 medirá por:</a:t>
            </a:r>
            <a:endParaRPr lang="en-US" sz="1500" dirty="0"/>
          </a:p>
        </p:txBody>
      </p:sp>
      <p:sp>
        <p:nvSpPr>
          <p:cNvPr id="20" name="Text 275"/>
          <p:cNvSpPr txBox="1"/>
          <p:nvPr/>
        </p:nvSpPr>
        <p:spPr>
          <a:xfrm>
            <a:off x="8183880" y="4116185"/>
            <a:ext cx="3230575" cy="134389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¿Cuántos procesos de admisión generó?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15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90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0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9" grpId="0" animBg="1"/>
      <p:bldP spid="11" grpId="0" animBg="1"/>
      <p:bldP spid="13" grpId="0" animBg="1"/>
      <p:bldP spid="15" grpId="0" animBg="1"/>
      <p:bldP spid="19" grpId="0" animBg="1"/>
      <p:bldP spid="20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276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Promoción</a:t>
            </a:r>
            <a:endParaRPr lang="en-US" sz="3000" dirty="0"/>
          </a:p>
        </p:txBody>
      </p:sp>
      <p:sp>
        <p:nvSpPr>
          <p:cNvPr id="4" name="Subtitle 277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La experiencia también debe vivir en redes.</a:t>
            </a:r>
            <a:endParaRPr lang="en-US" sz="1600" dirty="0"/>
          </a:p>
        </p:txBody>
      </p:sp>
      <p:pic>
        <p:nvPicPr>
          <p:cNvPr id="5" name="Card 278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03516"/>
            <a:ext cx="3511296" cy="389728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6" name="Icon FaBullhorn 279" descr="Bullhor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764905"/>
            <a:ext cx="731520" cy="731520"/>
          </a:xfrm>
          <a:prstGeom prst="rect">
            <a:avLst/>
          </a:prstGeom>
        </p:spPr>
      </p:pic>
      <p:sp>
        <p:nvSpPr>
          <p:cNvPr id="7" name="Text 280"/>
          <p:cNvSpPr txBox="1"/>
          <p:nvPr/>
        </p:nvSpPr>
        <p:spPr>
          <a:xfrm>
            <a:off x="1783080" y="2772295"/>
            <a:ext cx="204825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Antes:</a:t>
            </a:r>
            <a:endParaRPr lang="en-US" sz="2200" dirty="0"/>
          </a:p>
        </p:txBody>
      </p:sp>
      <p:sp>
        <p:nvSpPr>
          <p:cNvPr id="8" name="Text 281"/>
          <p:cNvSpPr txBox="1"/>
          <p:nvPr/>
        </p:nvSpPr>
        <p:spPr>
          <a:xfrm>
            <a:off x="868680" y="3802611"/>
            <a:ext cx="2871216" cy="23294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i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“Algo diferente está por suceder en Westhill”</a:t>
            </a:r>
            <a:endParaRPr lang="en-US" sz="2100" dirty="0"/>
          </a:p>
        </p:txBody>
      </p:sp>
      <p:pic>
        <p:nvPicPr>
          <p:cNvPr id="9" name="Icon FaChevronRight 282" descr="Chevron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8900" y="4246511"/>
            <a:ext cx="402336" cy="402336"/>
          </a:xfrm>
          <a:prstGeom prst="rect">
            <a:avLst/>
          </a:prstGeom>
        </p:spPr>
      </p:pic>
      <p:pic>
        <p:nvPicPr>
          <p:cNvPr id="10" name="Card 28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40200" y="2503516"/>
            <a:ext cx="3511296" cy="389728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11" name="Icon FaCamera 284" descr="Camera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0240" y="2764905"/>
            <a:ext cx="731520" cy="731520"/>
          </a:xfrm>
          <a:prstGeom prst="rect">
            <a:avLst/>
          </a:prstGeom>
        </p:spPr>
      </p:pic>
      <p:sp>
        <p:nvSpPr>
          <p:cNvPr id="12" name="Text 285"/>
          <p:cNvSpPr txBox="1"/>
          <p:nvPr/>
        </p:nvSpPr>
        <p:spPr>
          <a:xfrm>
            <a:off x="5574640" y="2772295"/>
            <a:ext cx="204825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Durante:</a:t>
            </a:r>
            <a:endParaRPr lang="en-US" sz="2200" dirty="0"/>
          </a:p>
        </p:txBody>
      </p:sp>
      <p:pic>
        <p:nvPicPr>
          <p:cNvPr id="13" name="Icon FaCamera 286" descr="Camer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05960" y="3753935"/>
            <a:ext cx="384048" cy="384048"/>
          </a:xfrm>
          <a:prstGeom prst="rect">
            <a:avLst/>
          </a:prstGeom>
        </p:spPr>
      </p:pic>
      <p:sp>
        <p:nvSpPr>
          <p:cNvPr id="14" name="Text 287"/>
          <p:cNvSpPr txBox="1"/>
          <p:nvPr/>
        </p:nvSpPr>
        <p:spPr>
          <a:xfrm>
            <a:off x="5254600" y="3757815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Fotografías</a:t>
            </a:r>
            <a:endParaRPr lang="en-US" sz="1500" dirty="0"/>
          </a:p>
        </p:txBody>
      </p:sp>
      <p:pic>
        <p:nvPicPr>
          <p:cNvPr id="15" name="Icon FaVideo 288" descr="Video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5960" y="4255655"/>
            <a:ext cx="384048" cy="384048"/>
          </a:xfrm>
          <a:prstGeom prst="rect">
            <a:avLst/>
          </a:prstGeom>
        </p:spPr>
      </p:pic>
      <p:sp>
        <p:nvSpPr>
          <p:cNvPr id="16" name="Text 289"/>
          <p:cNvSpPr txBox="1"/>
          <p:nvPr/>
        </p:nvSpPr>
        <p:spPr>
          <a:xfrm>
            <a:off x="5254600" y="4259534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Videos</a:t>
            </a:r>
            <a:endParaRPr lang="en-US" sz="1500" dirty="0"/>
          </a:p>
        </p:txBody>
      </p:sp>
      <p:pic>
        <p:nvPicPr>
          <p:cNvPr id="17" name="Icon FaComments 290" descr="Comments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05960" y="4757374"/>
            <a:ext cx="384048" cy="384048"/>
          </a:xfrm>
          <a:prstGeom prst="rect">
            <a:avLst/>
          </a:prstGeom>
        </p:spPr>
      </p:pic>
      <p:sp>
        <p:nvSpPr>
          <p:cNvPr id="18" name="Text 291"/>
          <p:cNvSpPr txBox="1"/>
          <p:nvPr/>
        </p:nvSpPr>
        <p:spPr>
          <a:xfrm>
            <a:off x="5254600" y="4761253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Testimonios</a:t>
            </a:r>
            <a:endParaRPr lang="en-US" sz="1500" dirty="0"/>
          </a:p>
        </p:txBody>
      </p:sp>
      <p:pic>
        <p:nvPicPr>
          <p:cNvPr id="19" name="Icon FaPuzzlePiece 292" descr="PuzzlePiec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05960" y="5259093"/>
            <a:ext cx="384048" cy="384048"/>
          </a:xfrm>
          <a:prstGeom prst="rect">
            <a:avLst/>
          </a:prstGeom>
        </p:spPr>
      </p:pic>
      <p:sp>
        <p:nvSpPr>
          <p:cNvPr id="20" name="Text 293"/>
          <p:cNvSpPr txBox="1"/>
          <p:nvPr/>
        </p:nvSpPr>
        <p:spPr>
          <a:xfrm>
            <a:off x="5254600" y="5262972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Retos</a:t>
            </a:r>
            <a:endParaRPr lang="en-US" sz="1500" dirty="0"/>
          </a:p>
        </p:txBody>
      </p:sp>
      <p:pic>
        <p:nvPicPr>
          <p:cNvPr id="21" name="Icon FaStar 294" descr="Star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05960" y="5760812"/>
            <a:ext cx="384048" cy="384048"/>
          </a:xfrm>
          <a:prstGeom prst="rect">
            <a:avLst/>
          </a:prstGeom>
        </p:spPr>
      </p:pic>
      <p:sp>
        <p:nvSpPr>
          <p:cNvPr id="22" name="Text 295"/>
          <p:cNvSpPr txBox="1"/>
          <p:nvPr/>
        </p:nvSpPr>
        <p:spPr>
          <a:xfrm>
            <a:off x="5254600" y="5764692"/>
            <a:ext cx="2322576" cy="37628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Experiencia</a:t>
            </a:r>
            <a:endParaRPr lang="en-US" sz="1500" dirty="0"/>
          </a:p>
        </p:txBody>
      </p:sp>
      <p:pic>
        <p:nvPicPr>
          <p:cNvPr id="23" name="Icon FaChevronRight 296" descr="ChevronRight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90459" y="4246511"/>
            <a:ext cx="402336" cy="402336"/>
          </a:xfrm>
          <a:prstGeom prst="rect">
            <a:avLst/>
          </a:prstGeom>
        </p:spPr>
      </p:pic>
      <p:pic>
        <p:nvPicPr>
          <p:cNvPr id="24" name="Card 297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31759" y="2503516"/>
            <a:ext cx="3511296" cy="3897284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25" name="Icon FaHeart 298" descr="Heart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451799" y="2764905"/>
            <a:ext cx="731520" cy="731520"/>
          </a:xfrm>
          <a:prstGeom prst="rect">
            <a:avLst/>
          </a:prstGeom>
        </p:spPr>
      </p:pic>
      <p:sp>
        <p:nvSpPr>
          <p:cNvPr id="26" name="Text 299"/>
          <p:cNvSpPr txBox="1"/>
          <p:nvPr/>
        </p:nvSpPr>
        <p:spPr>
          <a:xfrm>
            <a:off x="9366199" y="2772295"/>
            <a:ext cx="2048256" cy="7167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Después:</a:t>
            </a:r>
            <a:endParaRPr lang="en-US" sz="2200" dirty="0"/>
          </a:p>
        </p:txBody>
      </p:sp>
      <p:sp>
        <p:nvSpPr>
          <p:cNvPr id="27" name="Text 300"/>
          <p:cNvSpPr txBox="1"/>
          <p:nvPr/>
        </p:nvSpPr>
        <p:spPr>
          <a:xfrm>
            <a:off x="8451799" y="3802611"/>
            <a:ext cx="2871216" cy="23294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i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“Gracias Preparatoria invitada”.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16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5" dur="6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6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7" dur="650" decel="1000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6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1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2" dur="650" decel="100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6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06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7" dur="65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8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6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1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2" dur="65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42" presetClass="entr" presetSubtype="0" fill="hold" grpId="0" nodeType="withEffect">
                                  <p:stCondLst>
                                    <p:cond delay="72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6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6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7" dur="65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2" grpId="0" animBg="1"/>
      <p:bldP spid="14" grpId="0" animBg="1"/>
      <p:bldP spid="16" grpId="0" animBg="1"/>
      <p:bldP spid="18" grpId="0" animBg="1"/>
      <p:bldP spid="20" grpId="0" animBg="1"/>
      <p:bldP spid="22" grpId="0" animBg="1"/>
      <p:bldP spid="26" grpId="0" animBg="1"/>
      <p:bldP spid="27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ashtag 301"/>
          <p:cNvSpPr txBox="1"/>
          <p:nvPr/>
        </p:nvSpPr>
        <p:spPr>
          <a:xfrm>
            <a:off x="1051560" y="914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20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2000" dirty="0"/>
          </a:p>
        </p:txBody>
      </p:sp>
      <p:sp>
        <p:nvSpPr>
          <p:cNvPr id="3" name="Text 1"/>
          <p:cNvSpPr/>
          <p:nvPr>
            <p:ph idx="103" type="title" hasCustomPrompt="1"/>
          </p:nvPr>
        </p:nvSpPr>
        <p:spPr>
          <a:xfrm>
            <a:off x="548640" y="1261872"/>
            <a:ext cx="10515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 Piloto</a:t>
            </a:r>
            <a:endParaRPr lang="en-US" sz="3000" dirty="0"/>
          </a:p>
        </p:txBody>
      </p:sp>
      <p:sp>
        <p:nvSpPr>
          <p:cNvPr id="4" name="Subtitle 302"/>
          <p:cNvSpPr txBox="1"/>
          <p:nvPr/>
        </p:nvSpPr>
        <p:spPr>
          <a:xfrm>
            <a:off x="548640" y="18288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Preparatoria IPEFH</a:t>
            </a:r>
            <a:endParaRPr lang="en-US" sz="1600" dirty="0"/>
          </a:p>
        </p:txBody>
      </p:sp>
      <p:pic>
        <p:nvPicPr>
          <p:cNvPr id="5" name="Card 303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503516"/>
            <a:ext cx="5396332" cy="371809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25000"/>
              </a:srgbClr>
            </a:outerShdw>
          </a:effectLst>
        </p:spPr>
      </p:pic>
      <p:pic>
        <p:nvPicPr>
          <p:cNvPr id="6" name="Icon FaCalendarDays 304" descr="CalendarDay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2764444"/>
            <a:ext cx="777240" cy="777240"/>
          </a:xfrm>
          <a:prstGeom prst="rect">
            <a:avLst/>
          </a:prstGeom>
        </p:spPr>
      </p:pic>
      <p:sp>
        <p:nvSpPr>
          <p:cNvPr id="7" name="Text 305"/>
          <p:cNvSpPr txBox="1"/>
          <p:nvPr/>
        </p:nvSpPr>
        <p:spPr>
          <a:xfrm>
            <a:off x="1874520" y="2772295"/>
            <a:ext cx="3841852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FECHA DE VISITA:</a:t>
            </a:r>
            <a:endParaRPr lang="en-US" sz="1300" dirty="0"/>
          </a:p>
        </p:txBody>
      </p:sp>
      <p:sp>
        <p:nvSpPr>
          <p:cNvPr id="8" name="Text 306"/>
          <p:cNvSpPr txBox="1"/>
          <p:nvPr/>
        </p:nvSpPr>
        <p:spPr>
          <a:xfrm>
            <a:off x="1874520" y="3112747"/>
            <a:ext cx="3841852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Miércoles 14 de octubre:</a:t>
            </a:r>
            <a:endParaRPr lang="en-US" sz="2200" dirty="0"/>
          </a:p>
        </p:txBody>
      </p:sp>
      <p:pic>
        <p:nvPicPr>
          <p:cNvPr id="9" name="Icon FaSchool 307" descr="Schoo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887124"/>
            <a:ext cx="502920" cy="502920"/>
          </a:xfrm>
          <a:prstGeom prst="rect">
            <a:avLst/>
          </a:prstGeom>
        </p:spPr>
      </p:pic>
      <p:sp>
        <p:nvSpPr>
          <p:cNvPr id="10" name="Text 308"/>
          <p:cNvSpPr txBox="1"/>
          <p:nvPr/>
        </p:nvSpPr>
        <p:spPr>
          <a:xfrm>
            <a:off x="1600200" y="3847407"/>
            <a:ext cx="4116172" cy="5823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Planteles Aeropuerto y Calimaya</a:t>
            </a:r>
            <a:endParaRPr lang="en-US" sz="1700" dirty="0"/>
          </a:p>
        </p:txBody>
      </p:sp>
      <p:sp>
        <p:nvSpPr>
          <p:cNvPr id="11" name="Text 309"/>
          <p:cNvSpPr txBox="1"/>
          <p:nvPr/>
        </p:nvSpPr>
        <p:spPr>
          <a:xfrm>
            <a:off x="914400" y="4698538"/>
            <a:ext cx="2834640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5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Número de alumnos:</a:t>
            </a:r>
            <a:endParaRPr lang="en-US" sz="1500" dirty="0"/>
          </a:p>
        </p:txBody>
      </p:sp>
      <p:sp>
        <p:nvSpPr>
          <p:cNvPr id="12" name="Field line 310"/>
          <p:cNvSpPr/>
          <p:nvPr/>
        </p:nvSpPr>
        <p:spPr>
          <a:xfrm>
            <a:off x="3749040" y="5128583"/>
            <a:ext cx="1784452" cy="0"/>
          </a:xfrm>
          <a:prstGeom prst="line">
            <a:avLst/>
          </a:prstGeom>
          <a:noFill/>
          <a:ln w="15875">
            <a:solidFill>
              <a:srgbClr val="8FB3D9"/>
            </a:solidFill>
            <a:prstDash val="dash"/>
          </a:ln>
        </p:spPr>
      </p:sp>
      <p:pic>
        <p:nvPicPr>
          <p:cNvPr id="13" name="Card 311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6724" y="2503516"/>
            <a:ext cx="5396332" cy="3718098"/>
          </a:xfrm>
          <a:prstGeom prst="rect">
            <a:avLst/>
          </a:prstGeom>
          <a:effectLst>
            <a:outerShdw sx="100000" sy="100000" kx="0" ky="0" algn="bl" rotWithShape="0" blurRad="228600" dist="76200" dir="5400000">
              <a:srgbClr val="0E2A47">
                <a:alpha val="10000"/>
              </a:srgbClr>
            </a:outerShdw>
          </a:effectLst>
        </p:spPr>
      </p:pic>
      <p:pic>
        <p:nvPicPr>
          <p:cNvPr id="14" name="Icon FaCalendarDays 312" descr="CalendarDays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12484" y="2764444"/>
            <a:ext cx="777240" cy="777240"/>
          </a:xfrm>
          <a:prstGeom prst="rect">
            <a:avLst/>
          </a:prstGeom>
        </p:spPr>
      </p:pic>
      <p:sp>
        <p:nvSpPr>
          <p:cNvPr id="15" name="Text 313"/>
          <p:cNvSpPr txBox="1"/>
          <p:nvPr/>
        </p:nvSpPr>
        <p:spPr>
          <a:xfrm>
            <a:off x="7572604" y="2772295"/>
            <a:ext cx="3841852" cy="3583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Segunda visita:</a:t>
            </a:r>
            <a:endParaRPr lang="en-US" sz="1300" dirty="0"/>
          </a:p>
        </p:txBody>
      </p:sp>
      <p:sp>
        <p:nvSpPr>
          <p:cNvPr id="16" name="Text 314"/>
          <p:cNvSpPr txBox="1"/>
          <p:nvPr/>
        </p:nvSpPr>
        <p:spPr>
          <a:xfrm>
            <a:off x="7572604" y="3112747"/>
            <a:ext cx="3841852" cy="4479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Viernes 16 de octubre:</a:t>
            </a:r>
            <a:endParaRPr lang="en-US" sz="2200" dirty="0"/>
          </a:p>
        </p:txBody>
      </p:sp>
      <p:pic>
        <p:nvPicPr>
          <p:cNvPr id="17" name="Icon FaSchool 315" descr="Schoo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12484" y="3887124"/>
            <a:ext cx="502920" cy="502920"/>
          </a:xfrm>
          <a:prstGeom prst="rect">
            <a:avLst/>
          </a:prstGeom>
        </p:spPr>
      </p:pic>
      <p:sp>
        <p:nvSpPr>
          <p:cNvPr id="18" name="Text 316"/>
          <p:cNvSpPr txBox="1"/>
          <p:nvPr/>
        </p:nvSpPr>
        <p:spPr>
          <a:xfrm>
            <a:off x="7298284" y="3847407"/>
            <a:ext cx="4116172" cy="58235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Plantel Toluca</a:t>
            </a:r>
            <a:endParaRPr lang="en-US" sz="1700" dirty="0"/>
          </a:p>
        </p:txBody>
      </p:sp>
      <p:sp>
        <p:nvSpPr>
          <p:cNvPr id="19" name="Text 317"/>
          <p:cNvSpPr txBox="1"/>
          <p:nvPr/>
        </p:nvSpPr>
        <p:spPr>
          <a:xfrm>
            <a:off x="6612484" y="4698538"/>
            <a:ext cx="2834640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Número de alumnos:</a:t>
            </a:r>
            <a:endParaRPr lang="en-US" sz="1500" dirty="0"/>
          </a:p>
        </p:txBody>
      </p:sp>
      <p:sp>
        <p:nvSpPr>
          <p:cNvPr id="20" name="Field line 318"/>
          <p:cNvSpPr/>
          <p:nvPr/>
        </p:nvSpPr>
        <p:spPr>
          <a:xfrm>
            <a:off x="9447124" y="5128583"/>
            <a:ext cx="1784452" cy="0"/>
          </a:xfrm>
          <a:prstGeom prst="line">
            <a:avLst/>
          </a:prstGeom>
          <a:noFill/>
          <a:ln w="15875">
            <a:solidFill>
              <a:srgbClr val="B8C7D9"/>
            </a:solidFill>
            <a:prstDash val="dash"/>
          </a:ln>
        </p:spPr>
      </p:sp>
      <p:sp>
        <p:nvSpPr>
          <p:cNvPr id="21" name="Text 319"/>
          <p:cNvSpPr txBox="1"/>
          <p:nvPr/>
        </p:nvSpPr>
        <p:spPr>
          <a:xfrm>
            <a:off x="6612484" y="5460076"/>
            <a:ext cx="2834640" cy="5375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Número de administrativos.</a:t>
            </a:r>
            <a:endParaRPr lang="en-US" sz="1500" dirty="0"/>
          </a:p>
        </p:txBody>
      </p:sp>
      <p:sp>
        <p:nvSpPr>
          <p:cNvPr id="22" name="Field line 320"/>
          <p:cNvSpPr/>
          <p:nvPr/>
        </p:nvSpPr>
        <p:spPr>
          <a:xfrm>
            <a:off x="9447124" y="5890121"/>
            <a:ext cx="1784452" cy="0"/>
          </a:xfrm>
          <a:prstGeom prst="line">
            <a:avLst/>
          </a:prstGeom>
          <a:noFill/>
          <a:ln w="15875">
            <a:solidFill>
              <a:srgbClr val="B8C7D9"/>
            </a:solidFill>
            <a:prstDash val="dash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31575" y="6510528"/>
            <a:ext cx="411480" cy="219456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1"/>
                </a:solidFill>
                <a:latin typeface="Raleway"/>
                <a:ea typeface="Raleway"/>
                <a:cs typeface="Raleway"/>
              </a:defRPr>
            </a:lvl1pPr>
          </a:lstStyle>
          <a:p>
            <a:pPr algn="r"/>
            <a:fld id="{F7021451-1387-4CA6-816F-3879F97B5CBC}" type="slidenum">
              <a:rPr b="1" lang="en-US"/>
              <a:t>17</a:t>
            </a:fld>
            <a:endParaRPr lang="en-US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6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6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7" dur="650" decel="100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6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1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650" decel="100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6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650" decel="100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8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6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650" decel="100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6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6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650" decel="100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6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1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2" dur="650" decel="100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6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6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7" dur="650" decel="100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6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1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2" dur="65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6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6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7" dur="65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6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1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2" dur="650" decel="100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6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76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7" dur="650" decel="100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0" dur="6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1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2" dur="650" decel="100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6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6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7" dur="65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6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91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2" dur="65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0" grpId="0" animBg="1"/>
      <p:bldP spid="11" grpId="0" animBg="1"/>
      <p:bldP spid="12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2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ntro background 321" descr="Campus Universidad Westhil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Logo Westhill 322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-384048"/>
            <a:ext cx="1316736" cy="1581441"/>
          </a:xfrm>
          <a:prstGeom prst="rect">
            <a:avLst/>
          </a:prstGeom>
        </p:spPr>
      </p:pic>
      <p:sp>
        <p:nvSpPr>
          <p:cNvPr id="4" name="Hashtag 323"/>
          <p:cNvSpPr txBox="1"/>
          <p:nvPr/>
        </p:nvSpPr>
        <p:spPr>
          <a:xfrm>
            <a:off x="8412480" y="63550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</a:t>
            </a:r>
            <a:pPr indent="0" marL="0">
              <a:buNone/>
            </a:pPr>
            <a:r>
              <a:rPr lang="en-US" sz="1700" b="1" dirty="0">
                <a:solidFill>
                  <a:schemeClr val="bg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</a:t>
            </a:r>
            <a:endParaRPr lang="en-US" sz="1700" dirty="0"/>
          </a:p>
        </p:txBody>
      </p:sp>
      <p:sp>
        <p:nvSpPr>
          <p:cNvPr id="5" name="Closing headline 324"/>
          <p:cNvSpPr txBox="1"/>
          <p:nvPr/>
        </p:nvSpPr>
        <p:spPr>
          <a:xfrm>
            <a:off x="411480" y="23774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#SOMOSWESTHILL</a:t>
            </a:r>
            <a:endParaRPr lang="en-US" sz="3600" dirty="0"/>
          </a:p>
        </p:txBody>
      </p:sp>
      <p:sp>
        <p:nvSpPr>
          <p:cNvPr id="6" name="Closing line 1 325"/>
          <p:cNvSpPr txBox="1"/>
          <p:nvPr/>
        </p:nvSpPr>
        <p:spPr>
          <a:xfrm>
            <a:off x="411480" y="310896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Westhill 360°</a:t>
            </a:r>
            <a:endParaRPr lang="en-US" sz="2000" dirty="0"/>
          </a:p>
        </p:txBody>
      </p:sp>
      <p:sp>
        <p:nvSpPr>
          <p:cNvPr id="7" name="Closing line 2 326"/>
          <p:cNvSpPr txBox="1"/>
          <p:nvPr/>
        </p:nvSpPr>
        <p:spPr>
          <a:xfrm>
            <a:off x="411480" y="3520440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chemeClr val="accent6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Visita de preparatorias</a:t>
            </a:r>
            <a:endParaRPr lang="en-US" sz="1700" dirty="0"/>
          </a:p>
        </p:txBody>
      </p:sp>
      <p:sp>
        <p:nvSpPr>
          <p:cNvPr id="8" name="Handle 327"/>
          <p:cNvSpPr txBox="1"/>
          <p:nvPr/>
        </p:nvSpPr>
        <p:spPr>
          <a:xfrm>
            <a:off x="1371600" y="4160520"/>
            <a:ext cx="2651760" cy="51206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100" kern="0" dirty="0">
                <a:solidFill>
                  <a:schemeClr val="tx2"/>
                </a:solidFill>
                <a:latin typeface="Raleway" pitchFamily="34" charset="0"/>
                <a:ea typeface="Raleway" pitchFamily="34" charset="-122"/>
                <a:cs typeface="Raleway" pitchFamily="34" charset="-120"/>
              </a:rPr>
              <a:t>@univwesthill</a:t>
            </a:r>
            <a:endParaRPr lang="en-US" sz="1600" dirty="0"/>
          </a:p>
        </p:txBody>
      </p:sp>
    </p:spTree>
  </p:cSld>
  <p:clrMapOvr>
    <a:masterClrMapping/>
  </p:clrMapOvr>
  <p:transition spd="slow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6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650" decel="100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42" presetClass="entr" presetSubtype="0" fill="hold" grpId="0" nodeType="withEffect">
                                  <p:stCondLst>
                                    <p:cond delay="18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6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650" decel="1000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42" presetClass="entr" presetSubtype="0" fill="hold" grpId="0" nodeType="withEffect">
                                  <p:stCondLst>
                                    <p:cond delay="36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6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6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650" decel="100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" presetID="42" presetClass="entr" presetSubtype="0" fill="hold" grpId="0" nodeType="withEffect">
                                  <p:stCondLst>
                                    <p:cond delay="54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6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1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650" decel="100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0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Westhill">
      <a:dk1>
        <a:srgbClr val="15243A"/>
      </a:dk1>
      <a:lt1>
        <a:srgbClr val="FFFFFF"/>
      </a:lt1>
      <a:dk2>
        <a:srgbClr val="0E2A47"/>
      </a:dk2>
      <a:lt2>
        <a:srgbClr val="EDF3FA"/>
      </a:lt2>
      <a:accent1>
        <a:srgbClr val="266294"/>
      </a:accent1>
      <a:accent2>
        <a:srgbClr val="F2C94C"/>
      </a:accent2>
      <a:accent3>
        <a:srgbClr val="4A90C8"/>
      </a:accent3>
      <a:accent4>
        <a:srgbClr val="163A5F"/>
      </a:accent4>
      <a:accent5>
        <a:srgbClr val="8FB3D9"/>
      </a:accent5>
      <a:accent6>
        <a:srgbClr val="5B6B7D"/>
      </a:accent6>
      <a:hlink>
        <a:srgbClr val="266294"/>
      </a:hlink>
      <a:folHlink>
        <a:srgbClr val="163A5F"/>
      </a:folHlink>
    </a:clrScheme>
    <a:fontScheme name="Office">
      <a:majorFont>
        <a:latin typeface="Ralew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aleway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Universidad Westhill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Westhill 360° · Visita de preparatorias</dc:title>
  <dc:subject>PptxGenJS Presentation</dc:subject>
  <dc:creator>Universidad Westhill</dc:creator>
  <cp:lastModifiedBy>Universidad Westhill</cp:lastModifiedBy>
  <cp:revision>1</cp:revision>
  <dcterms:created xsi:type="dcterms:W3CDTF">2026-10-05T21:55:32Z</dcterms:created>
  <dcterms:modified xsi:type="dcterms:W3CDTF">2026-10-05T21:55:32Z</dcterms:modified>
</cp:coreProperties>
</file>
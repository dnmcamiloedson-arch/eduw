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369" r:id="rId3"/>
    <p:sldId id="400" r:id="rId4"/>
    <p:sldId id="401" r:id="rId5"/>
    <p:sldId id="412" r:id="rId6"/>
    <p:sldId id="415" r:id="rId7"/>
    <p:sldId id="403" r:id="rId8"/>
    <p:sldId id="413" r:id="rId9"/>
    <p:sldId id="414" r:id="rId10"/>
    <p:sldId id="416" r:id="rId11"/>
    <p:sldId id="417" r:id="rId12"/>
    <p:sldId id="418" r:id="rId13"/>
    <p:sldId id="395" r:id="rId14"/>
  </p:sldIdLst>
  <p:sldSz cx="18288000" cy="10287000"/>
  <p:notesSz cx="7010400" cy="92964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Raleway" panose="020B0604020202020204" charset="0"/>
      <p:regular r:id="rId20"/>
      <p:bold r:id="rId21"/>
      <p:italic r:id="rId22"/>
      <p:boldItalic r:id="rId23"/>
    </p:embeddedFont>
    <p:embeddedFont>
      <p:font typeface="Raleway Bold" panose="020B0604020202020204" charset="0"/>
      <p:regular r:id="rId24"/>
      <p:bold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22" autoAdjust="0"/>
  </p:normalViewPr>
  <p:slideViewPr>
    <p:cSldViewPr>
      <p:cViewPr varScale="1">
        <p:scale>
          <a:sx n="51" d="100"/>
          <a:sy n="51" d="100"/>
        </p:scale>
        <p:origin x="216" y="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156B91BC-13AB-4676-82E7-327963E73B8D}" type="datetimeFigureOut">
              <a:rPr lang="es-MX" smtClean="0"/>
              <a:t>02/10/2026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6E2D8B7E-5B40-4F38-847A-DFF49A95DD4F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45920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D8B7E-5B40-4F38-847A-DFF49A95DD4F}" type="slidenum">
              <a:rPr lang="es-MX" smtClean="0"/>
              <a:t>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729975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Excel_Worksheet.xlsx"/><Relationship Id="rId3" Type="http://schemas.openxmlformats.org/officeDocument/2006/relationships/image" Target="../media/image7.png"/><Relationship Id="rId7" Type="http://schemas.openxmlformats.org/officeDocument/2006/relationships/image" Target="../media/image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svg"/><Relationship Id="rId11" Type="http://schemas.openxmlformats.org/officeDocument/2006/relationships/image" Target="../media/image10.emf"/><Relationship Id="rId5" Type="http://schemas.openxmlformats.org/officeDocument/2006/relationships/image" Target="../media/image4.png"/><Relationship Id="rId10" Type="http://schemas.openxmlformats.org/officeDocument/2006/relationships/package" Target="../embeddings/Microsoft_Excel_Worksheet1.xlsx"/><Relationship Id="rId4" Type="http://schemas.openxmlformats.org/officeDocument/2006/relationships/image" Target="../media/image8.svg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8.sv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391396" y="-2708389"/>
            <a:ext cx="13489132" cy="13937931"/>
            <a:chOff x="26172" y="0"/>
            <a:chExt cx="786628" cy="812800"/>
          </a:xfrm>
        </p:grpSpPr>
        <p:sp>
          <p:nvSpPr>
            <p:cNvPr id="3" name="Freeform 3"/>
            <p:cNvSpPr/>
            <p:nvPr/>
          </p:nvSpPr>
          <p:spPr>
            <a:xfrm>
              <a:off x="26172" y="0"/>
              <a:ext cx="786628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3"/>
              <a:stretch>
                <a:fillRect t="-28011" b="-47043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-596186" y="7451181"/>
            <a:ext cx="19480371" cy="4641694"/>
            <a:chOff x="0" y="0"/>
            <a:chExt cx="25973828" cy="6188925"/>
          </a:xfrm>
        </p:grpSpPr>
        <p:sp>
          <p:nvSpPr>
            <p:cNvPr id="5" name="Freeform 5"/>
            <p:cNvSpPr/>
            <p:nvPr/>
          </p:nvSpPr>
          <p:spPr>
            <a:xfrm>
              <a:off x="658205" y="0"/>
              <a:ext cx="25315623" cy="6012460"/>
            </a:xfrm>
            <a:custGeom>
              <a:avLst/>
              <a:gdLst/>
              <a:ahLst/>
              <a:cxnLst/>
              <a:rect l="l" t="t" r="r" b="b"/>
              <a:pathLst>
                <a:path w="25315623" h="6012460">
                  <a:moveTo>
                    <a:pt x="0" y="0"/>
                  </a:moveTo>
                  <a:lnTo>
                    <a:pt x="25315623" y="0"/>
                  </a:lnTo>
                  <a:lnTo>
                    <a:pt x="25315623" y="6012460"/>
                  </a:lnTo>
                  <a:lnTo>
                    <a:pt x="0" y="6012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>
              <a:off x="0" y="176465"/>
              <a:ext cx="25315623" cy="6012460"/>
            </a:xfrm>
            <a:custGeom>
              <a:avLst/>
              <a:gdLst/>
              <a:ahLst/>
              <a:cxnLst/>
              <a:rect l="l" t="t" r="r" b="b"/>
              <a:pathLst>
                <a:path w="25315623" h="6012460">
                  <a:moveTo>
                    <a:pt x="0" y="0"/>
                  </a:moveTo>
                  <a:lnTo>
                    <a:pt x="25315623" y="0"/>
                  </a:lnTo>
                  <a:lnTo>
                    <a:pt x="25315623" y="6012460"/>
                  </a:lnTo>
                  <a:lnTo>
                    <a:pt x="0" y="6012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905000" y="1089"/>
            <a:ext cx="1905000" cy="2251018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6984" t="-40714" r="-29893" b="-95309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2819706" y="9591052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 dirty="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 dirty="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11" name="TextBox 21">
            <a:extLst>
              <a:ext uri="{FF2B5EF4-FFF2-40B4-BE49-F238E27FC236}">
                <a16:creationId xmlns:a16="http://schemas.microsoft.com/office/drawing/2014/main" id="{C293C760-A61E-415E-B875-1944F3804BF7}"/>
              </a:ext>
            </a:extLst>
          </p:cNvPr>
          <p:cNvSpPr txBox="1"/>
          <p:nvPr/>
        </p:nvSpPr>
        <p:spPr>
          <a:xfrm>
            <a:off x="875107" y="4386882"/>
            <a:ext cx="8462379" cy="15132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921"/>
              </a:lnSpc>
            </a:pPr>
            <a:r>
              <a:rPr lang="en-US" sz="54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  </a:t>
            </a:r>
          </a:p>
          <a:p>
            <a:pPr algn="l">
              <a:lnSpc>
                <a:spcPts val="5921"/>
              </a:lnSpc>
            </a:pPr>
            <a:r>
              <a:rPr lang="en-US" sz="54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ENERO </a:t>
            </a:r>
          </a:p>
        </p:txBody>
      </p:sp>
      <p:sp>
        <p:nvSpPr>
          <p:cNvPr id="10" name="TextBox 21">
            <a:extLst>
              <a:ext uri="{FF2B5EF4-FFF2-40B4-BE49-F238E27FC236}">
                <a16:creationId xmlns:a16="http://schemas.microsoft.com/office/drawing/2014/main" id="{B2CDFE1D-AE79-48C0-B98E-3A546E08D991}"/>
              </a:ext>
            </a:extLst>
          </p:cNvPr>
          <p:cNvSpPr txBox="1"/>
          <p:nvPr/>
        </p:nvSpPr>
        <p:spPr>
          <a:xfrm>
            <a:off x="1295400" y="6094051"/>
            <a:ext cx="6477000" cy="7883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921"/>
              </a:lnSpc>
            </a:pPr>
            <a:r>
              <a:rPr lang="en-US" sz="72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62F9365-CCCF-409A-9233-B8561B59375A}"/>
              </a:ext>
            </a:extLst>
          </p:cNvPr>
          <p:cNvSpPr/>
          <p:nvPr/>
        </p:nvSpPr>
        <p:spPr>
          <a:xfrm>
            <a:off x="7046930" y="4729710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BC3538D-ECF5-46C3-A664-9DECEE25B8AE}"/>
              </a:ext>
            </a:extLst>
          </p:cNvPr>
          <p:cNvSpPr/>
          <p:nvPr/>
        </p:nvSpPr>
        <p:spPr>
          <a:xfrm>
            <a:off x="9002352" y="558275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04DC39E4-6001-4C60-BBB1-125F24F6832E}"/>
              </a:ext>
            </a:extLst>
          </p:cNvPr>
          <p:cNvSpPr/>
          <p:nvPr/>
        </p:nvSpPr>
        <p:spPr>
          <a:xfrm>
            <a:off x="6919882" y="311527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168BBD0-888B-450B-BFEC-737B316FF3C2}"/>
              </a:ext>
            </a:extLst>
          </p:cNvPr>
          <p:cNvSpPr/>
          <p:nvPr/>
        </p:nvSpPr>
        <p:spPr>
          <a:xfrm>
            <a:off x="5891076" y="330937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0" y="2673941"/>
            <a:ext cx="15935355" cy="1074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EMBAJADORES WESTHILL 2.0: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El programa de Embajadores Westhill es una iniciativa para que nuestros estudiantes compartan su experiencia, representen a la Universidad y ayuden a más jóvenes a descubrir su camino profesional.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Objetivo</a:t>
            </a:r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: Generar más prospectos e inscritos, fortaleciendo el sentido de pertenencia de nuestros estudiantes y posicionando a Westhill </a:t>
            </a:r>
            <a:r>
              <a:rPr lang="es-MX" sz="2800" b="1" dirty="0" err="1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atráves</a:t>
            </a:r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 de su voz auténtica.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¿Por qué ser embajador?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Haces la diferencia en la vida de otros.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Fortalece tu universidad.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Desarrollas habilidades de liderazgo.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Obtienes incentivos y reconocimientos.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Vives experiencias únicas.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C230D46-39FB-420A-BD74-F28896046801}"/>
              </a:ext>
            </a:extLst>
          </p:cNvPr>
          <p:cNvSpPr/>
          <p:nvPr/>
        </p:nvSpPr>
        <p:spPr>
          <a:xfrm>
            <a:off x="9013643" y="307011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1563497-907B-450F-B3F4-0DC59C39770C}"/>
              </a:ext>
            </a:extLst>
          </p:cNvPr>
          <p:cNvSpPr/>
          <p:nvPr/>
        </p:nvSpPr>
        <p:spPr>
          <a:xfrm>
            <a:off x="7937042" y="3843963"/>
            <a:ext cx="1556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6D245126-DD97-4FB9-ACE1-70432188DA0F}"/>
              </a:ext>
            </a:extLst>
          </p:cNvPr>
          <p:cNvSpPr txBox="1"/>
          <p:nvPr/>
        </p:nvSpPr>
        <p:spPr>
          <a:xfrm>
            <a:off x="10286582" y="323010"/>
            <a:ext cx="5779861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3699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62F9365-CCCF-409A-9233-B8561B59375A}"/>
              </a:ext>
            </a:extLst>
          </p:cNvPr>
          <p:cNvSpPr/>
          <p:nvPr/>
        </p:nvSpPr>
        <p:spPr>
          <a:xfrm>
            <a:off x="6473405" y="466570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BC3538D-ECF5-46C3-A664-9DECEE25B8AE}"/>
              </a:ext>
            </a:extLst>
          </p:cNvPr>
          <p:cNvSpPr/>
          <p:nvPr/>
        </p:nvSpPr>
        <p:spPr>
          <a:xfrm>
            <a:off x="9002352" y="558275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04DC39E4-6001-4C60-BBB1-125F24F6832E}"/>
              </a:ext>
            </a:extLst>
          </p:cNvPr>
          <p:cNvSpPr/>
          <p:nvPr/>
        </p:nvSpPr>
        <p:spPr>
          <a:xfrm>
            <a:off x="6346357" y="3051264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168BBD0-888B-450B-BFEC-737B316FF3C2}"/>
              </a:ext>
            </a:extLst>
          </p:cNvPr>
          <p:cNvSpPr/>
          <p:nvPr/>
        </p:nvSpPr>
        <p:spPr>
          <a:xfrm>
            <a:off x="5317551" y="3245364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1" y="2582683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Se basa en 3 perfiles: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C230D46-39FB-420A-BD74-F28896046801}"/>
              </a:ext>
            </a:extLst>
          </p:cNvPr>
          <p:cNvSpPr/>
          <p:nvPr/>
        </p:nvSpPr>
        <p:spPr>
          <a:xfrm>
            <a:off x="9013643" y="307011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1563497-907B-450F-B3F4-0DC59C39770C}"/>
              </a:ext>
            </a:extLst>
          </p:cNvPr>
          <p:cNvSpPr/>
          <p:nvPr/>
        </p:nvSpPr>
        <p:spPr>
          <a:xfrm>
            <a:off x="7363517" y="3779955"/>
            <a:ext cx="1556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F8057A-D65C-4EB2-A674-DAFF06B94A19}"/>
              </a:ext>
            </a:extLst>
          </p:cNvPr>
          <p:cNvSpPr/>
          <p:nvPr/>
        </p:nvSpPr>
        <p:spPr>
          <a:xfrm>
            <a:off x="831265" y="5368061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691474-C7C7-4297-9550-E19202DCF506}"/>
              </a:ext>
            </a:extLst>
          </p:cNvPr>
          <p:cNvSpPr/>
          <p:nvPr/>
        </p:nvSpPr>
        <p:spPr>
          <a:xfrm>
            <a:off x="1534045" y="3158163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E13B980-2520-4739-ABFB-E0D6495446A6}"/>
              </a:ext>
            </a:extLst>
          </p:cNvPr>
          <p:cNvSpPr txBox="1"/>
          <p:nvPr/>
        </p:nvSpPr>
        <p:spPr>
          <a:xfrm>
            <a:off x="-846881" y="4511055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conecta</a:t>
            </a:r>
            <a:endParaRPr lang="en-US" sz="36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9078779-362F-4F5B-B51E-5B41DEE88D27}"/>
              </a:ext>
            </a:extLst>
          </p:cNvPr>
          <p:cNvSpPr txBox="1"/>
          <p:nvPr/>
        </p:nvSpPr>
        <p:spPr>
          <a:xfrm>
            <a:off x="-827048" y="3955284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88E3AF7-8DBC-42DC-81C7-9BCA4AB4F880}"/>
              </a:ext>
            </a:extLst>
          </p:cNvPr>
          <p:cNvSpPr txBox="1"/>
          <p:nvPr/>
        </p:nvSpPr>
        <p:spPr>
          <a:xfrm>
            <a:off x="-261852" y="5989827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Comparte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Westhill con amigos,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familiares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y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conocidos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71635BB-DB51-45E2-93DD-BE7B5098D6DC}"/>
              </a:ext>
            </a:extLst>
          </p:cNvPr>
          <p:cNvSpPr txBox="1"/>
          <p:nvPr/>
        </p:nvSpPr>
        <p:spPr>
          <a:xfrm>
            <a:off x="-2362200" y="6644123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Invita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eventos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2F84F7D-3957-4268-86A2-E70CCEE848ED}"/>
              </a:ext>
            </a:extLst>
          </p:cNvPr>
          <p:cNvSpPr txBox="1"/>
          <p:nvPr/>
        </p:nvSpPr>
        <p:spPr>
          <a:xfrm>
            <a:off x="-397641" y="7212784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Genera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prospectos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con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tú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codigo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o enlace personal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11A8338-98E6-4DB8-AD3B-5097021642CF}"/>
              </a:ext>
            </a:extLst>
          </p:cNvPr>
          <p:cNvSpPr/>
          <p:nvPr/>
        </p:nvSpPr>
        <p:spPr>
          <a:xfrm>
            <a:off x="9642458" y="5217802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F6E713-CA7D-4D2A-BC55-FF1514326D8E}"/>
              </a:ext>
            </a:extLst>
          </p:cNvPr>
          <p:cNvSpPr/>
          <p:nvPr/>
        </p:nvSpPr>
        <p:spPr>
          <a:xfrm>
            <a:off x="10345238" y="3007904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5" name="TextBox 9">
            <a:extLst>
              <a:ext uri="{FF2B5EF4-FFF2-40B4-BE49-F238E27FC236}">
                <a16:creationId xmlns:a16="http://schemas.microsoft.com/office/drawing/2014/main" id="{99FC0E97-6C5A-423C-B2BF-AC719370A77B}"/>
              </a:ext>
            </a:extLst>
          </p:cNvPr>
          <p:cNvSpPr txBox="1"/>
          <p:nvPr/>
        </p:nvSpPr>
        <p:spPr>
          <a:xfrm>
            <a:off x="7583219" y="5780159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Participa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eventos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, ferias y webinars.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6" name="TextBox 9">
            <a:extLst>
              <a:ext uri="{FF2B5EF4-FFF2-40B4-BE49-F238E27FC236}">
                <a16:creationId xmlns:a16="http://schemas.microsoft.com/office/drawing/2014/main" id="{7537ED5B-CD36-4196-AE39-009F001219A0}"/>
              </a:ext>
            </a:extLst>
          </p:cNvPr>
          <p:cNvSpPr txBox="1"/>
          <p:nvPr/>
        </p:nvSpPr>
        <p:spPr>
          <a:xfrm>
            <a:off x="7768837" y="6270902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Comparte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tu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experiencia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como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estudiante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5788DC5-B0B8-48A2-B97A-939A8166BE5E}"/>
              </a:ext>
            </a:extLst>
          </p:cNvPr>
          <p:cNvSpPr txBox="1"/>
          <p:nvPr/>
        </p:nvSpPr>
        <p:spPr>
          <a:xfrm>
            <a:off x="7923042" y="4247363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experiencia</a:t>
            </a:r>
            <a:endParaRPr lang="en-US" sz="36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7942875" y="3691592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D4A2169F-F4C7-4D8A-92B6-401AEF23076B}"/>
              </a:ext>
            </a:extLst>
          </p:cNvPr>
          <p:cNvSpPr txBox="1"/>
          <p:nvPr/>
        </p:nvSpPr>
        <p:spPr>
          <a:xfrm>
            <a:off x="7144687" y="6786859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Graba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testimonios y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contenido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88E393E3-8500-48F9-8024-C3253C2E104D}"/>
              </a:ext>
            </a:extLst>
          </p:cNvPr>
          <p:cNvSpPr txBox="1"/>
          <p:nvPr/>
        </p:nvSpPr>
        <p:spPr>
          <a:xfrm>
            <a:off x="7308668" y="7337746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Acompaña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prospectos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visitas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6425658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0" y="2673941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EMBAJADORES WESTHILL 2.0: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F8057A-D65C-4EB2-A674-DAFF06B94A19}"/>
              </a:ext>
            </a:extLst>
          </p:cNvPr>
          <p:cNvSpPr/>
          <p:nvPr/>
        </p:nvSpPr>
        <p:spPr>
          <a:xfrm>
            <a:off x="6418201" y="5368061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691474-C7C7-4297-9550-E19202DCF506}"/>
              </a:ext>
            </a:extLst>
          </p:cNvPr>
          <p:cNvSpPr/>
          <p:nvPr/>
        </p:nvSpPr>
        <p:spPr>
          <a:xfrm>
            <a:off x="7120981" y="3158163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E13B980-2520-4739-ABFB-E0D6495446A6}"/>
              </a:ext>
            </a:extLst>
          </p:cNvPr>
          <p:cNvSpPr txBox="1"/>
          <p:nvPr/>
        </p:nvSpPr>
        <p:spPr>
          <a:xfrm>
            <a:off x="4740055" y="4362522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LÍDER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9078779-362F-4F5B-B51E-5B41DEE88D27}"/>
              </a:ext>
            </a:extLst>
          </p:cNvPr>
          <p:cNvSpPr txBox="1"/>
          <p:nvPr/>
        </p:nvSpPr>
        <p:spPr>
          <a:xfrm>
            <a:off x="4648200" y="3788308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88E3AF7-8DBC-42DC-81C7-9BCA4AB4F880}"/>
              </a:ext>
            </a:extLst>
          </p:cNvPr>
          <p:cNvSpPr txBox="1"/>
          <p:nvPr/>
        </p:nvSpPr>
        <p:spPr>
          <a:xfrm>
            <a:off x="5325084" y="5989827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Es un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alumno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destacado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que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representa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a Westhill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71635BB-DB51-45E2-93DD-BE7B5098D6DC}"/>
              </a:ext>
            </a:extLst>
          </p:cNvPr>
          <p:cNvSpPr txBox="1"/>
          <p:nvPr/>
        </p:nvSpPr>
        <p:spPr>
          <a:xfrm>
            <a:off x="4840356" y="6480570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Participa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campañas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institucionales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2F84F7D-3957-4268-86A2-E70CCEE848ED}"/>
              </a:ext>
            </a:extLst>
          </p:cNvPr>
          <p:cNvSpPr txBox="1"/>
          <p:nvPr/>
        </p:nvSpPr>
        <p:spPr>
          <a:xfrm>
            <a:off x="4866530" y="7014382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Apoya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eventos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de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atracción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7307269" y="3691592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5327248" y="7653567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Puede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ser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parte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de videos y material de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promoción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4052599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0" y="2673941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¿CÓMO FUNCIONA?: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2FA76FE-12E5-4933-9EBF-BCD2605B00C9}"/>
              </a:ext>
            </a:extLst>
          </p:cNvPr>
          <p:cNvGrpSpPr/>
          <p:nvPr/>
        </p:nvGrpSpPr>
        <p:grpSpPr>
          <a:xfrm>
            <a:off x="-1082733" y="4294583"/>
            <a:ext cx="9209666" cy="2281825"/>
            <a:chOff x="-53792" y="4175332"/>
            <a:chExt cx="7516552" cy="186233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0691474-C7C7-4297-9550-E19202DCF506}"/>
                </a:ext>
              </a:extLst>
            </p:cNvPr>
            <p:cNvSpPr/>
            <p:nvPr/>
          </p:nvSpPr>
          <p:spPr>
            <a:xfrm>
              <a:off x="2776509" y="4175332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99078779-362F-4F5B-B51E-5B41DEE88D27}"/>
                </a:ext>
              </a:extLst>
            </p:cNvPr>
            <p:cNvSpPr txBox="1"/>
            <p:nvPr/>
          </p:nvSpPr>
          <p:spPr>
            <a:xfrm>
              <a:off x="-53792" y="4577818"/>
              <a:ext cx="7516552" cy="492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8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Comparte</a:t>
              </a:r>
              <a:endPara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974CFD7-1F48-40FA-AA9B-18A562066E10}"/>
              </a:ext>
            </a:extLst>
          </p:cNvPr>
          <p:cNvSpPr/>
          <p:nvPr/>
        </p:nvSpPr>
        <p:spPr>
          <a:xfrm>
            <a:off x="4771761" y="5240578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Flecha: a la derecha 63">
            <a:extLst>
              <a:ext uri="{FF2B5EF4-FFF2-40B4-BE49-F238E27FC236}">
                <a16:creationId xmlns:a16="http://schemas.microsoft.com/office/drawing/2014/main" id="{A36E54F5-DA67-4049-822D-11F84C11DAE2}"/>
              </a:ext>
            </a:extLst>
          </p:cNvPr>
          <p:cNvSpPr/>
          <p:nvPr/>
        </p:nvSpPr>
        <p:spPr>
          <a:xfrm>
            <a:off x="8622934" y="5169144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5" name="Flecha: a la derecha 64">
            <a:extLst>
              <a:ext uri="{FF2B5EF4-FFF2-40B4-BE49-F238E27FC236}">
                <a16:creationId xmlns:a16="http://schemas.microsoft.com/office/drawing/2014/main" id="{6A5C434F-2A0B-4575-8A58-40B07A5BE24F}"/>
              </a:ext>
            </a:extLst>
          </p:cNvPr>
          <p:cNvSpPr/>
          <p:nvPr/>
        </p:nvSpPr>
        <p:spPr>
          <a:xfrm>
            <a:off x="12287995" y="5161507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9" name="TextBox 9">
            <a:extLst>
              <a:ext uri="{FF2B5EF4-FFF2-40B4-BE49-F238E27FC236}">
                <a16:creationId xmlns:a16="http://schemas.microsoft.com/office/drawing/2014/main" id="{A4DD7595-AD72-4437-A367-A3AE0DD74808}"/>
              </a:ext>
            </a:extLst>
          </p:cNvPr>
          <p:cNvSpPr txBox="1"/>
          <p:nvPr/>
        </p:nvSpPr>
        <p:spPr>
          <a:xfrm>
            <a:off x="-320902" y="5312476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QR</a:t>
            </a: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5104C25F-8B6D-4304-88ED-0642CE778E99}"/>
              </a:ext>
            </a:extLst>
          </p:cNvPr>
          <p:cNvGrpSpPr/>
          <p:nvPr/>
        </p:nvGrpSpPr>
        <p:grpSpPr>
          <a:xfrm>
            <a:off x="2420654" y="4300724"/>
            <a:ext cx="9209666" cy="2281825"/>
            <a:chOff x="-53792" y="4175332"/>
            <a:chExt cx="7516552" cy="1862332"/>
          </a:xfrm>
        </p:grpSpPr>
        <p:sp>
          <p:nvSpPr>
            <p:cNvPr id="41" name="Elipse 40">
              <a:extLst>
                <a:ext uri="{FF2B5EF4-FFF2-40B4-BE49-F238E27FC236}">
                  <a16:creationId xmlns:a16="http://schemas.microsoft.com/office/drawing/2014/main" id="{78FB6424-702C-4ED1-84E9-83BC674C8CCA}"/>
                </a:ext>
              </a:extLst>
            </p:cNvPr>
            <p:cNvSpPr/>
            <p:nvPr/>
          </p:nvSpPr>
          <p:spPr>
            <a:xfrm>
              <a:off x="2776509" y="4175332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2" name="TextBox 9">
              <a:extLst>
                <a:ext uri="{FF2B5EF4-FFF2-40B4-BE49-F238E27FC236}">
                  <a16:creationId xmlns:a16="http://schemas.microsoft.com/office/drawing/2014/main" id="{C7B26779-2727-4D0A-8006-8108F52B205D}"/>
                </a:ext>
              </a:extLst>
            </p:cNvPr>
            <p:cNvSpPr txBox="1"/>
            <p:nvPr/>
          </p:nvSpPr>
          <p:spPr>
            <a:xfrm>
              <a:off x="-53792" y="4577818"/>
              <a:ext cx="7516552" cy="3919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Tus </a:t>
              </a:r>
              <a:r>
                <a:rPr lang="en-US" sz="24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referidos</a:t>
              </a:r>
              <a:endPara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52" name="TextBox 9">
            <a:extLst>
              <a:ext uri="{FF2B5EF4-FFF2-40B4-BE49-F238E27FC236}">
                <a16:creationId xmlns:a16="http://schemas.microsoft.com/office/drawing/2014/main" id="{677F9B92-E3A0-4868-8086-95925B0A57F8}"/>
              </a:ext>
            </a:extLst>
          </p:cNvPr>
          <p:cNvSpPr txBox="1"/>
          <p:nvPr/>
        </p:nvSpPr>
        <p:spPr>
          <a:xfrm>
            <a:off x="3252621" y="5173128"/>
            <a:ext cx="7516552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4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Agendan</a:t>
            </a:r>
            <a:r>
              <a: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4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su</a:t>
            </a:r>
            <a:r>
              <a: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  <p:sp>
        <p:nvSpPr>
          <p:cNvPr id="53" name="TextBox 9">
            <a:extLst>
              <a:ext uri="{FF2B5EF4-FFF2-40B4-BE49-F238E27FC236}">
                <a16:creationId xmlns:a16="http://schemas.microsoft.com/office/drawing/2014/main" id="{B7AECF1D-273B-4418-97B7-DB900467E8CC}"/>
              </a:ext>
            </a:extLst>
          </p:cNvPr>
          <p:cNvSpPr txBox="1"/>
          <p:nvPr/>
        </p:nvSpPr>
        <p:spPr>
          <a:xfrm>
            <a:off x="3242010" y="5562877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visita</a:t>
            </a:r>
            <a:endParaRPr lang="en-US" sz="28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54" name="Grupo 53">
            <a:extLst>
              <a:ext uri="{FF2B5EF4-FFF2-40B4-BE49-F238E27FC236}">
                <a16:creationId xmlns:a16="http://schemas.microsoft.com/office/drawing/2014/main" id="{6E041FE9-D20D-4DB9-A508-F86CD92DB9C5}"/>
              </a:ext>
            </a:extLst>
          </p:cNvPr>
          <p:cNvGrpSpPr/>
          <p:nvPr/>
        </p:nvGrpSpPr>
        <p:grpSpPr>
          <a:xfrm>
            <a:off x="6340283" y="4234323"/>
            <a:ext cx="9209666" cy="2281825"/>
            <a:chOff x="-66615" y="4175332"/>
            <a:chExt cx="7516552" cy="1862332"/>
          </a:xfrm>
        </p:grpSpPr>
        <p:sp>
          <p:nvSpPr>
            <p:cNvPr id="55" name="Elipse 54">
              <a:extLst>
                <a:ext uri="{FF2B5EF4-FFF2-40B4-BE49-F238E27FC236}">
                  <a16:creationId xmlns:a16="http://schemas.microsoft.com/office/drawing/2014/main" id="{CCFD7383-B749-4DCA-A965-6EF4163CD72F}"/>
                </a:ext>
              </a:extLst>
            </p:cNvPr>
            <p:cNvSpPr/>
            <p:nvPr/>
          </p:nvSpPr>
          <p:spPr>
            <a:xfrm>
              <a:off x="2776509" y="4175332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58" name="TextBox 9">
              <a:extLst>
                <a:ext uri="{FF2B5EF4-FFF2-40B4-BE49-F238E27FC236}">
                  <a16:creationId xmlns:a16="http://schemas.microsoft.com/office/drawing/2014/main" id="{CE0A9A68-B450-4AD0-8F22-E6913B5BE40A}"/>
                </a:ext>
              </a:extLst>
            </p:cNvPr>
            <p:cNvSpPr txBox="1"/>
            <p:nvPr/>
          </p:nvSpPr>
          <p:spPr>
            <a:xfrm>
              <a:off x="-66615" y="4547285"/>
              <a:ext cx="7516552" cy="39191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400" b="1" dirty="0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Si se inscribe</a:t>
              </a:r>
            </a:p>
          </p:txBody>
        </p:sp>
      </p:grpSp>
      <p:sp>
        <p:nvSpPr>
          <p:cNvPr id="59" name="TextBox 9">
            <a:extLst>
              <a:ext uri="{FF2B5EF4-FFF2-40B4-BE49-F238E27FC236}">
                <a16:creationId xmlns:a16="http://schemas.microsoft.com/office/drawing/2014/main" id="{1AA89AD2-89C7-4801-AB1B-7B3326F34E13}"/>
              </a:ext>
            </a:extLst>
          </p:cNvPr>
          <p:cNvSpPr txBox="1"/>
          <p:nvPr/>
        </p:nvSpPr>
        <p:spPr>
          <a:xfrm>
            <a:off x="6340283" y="5081245"/>
            <a:ext cx="9209666" cy="4801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4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Recibes</a:t>
            </a:r>
            <a:r>
              <a: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un </a:t>
            </a:r>
          </a:p>
        </p:txBody>
      </p:sp>
      <p:sp>
        <p:nvSpPr>
          <p:cNvPr id="60" name="TextBox 9">
            <a:extLst>
              <a:ext uri="{FF2B5EF4-FFF2-40B4-BE49-F238E27FC236}">
                <a16:creationId xmlns:a16="http://schemas.microsoft.com/office/drawing/2014/main" id="{83132EC9-1C48-481E-B961-71737B84904B}"/>
              </a:ext>
            </a:extLst>
          </p:cNvPr>
          <p:cNvSpPr txBox="1"/>
          <p:nvPr/>
        </p:nvSpPr>
        <p:spPr>
          <a:xfrm>
            <a:off x="6413680" y="5508009"/>
            <a:ext cx="9209666" cy="4540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Bono </a:t>
            </a:r>
            <a:r>
              <a:rPr lang="en-US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económico</a:t>
            </a:r>
            <a:endParaRPr lang="en-US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61" name="Grupo 60">
            <a:extLst>
              <a:ext uri="{FF2B5EF4-FFF2-40B4-BE49-F238E27FC236}">
                <a16:creationId xmlns:a16="http://schemas.microsoft.com/office/drawing/2014/main" id="{E2201E65-1145-4D6C-BB1C-896A81D9A445}"/>
              </a:ext>
            </a:extLst>
          </p:cNvPr>
          <p:cNvGrpSpPr/>
          <p:nvPr/>
        </p:nvGrpSpPr>
        <p:grpSpPr>
          <a:xfrm>
            <a:off x="10154087" y="4234323"/>
            <a:ext cx="9209666" cy="2281825"/>
            <a:chOff x="-66615" y="4175332"/>
            <a:chExt cx="7516552" cy="1862332"/>
          </a:xfrm>
        </p:grpSpPr>
        <p:sp>
          <p:nvSpPr>
            <p:cNvPr id="62" name="Elipse 61">
              <a:extLst>
                <a:ext uri="{FF2B5EF4-FFF2-40B4-BE49-F238E27FC236}">
                  <a16:creationId xmlns:a16="http://schemas.microsoft.com/office/drawing/2014/main" id="{F66F46B8-E0BE-4364-97D7-0E22769C83D1}"/>
                </a:ext>
              </a:extLst>
            </p:cNvPr>
            <p:cNvSpPr/>
            <p:nvPr/>
          </p:nvSpPr>
          <p:spPr>
            <a:xfrm>
              <a:off x="2776509" y="4175332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63" name="TextBox 9">
              <a:extLst>
                <a:ext uri="{FF2B5EF4-FFF2-40B4-BE49-F238E27FC236}">
                  <a16:creationId xmlns:a16="http://schemas.microsoft.com/office/drawing/2014/main" id="{C49C624E-D63F-4616-BF0E-69B436441C87}"/>
                </a:ext>
              </a:extLst>
            </p:cNvPr>
            <p:cNvSpPr txBox="1"/>
            <p:nvPr/>
          </p:nvSpPr>
          <p:spPr>
            <a:xfrm>
              <a:off x="-66615" y="4445214"/>
              <a:ext cx="7516552" cy="81104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4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Acumulas</a:t>
              </a:r>
              <a:r>
                <a:rPr lang="en-US" sz="2400" b="1" dirty="0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</a:p>
            <a:p>
              <a:pPr algn="ctr">
                <a:lnSpc>
                  <a:spcPts val="4105"/>
                </a:lnSpc>
              </a:pPr>
              <a:endPara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68" name="TextBox 9">
            <a:extLst>
              <a:ext uri="{FF2B5EF4-FFF2-40B4-BE49-F238E27FC236}">
                <a16:creationId xmlns:a16="http://schemas.microsoft.com/office/drawing/2014/main" id="{0D6AC534-E7A5-4837-A431-7AA68C5A9DAD}"/>
              </a:ext>
            </a:extLst>
          </p:cNvPr>
          <p:cNvSpPr txBox="1"/>
          <p:nvPr/>
        </p:nvSpPr>
        <p:spPr>
          <a:xfrm>
            <a:off x="10177544" y="4905124"/>
            <a:ext cx="9209666" cy="993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4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Puntos. </a:t>
            </a:r>
          </a:p>
          <a:p>
            <a:pPr algn="ctr">
              <a:lnSpc>
                <a:spcPts val="4105"/>
              </a:lnSpc>
            </a:pPr>
            <a:endParaRPr lang="en-US" sz="24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69" name="TextBox 9">
            <a:extLst>
              <a:ext uri="{FF2B5EF4-FFF2-40B4-BE49-F238E27FC236}">
                <a16:creationId xmlns:a16="http://schemas.microsoft.com/office/drawing/2014/main" id="{5F473540-F227-4943-9139-D95E1652A363}"/>
              </a:ext>
            </a:extLst>
          </p:cNvPr>
          <p:cNvSpPr txBox="1"/>
          <p:nvPr/>
        </p:nvSpPr>
        <p:spPr>
          <a:xfrm>
            <a:off x="10177544" y="5216660"/>
            <a:ext cx="9209666" cy="1214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Subes</a:t>
            </a:r>
            <a:r>
              <a:rPr lang="en-US" sz="20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de </a:t>
            </a:r>
            <a:r>
              <a:rPr lang="en-US" sz="20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nivel</a:t>
            </a:r>
            <a:r>
              <a:rPr lang="en-US" sz="20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  <a:p>
            <a:pPr algn="ctr">
              <a:lnSpc>
                <a:spcPts val="4105"/>
              </a:lnSpc>
            </a:pPr>
            <a:endParaRPr lang="en-US" sz="96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6C432E73-347C-44E6-B6CF-277A04959224}"/>
              </a:ext>
            </a:extLst>
          </p:cNvPr>
          <p:cNvSpPr txBox="1"/>
          <p:nvPr/>
        </p:nvSpPr>
        <p:spPr>
          <a:xfrm>
            <a:off x="10177544" y="5794679"/>
            <a:ext cx="9209666" cy="993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Beneficios</a:t>
            </a:r>
            <a:r>
              <a:rPr lang="en-US" sz="20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  <a:p>
            <a:pPr algn="ctr">
              <a:lnSpc>
                <a:spcPts val="4105"/>
              </a:lnSpc>
            </a:pPr>
            <a:endParaRPr lang="en-US" sz="24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6" name="Cruz 5">
            <a:extLst>
              <a:ext uri="{FF2B5EF4-FFF2-40B4-BE49-F238E27FC236}">
                <a16:creationId xmlns:a16="http://schemas.microsoft.com/office/drawing/2014/main" id="{178A1F78-8BC5-41B6-A155-AA85D93C00E7}"/>
              </a:ext>
            </a:extLst>
          </p:cNvPr>
          <p:cNvSpPr/>
          <p:nvPr/>
        </p:nvSpPr>
        <p:spPr>
          <a:xfrm>
            <a:off x="14648034" y="5702127"/>
            <a:ext cx="261013" cy="270280"/>
          </a:xfrm>
          <a:prstGeom prst="plus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1" name="TextBox 9">
            <a:extLst>
              <a:ext uri="{FF2B5EF4-FFF2-40B4-BE49-F238E27FC236}">
                <a16:creationId xmlns:a16="http://schemas.microsoft.com/office/drawing/2014/main" id="{C1CB60A2-4843-4132-9D90-2FAEC6431FDB}"/>
              </a:ext>
            </a:extLst>
          </p:cNvPr>
          <p:cNvSpPr txBox="1"/>
          <p:nvPr/>
        </p:nvSpPr>
        <p:spPr>
          <a:xfrm>
            <a:off x="-947082" y="5664627"/>
            <a:ext cx="9209666" cy="9937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personalizado</a:t>
            </a:r>
            <a:r>
              <a:rPr lang="en-US" sz="20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  <a:p>
            <a:pPr algn="ctr">
              <a:lnSpc>
                <a:spcPts val="4105"/>
              </a:lnSpc>
            </a:pPr>
            <a:endParaRPr lang="en-US" sz="24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334011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830972" y="2773351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SISTEMAS DE PUNTOS: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C6BF6E-6C14-462D-98A6-ADE6C4ACEC03}"/>
              </a:ext>
            </a:extLst>
          </p:cNvPr>
          <p:cNvSpPr/>
          <p:nvPr/>
        </p:nvSpPr>
        <p:spPr>
          <a:xfrm>
            <a:off x="10857365" y="2811224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BONO ECONÓMICO: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graphicFrame>
        <p:nvGraphicFramePr>
          <p:cNvPr id="8" name="Objeto 7">
            <a:extLst>
              <a:ext uri="{FF2B5EF4-FFF2-40B4-BE49-F238E27FC236}">
                <a16:creationId xmlns:a16="http://schemas.microsoft.com/office/drawing/2014/main" id="{01F36549-9D61-44A0-811D-C9EC044F51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8726996"/>
              </p:ext>
            </p:extLst>
          </p:nvPr>
        </p:nvGraphicFramePr>
        <p:xfrm>
          <a:off x="1236887" y="3734945"/>
          <a:ext cx="5107282" cy="2933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1" name="Worksheet" r:id="rId8" imgW="3333861" imgH="1914690" progId="Excel.Sheet.12">
                  <p:embed/>
                </p:oleObj>
              </mc:Choice>
              <mc:Fallback>
                <p:oleObj name="Worksheet" r:id="rId8" imgW="3333861" imgH="191469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236887" y="3734945"/>
                        <a:ext cx="5107282" cy="2933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to 9">
            <a:extLst>
              <a:ext uri="{FF2B5EF4-FFF2-40B4-BE49-F238E27FC236}">
                <a16:creationId xmlns:a16="http://schemas.microsoft.com/office/drawing/2014/main" id="{F06DEF61-741A-4097-B842-86EC77D362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8872597"/>
              </p:ext>
            </p:extLst>
          </p:nvPr>
        </p:nvGraphicFramePr>
        <p:xfrm>
          <a:off x="9445277" y="3806178"/>
          <a:ext cx="6014224" cy="1409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52" name="Worksheet" r:id="rId10" imgW="3333861" imgH="781336" progId="Excel.Sheet.12">
                  <p:embed/>
                </p:oleObj>
              </mc:Choice>
              <mc:Fallback>
                <p:oleObj name="Worksheet" r:id="rId10" imgW="3333861" imgH="78133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9445277" y="3806178"/>
                        <a:ext cx="6014224" cy="14090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5646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0" y="2673941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El verdadero valor del programa es el siguiente recorrido: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B2FA76FE-12E5-4933-9EBF-BCD2605B00C9}"/>
              </a:ext>
            </a:extLst>
          </p:cNvPr>
          <p:cNvGrpSpPr/>
          <p:nvPr/>
        </p:nvGrpSpPr>
        <p:grpSpPr>
          <a:xfrm>
            <a:off x="-1541704" y="4362103"/>
            <a:ext cx="7516552" cy="1862332"/>
            <a:chOff x="-50601" y="4175332"/>
            <a:chExt cx="7516552" cy="1862332"/>
          </a:xfrm>
        </p:grpSpPr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0691474-C7C7-4297-9550-E19202DCF506}"/>
                </a:ext>
              </a:extLst>
            </p:cNvPr>
            <p:cNvSpPr/>
            <p:nvPr/>
          </p:nvSpPr>
          <p:spPr>
            <a:xfrm>
              <a:off x="2776509" y="4175332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22" name="TextBox 9">
              <a:extLst>
                <a:ext uri="{FF2B5EF4-FFF2-40B4-BE49-F238E27FC236}">
                  <a16:creationId xmlns:a16="http://schemas.microsoft.com/office/drawing/2014/main" id="{99078779-362F-4F5B-B51E-5B41DEE88D27}"/>
                </a:ext>
              </a:extLst>
            </p:cNvPr>
            <p:cNvSpPr txBox="1"/>
            <p:nvPr/>
          </p:nvSpPr>
          <p:spPr>
            <a:xfrm>
              <a:off x="-50601" y="4849398"/>
              <a:ext cx="7516552" cy="492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8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Alumno</a:t>
              </a:r>
              <a:endPara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id="{54650998-0C8E-4A86-840B-E727E6B80D09}"/>
              </a:ext>
            </a:extLst>
          </p:cNvPr>
          <p:cNvSpPr/>
          <p:nvPr/>
        </p:nvSpPr>
        <p:spPr>
          <a:xfrm>
            <a:off x="5252365" y="4216130"/>
            <a:ext cx="1862332" cy="1862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8" name="TextBox 9">
            <a:extLst>
              <a:ext uri="{FF2B5EF4-FFF2-40B4-BE49-F238E27FC236}">
                <a16:creationId xmlns:a16="http://schemas.microsoft.com/office/drawing/2014/main" id="{E67481BA-223B-467A-AD16-F6B1F4927B8F}"/>
              </a:ext>
            </a:extLst>
          </p:cNvPr>
          <p:cNvSpPr txBox="1"/>
          <p:nvPr/>
        </p:nvSpPr>
        <p:spPr>
          <a:xfrm>
            <a:off x="2425255" y="4890196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Comparte</a:t>
            </a:r>
            <a:endParaRPr lang="en-US" sz="28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0" name="Elipse 29">
            <a:extLst>
              <a:ext uri="{FF2B5EF4-FFF2-40B4-BE49-F238E27FC236}">
                <a16:creationId xmlns:a16="http://schemas.microsoft.com/office/drawing/2014/main" id="{573E953F-8DCA-44F0-8436-5EEC946FEAB3}"/>
              </a:ext>
            </a:extLst>
          </p:cNvPr>
          <p:cNvSpPr/>
          <p:nvPr/>
        </p:nvSpPr>
        <p:spPr>
          <a:xfrm>
            <a:off x="9061838" y="4128510"/>
            <a:ext cx="1862332" cy="186233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2EC39D17-7CB2-4D45-8398-03511D1AB6D7}"/>
              </a:ext>
            </a:extLst>
          </p:cNvPr>
          <p:cNvSpPr txBox="1"/>
          <p:nvPr/>
        </p:nvSpPr>
        <p:spPr>
          <a:xfrm>
            <a:off x="6234728" y="4802576"/>
            <a:ext cx="7516552" cy="467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4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Prospectos</a:t>
            </a:r>
            <a:endParaRPr lang="en-US" sz="24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36" name="Grupo 35">
            <a:extLst>
              <a:ext uri="{FF2B5EF4-FFF2-40B4-BE49-F238E27FC236}">
                <a16:creationId xmlns:a16="http://schemas.microsoft.com/office/drawing/2014/main" id="{F82D47EC-0347-4637-9843-8CEC07B794F7}"/>
              </a:ext>
            </a:extLst>
          </p:cNvPr>
          <p:cNvGrpSpPr/>
          <p:nvPr/>
        </p:nvGrpSpPr>
        <p:grpSpPr>
          <a:xfrm>
            <a:off x="10063023" y="4178431"/>
            <a:ext cx="7516552" cy="1862332"/>
            <a:chOff x="-1455510" y="4223180"/>
            <a:chExt cx="7516552" cy="1862332"/>
          </a:xfrm>
        </p:grpSpPr>
        <p:sp>
          <p:nvSpPr>
            <p:cNvPr id="37" name="Elipse 36">
              <a:extLst>
                <a:ext uri="{FF2B5EF4-FFF2-40B4-BE49-F238E27FC236}">
                  <a16:creationId xmlns:a16="http://schemas.microsoft.com/office/drawing/2014/main" id="{3B011EF4-4336-4E0A-825D-55EC1DB9097E}"/>
                </a:ext>
              </a:extLst>
            </p:cNvPr>
            <p:cNvSpPr/>
            <p:nvPr/>
          </p:nvSpPr>
          <p:spPr>
            <a:xfrm>
              <a:off x="1371600" y="4223180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38" name="TextBox 9">
              <a:extLst>
                <a:ext uri="{FF2B5EF4-FFF2-40B4-BE49-F238E27FC236}">
                  <a16:creationId xmlns:a16="http://schemas.microsoft.com/office/drawing/2014/main" id="{DC8F69B3-A7F6-4AE9-A754-DE5023B7187A}"/>
                </a:ext>
              </a:extLst>
            </p:cNvPr>
            <p:cNvSpPr txBox="1"/>
            <p:nvPr/>
          </p:nvSpPr>
          <p:spPr>
            <a:xfrm>
              <a:off x="-1455510" y="4897246"/>
              <a:ext cx="7516552" cy="492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8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Eventos</a:t>
              </a:r>
              <a:r>
                <a:rPr lang="en-US" sz="2800" b="1" dirty="0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 </a:t>
              </a:r>
            </a:p>
          </p:txBody>
        </p:sp>
      </p:grpSp>
      <p:sp>
        <p:nvSpPr>
          <p:cNvPr id="43" name="Elipse 42">
            <a:extLst>
              <a:ext uri="{FF2B5EF4-FFF2-40B4-BE49-F238E27FC236}">
                <a16:creationId xmlns:a16="http://schemas.microsoft.com/office/drawing/2014/main" id="{FE6EE7CE-7D86-4DBD-A17B-7AAE191EC533}"/>
              </a:ext>
            </a:extLst>
          </p:cNvPr>
          <p:cNvSpPr/>
          <p:nvPr/>
        </p:nvSpPr>
        <p:spPr>
          <a:xfrm>
            <a:off x="7136876" y="6486042"/>
            <a:ext cx="1862332" cy="1862332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4" name="TextBox 9">
            <a:extLst>
              <a:ext uri="{FF2B5EF4-FFF2-40B4-BE49-F238E27FC236}">
                <a16:creationId xmlns:a16="http://schemas.microsoft.com/office/drawing/2014/main" id="{8FDE96EC-42C7-40E0-8D2E-F4464E05EEA9}"/>
              </a:ext>
            </a:extLst>
          </p:cNvPr>
          <p:cNvSpPr txBox="1"/>
          <p:nvPr/>
        </p:nvSpPr>
        <p:spPr>
          <a:xfrm>
            <a:off x="4309766" y="7160108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 err="1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Inscripción</a:t>
            </a:r>
            <a:endParaRPr lang="en-US" sz="2800" b="1" dirty="0">
              <a:solidFill>
                <a:schemeClr val="bg1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grpSp>
        <p:nvGrpSpPr>
          <p:cNvPr id="45" name="Grupo 44">
            <a:extLst>
              <a:ext uri="{FF2B5EF4-FFF2-40B4-BE49-F238E27FC236}">
                <a16:creationId xmlns:a16="http://schemas.microsoft.com/office/drawing/2014/main" id="{04CC2D0E-913E-43B2-B368-CFC542ADDD25}"/>
              </a:ext>
            </a:extLst>
          </p:cNvPr>
          <p:cNvGrpSpPr/>
          <p:nvPr/>
        </p:nvGrpSpPr>
        <p:grpSpPr>
          <a:xfrm>
            <a:off x="8305246" y="6486042"/>
            <a:ext cx="7516552" cy="1862332"/>
            <a:chOff x="-1455510" y="4223180"/>
            <a:chExt cx="7516552" cy="1862332"/>
          </a:xfrm>
        </p:grpSpPr>
        <p:sp>
          <p:nvSpPr>
            <p:cNvPr id="46" name="Elipse 45">
              <a:extLst>
                <a:ext uri="{FF2B5EF4-FFF2-40B4-BE49-F238E27FC236}">
                  <a16:creationId xmlns:a16="http://schemas.microsoft.com/office/drawing/2014/main" id="{BD1C155B-3783-44B6-92B8-B71795CC3197}"/>
                </a:ext>
              </a:extLst>
            </p:cNvPr>
            <p:cNvSpPr/>
            <p:nvPr/>
          </p:nvSpPr>
          <p:spPr>
            <a:xfrm>
              <a:off x="1371600" y="4223180"/>
              <a:ext cx="1862332" cy="1862332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MX"/>
            </a:p>
          </p:txBody>
        </p:sp>
        <p:sp>
          <p:nvSpPr>
            <p:cNvPr id="47" name="TextBox 9">
              <a:extLst>
                <a:ext uri="{FF2B5EF4-FFF2-40B4-BE49-F238E27FC236}">
                  <a16:creationId xmlns:a16="http://schemas.microsoft.com/office/drawing/2014/main" id="{6E23AE47-1AF5-4A3D-8086-7AA68407550C}"/>
                </a:ext>
              </a:extLst>
            </p:cNvPr>
            <p:cNvSpPr txBox="1"/>
            <p:nvPr/>
          </p:nvSpPr>
          <p:spPr>
            <a:xfrm>
              <a:off x="-1455510" y="4897246"/>
              <a:ext cx="7516552" cy="49250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105"/>
                </a:lnSpc>
              </a:pPr>
              <a:r>
                <a:rPr lang="en-US" sz="20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Recompens</a:t>
              </a:r>
              <a:r>
                <a:rPr lang="en-US" sz="2800" b="1" dirty="0" err="1">
                  <a:solidFill>
                    <a:schemeClr val="bg1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a</a:t>
              </a:r>
              <a:endPara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endParaRPr>
            </a:p>
          </p:txBody>
        </p:sp>
      </p:grpSp>
      <p:sp>
        <p:nvSpPr>
          <p:cNvPr id="56" name="Elipse 55">
            <a:extLst>
              <a:ext uri="{FF2B5EF4-FFF2-40B4-BE49-F238E27FC236}">
                <a16:creationId xmlns:a16="http://schemas.microsoft.com/office/drawing/2014/main" id="{F2AB3BE7-2178-4F37-9B95-63D61722CF35}"/>
              </a:ext>
            </a:extLst>
          </p:cNvPr>
          <p:cNvSpPr/>
          <p:nvPr/>
        </p:nvSpPr>
        <p:spPr>
          <a:xfrm>
            <a:off x="3403274" y="6523993"/>
            <a:ext cx="1862332" cy="1862332"/>
          </a:xfrm>
          <a:prstGeom prst="ellipse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7" name="TextBox 9">
            <a:extLst>
              <a:ext uri="{FF2B5EF4-FFF2-40B4-BE49-F238E27FC236}">
                <a16:creationId xmlns:a16="http://schemas.microsoft.com/office/drawing/2014/main" id="{2209CB60-085A-46FD-B5F5-8D9E8AFF5BB2}"/>
              </a:ext>
            </a:extLst>
          </p:cNvPr>
          <p:cNvSpPr txBox="1"/>
          <p:nvPr/>
        </p:nvSpPr>
        <p:spPr>
          <a:xfrm>
            <a:off x="576164" y="71980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Asesor</a:t>
            </a:r>
            <a:endParaRPr lang="en-US" sz="28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pic>
        <p:nvPicPr>
          <p:cNvPr id="11" name="Gráfico 10" descr="Huellas de patas">
            <a:extLst>
              <a:ext uri="{FF2B5EF4-FFF2-40B4-BE49-F238E27FC236}">
                <a16:creationId xmlns:a16="http://schemas.microsoft.com/office/drawing/2014/main" id="{3CAD6E4B-0822-4252-92DD-6CF708C868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1358945" y="2919963"/>
            <a:ext cx="914400" cy="914400"/>
          </a:xfrm>
          <a:prstGeom prst="rect">
            <a:avLst/>
          </a:prstGeom>
        </p:spPr>
      </p:pic>
      <p:sp>
        <p:nvSpPr>
          <p:cNvPr id="14" name="Flecha: a la derecha 13">
            <a:extLst>
              <a:ext uri="{FF2B5EF4-FFF2-40B4-BE49-F238E27FC236}">
                <a16:creationId xmlns:a16="http://schemas.microsoft.com/office/drawing/2014/main" id="{A974CFD7-1F48-40FA-AA9B-18A562066E10}"/>
              </a:ext>
            </a:extLst>
          </p:cNvPr>
          <p:cNvSpPr/>
          <p:nvPr/>
        </p:nvSpPr>
        <p:spPr>
          <a:xfrm>
            <a:off x="3527194" y="4978518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Flecha: a la derecha 63">
            <a:extLst>
              <a:ext uri="{FF2B5EF4-FFF2-40B4-BE49-F238E27FC236}">
                <a16:creationId xmlns:a16="http://schemas.microsoft.com/office/drawing/2014/main" id="{A36E54F5-DA67-4049-822D-11F84C11DAE2}"/>
              </a:ext>
            </a:extLst>
          </p:cNvPr>
          <p:cNvSpPr/>
          <p:nvPr/>
        </p:nvSpPr>
        <p:spPr>
          <a:xfrm>
            <a:off x="7640839" y="4866923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5" name="Flecha: a la derecha 64">
            <a:extLst>
              <a:ext uri="{FF2B5EF4-FFF2-40B4-BE49-F238E27FC236}">
                <a16:creationId xmlns:a16="http://schemas.microsoft.com/office/drawing/2014/main" id="{6A5C434F-2A0B-4575-8A58-40B07A5BE24F}"/>
              </a:ext>
            </a:extLst>
          </p:cNvPr>
          <p:cNvSpPr/>
          <p:nvPr/>
        </p:nvSpPr>
        <p:spPr>
          <a:xfrm>
            <a:off x="11305900" y="4859286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Flecha: a la derecha 65">
            <a:extLst>
              <a:ext uri="{FF2B5EF4-FFF2-40B4-BE49-F238E27FC236}">
                <a16:creationId xmlns:a16="http://schemas.microsoft.com/office/drawing/2014/main" id="{1A7FA282-5652-47A1-A7AF-336505E3724C}"/>
              </a:ext>
            </a:extLst>
          </p:cNvPr>
          <p:cNvSpPr/>
          <p:nvPr/>
        </p:nvSpPr>
        <p:spPr>
          <a:xfrm>
            <a:off x="5710749" y="7179718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7" name="Flecha: a la derecha 66">
            <a:extLst>
              <a:ext uri="{FF2B5EF4-FFF2-40B4-BE49-F238E27FC236}">
                <a16:creationId xmlns:a16="http://schemas.microsoft.com/office/drawing/2014/main" id="{F9014D04-47E3-4E0D-B9CF-745151B6D84D}"/>
              </a:ext>
            </a:extLst>
          </p:cNvPr>
          <p:cNvSpPr/>
          <p:nvPr/>
        </p:nvSpPr>
        <p:spPr>
          <a:xfrm>
            <a:off x="9591426" y="7220118"/>
            <a:ext cx="1039269" cy="427458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54898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62F9365-CCCF-409A-9233-B8561B59375A}"/>
              </a:ext>
            </a:extLst>
          </p:cNvPr>
          <p:cNvSpPr/>
          <p:nvPr/>
        </p:nvSpPr>
        <p:spPr>
          <a:xfrm>
            <a:off x="6473405" y="466570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BC3538D-ECF5-46C3-A664-9DECEE25B8AE}"/>
              </a:ext>
            </a:extLst>
          </p:cNvPr>
          <p:cNvSpPr/>
          <p:nvPr/>
        </p:nvSpPr>
        <p:spPr>
          <a:xfrm>
            <a:off x="9002352" y="558275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04DC39E4-6001-4C60-BBB1-125F24F6832E}"/>
              </a:ext>
            </a:extLst>
          </p:cNvPr>
          <p:cNvSpPr/>
          <p:nvPr/>
        </p:nvSpPr>
        <p:spPr>
          <a:xfrm>
            <a:off x="6346357" y="3051264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168BBD0-888B-450B-BFEC-737B316FF3C2}"/>
              </a:ext>
            </a:extLst>
          </p:cNvPr>
          <p:cNvSpPr/>
          <p:nvPr/>
        </p:nvSpPr>
        <p:spPr>
          <a:xfrm>
            <a:off x="5317551" y="3245364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1" y="2582683"/>
            <a:ext cx="15935355" cy="55707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NIVELES DE EMBAJADOR: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C230D46-39FB-420A-BD74-F28896046801}"/>
              </a:ext>
            </a:extLst>
          </p:cNvPr>
          <p:cNvSpPr/>
          <p:nvPr/>
        </p:nvSpPr>
        <p:spPr>
          <a:xfrm>
            <a:off x="9013643" y="307011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1563497-907B-450F-B3F4-0DC59C39770C}"/>
              </a:ext>
            </a:extLst>
          </p:cNvPr>
          <p:cNvSpPr/>
          <p:nvPr/>
        </p:nvSpPr>
        <p:spPr>
          <a:xfrm>
            <a:off x="7363517" y="3779955"/>
            <a:ext cx="1556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F8057A-D65C-4EB2-A674-DAFF06B94A19}"/>
              </a:ext>
            </a:extLst>
          </p:cNvPr>
          <p:cNvSpPr/>
          <p:nvPr/>
        </p:nvSpPr>
        <p:spPr>
          <a:xfrm>
            <a:off x="831265" y="5368061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691474-C7C7-4297-9550-E19202DCF506}"/>
              </a:ext>
            </a:extLst>
          </p:cNvPr>
          <p:cNvSpPr/>
          <p:nvPr/>
        </p:nvSpPr>
        <p:spPr>
          <a:xfrm>
            <a:off x="1534045" y="3158163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E13B980-2520-4739-ABFB-E0D6495446A6}"/>
              </a:ext>
            </a:extLst>
          </p:cNvPr>
          <p:cNvSpPr txBox="1"/>
          <p:nvPr/>
        </p:nvSpPr>
        <p:spPr>
          <a:xfrm>
            <a:off x="-846881" y="4511055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JUNIOR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9078779-362F-4F5B-B51E-5B41DEE88D27}"/>
              </a:ext>
            </a:extLst>
          </p:cNvPr>
          <p:cNvSpPr txBox="1"/>
          <p:nvPr/>
        </p:nvSpPr>
        <p:spPr>
          <a:xfrm>
            <a:off x="-827048" y="3955284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88E3AF7-8DBC-42DC-81C7-9BCA4AB4F880}"/>
              </a:ext>
            </a:extLst>
          </p:cNvPr>
          <p:cNvSpPr txBox="1"/>
          <p:nvPr/>
        </p:nvSpPr>
        <p:spPr>
          <a:xfrm>
            <a:off x="-459450" y="6139870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Credencial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digital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71635BB-DB51-45E2-93DD-BE7B5098D6DC}"/>
              </a:ext>
            </a:extLst>
          </p:cNvPr>
          <p:cNvSpPr txBox="1"/>
          <p:nvPr/>
        </p:nvSpPr>
        <p:spPr>
          <a:xfrm>
            <a:off x="-449527" y="6595609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Reconocimiento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2F84F7D-3957-4268-86A2-E70CCEE848ED}"/>
              </a:ext>
            </a:extLst>
          </p:cNvPr>
          <p:cNvSpPr txBox="1"/>
          <p:nvPr/>
        </p:nvSpPr>
        <p:spPr>
          <a:xfrm>
            <a:off x="-285546" y="7022643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Acceso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actividades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especiales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11A8338-98E6-4DB8-AD3B-5097021642CF}"/>
              </a:ext>
            </a:extLst>
          </p:cNvPr>
          <p:cNvSpPr/>
          <p:nvPr/>
        </p:nvSpPr>
        <p:spPr>
          <a:xfrm>
            <a:off x="9642458" y="5217802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9EF6E713-CA7D-4D2A-BC55-FF1514326D8E}"/>
              </a:ext>
            </a:extLst>
          </p:cNvPr>
          <p:cNvSpPr/>
          <p:nvPr/>
        </p:nvSpPr>
        <p:spPr>
          <a:xfrm>
            <a:off x="10345238" y="3007904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8" name="TextBox 9">
            <a:extLst>
              <a:ext uri="{FF2B5EF4-FFF2-40B4-BE49-F238E27FC236}">
                <a16:creationId xmlns:a16="http://schemas.microsoft.com/office/drawing/2014/main" id="{95788DC5-B0B8-48A2-B97A-939A8166BE5E}"/>
              </a:ext>
            </a:extLst>
          </p:cNvPr>
          <p:cNvSpPr txBox="1"/>
          <p:nvPr/>
        </p:nvSpPr>
        <p:spPr>
          <a:xfrm>
            <a:off x="7923042" y="4247363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PLUS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7942875" y="3691592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88E393E3-8500-48F9-8024-C3253C2E104D}"/>
              </a:ext>
            </a:extLst>
          </p:cNvPr>
          <p:cNvSpPr txBox="1"/>
          <p:nvPr/>
        </p:nvSpPr>
        <p:spPr>
          <a:xfrm>
            <a:off x="7308668" y="7337746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3B87D50E-6150-484E-BB25-3A1CF17D1F89}"/>
              </a:ext>
            </a:extLst>
          </p:cNvPr>
          <p:cNvSpPr txBox="1"/>
          <p:nvPr/>
        </p:nvSpPr>
        <p:spPr>
          <a:xfrm>
            <a:off x="8624536" y="5991632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Todo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lo anterior 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5" name="TextBox 9">
            <a:extLst>
              <a:ext uri="{FF2B5EF4-FFF2-40B4-BE49-F238E27FC236}">
                <a16:creationId xmlns:a16="http://schemas.microsoft.com/office/drawing/2014/main" id="{5E7E4F5D-73EC-4F15-8525-726F6A7D618A}"/>
              </a:ext>
            </a:extLst>
          </p:cNvPr>
          <p:cNvSpPr txBox="1"/>
          <p:nvPr/>
        </p:nvSpPr>
        <p:spPr>
          <a:xfrm>
            <a:off x="8634459" y="6447371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Reconocimiento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6" name="TextBox 9">
            <a:extLst>
              <a:ext uri="{FF2B5EF4-FFF2-40B4-BE49-F238E27FC236}">
                <a16:creationId xmlns:a16="http://schemas.microsoft.com/office/drawing/2014/main" id="{53730DA6-2A95-4B5F-A101-462BA8FCE7FD}"/>
              </a:ext>
            </a:extLst>
          </p:cNvPr>
          <p:cNvSpPr txBox="1"/>
          <p:nvPr/>
        </p:nvSpPr>
        <p:spPr>
          <a:xfrm>
            <a:off x="8798440" y="687440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Acceso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a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actividades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especiales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37" name="TextBox 9">
            <a:extLst>
              <a:ext uri="{FF2B5EF4-FFF2-40B4-BE49-F238E27FC236}">
                <a16:creationId xmlns:a16="http://schemas.microsoft.com/office/drawing/2014/main" id="{84BFB279-B643-4B19-AFC2-A4D0C3B381C7}"/>
              </a:ext>
            </a:extLst>
          </p:cNvPr>
          <p:cNvSpPr txBox="1"/>
          <p:nvPr/>
        </p:nvSpPr>
        <p:spPr>
          <a:xfrm>
            <a:off x="2125906" y="556456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00B050"/>
                </a:solidFill>
                <a:latin typeface="Raleway Bold"/>
                <a:ea typeface="Raleway Bold"/>
                <a:cs typeface="Raleway Bold"/>
                <a:sym typeface="Raleway Bold"/>
              </a:rPr>
              <a:t> 100 puntos</a:t>
            </a:r>
          </a:p>
        </p:txBody>
      </p:sp>
      <p:sp>
        <p:nvSpPr>
          <p:cNvPr id="38" name="TextBox 9">
            <a:extLst>
              <a:ext uri="{FF2B5EF4-FFF2-40B4-BE49-F238E27FC236}">
                <a16:creationId xmlns:a16="http://schemas.microsoft.com/office/drawing/2014/main" id="{73657CAC-E5CC-4488-94D3-44ED27C28E81}"/>
              </a:ext>
            </a:extLst>
          </p:cNvPr>
          <p:cNvSpPr txBox="1"/>
          <p:nvPr/>
        </p:nvSpPr>
        <p:spPr>
          <a:xfrm>
            <a:off x="11480019" y="5466469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00B050"/>
                </a:solidFill>
                <a:latin typeface="Raleway Bold"/>
                <a:ea typeface="Raleway Bold"/>
                <a:cs typeface="Raleway Bold"/>
                <a:sym typeface="Raleway Bold"/>
              </a:rPr>
              <a:t> 250 puntos</a:t>
            </a:r>
          </a:p>
        </p:txBody>
      </p:sp>
    </p:spTree>
    <p:extLst>
      <p:ext uri="{BB962C8B-B14F-4D97-AF65-F5344CB8AC3E}">
        <p14:creationId xmlns:p14="http://schemas.microsoft.com/office/powerpoint/2010/main" val="2425426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F8057A-D65C-4EB2-A674-DAFF06B94A19}"/>
              </a:ext>
            </a:extLst>
          </p:cNvPr>
          <p:cNvSpPr/>
          <p:nvPr/>
        </p:nvSpPr>
        <p:spPr>
          <a:xfrm>
            <a:off x="6418201" y="5368061"/>
            <a:ext cx="7243313" cy="320374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D0691474-C7C7-4297-9550-E19202DCF506}"/>
              </a:ext>
            </a:extLst>
          </p:cNvPr>
          <p:cNvSpPr/>
          <p:nvPr/>
        </p:nvSpPr>
        <p:spPr>
          <a:xfrm>
            <a:off x="7120981" y="3158163"/>
            <a:ext cx="2754700" cy="27547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extBox 9">
            <a:extLst>
              <a:ext uri="{FF2B5EF4-FFF2-40B4-BE49-F238E27FC236}">
                <a16:creationId xmlns:a16="http://schemas.microsoft.com/office/drawing/2014/main" id="{DE13B980-2520-4739-ABFB-E0D6495446A6}"/>
              </a:ext>
            </a:extLst>
          </p:cNvPr>
          <p:cNvSpPr txBox="1"/>
          <p:nvPr/>
        </p:nvSpPr>
        <p:spPr>
          <a:xfrm>
            <a:off x="4740055" y="4362522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36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ÉLITE</a:t>
            </a:r>
          </a:p>
        </p:txBody>
      </p:sp>
      <p:sp>
        <p:nvSpPr>
          <p:cNvPr id="22" name="TextBox 9">
            <a:extLst>
              <a:ext uri="{FF2B5EF4-FFF2-40B4-BE49-F238E27FC236}">
                <a16:creationId xmlns:a16="http://schemas.microsoft.com/office/drawing/2014/main" id="{99078779-362F-4F5B-B51E-5B41DEE88D27}"/>
              </a:ext>
            </a:extLst>
          </p:cNvPr>
          <p:cNvSpPr txBox="1"/>
          <p:nvPr/>
        </p:nvSpPr>
        <p:spPr>
          <a:xfrm>
            <a:off x="4648200" y="3788308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23" name="TextBox 9">
            <a:extLst>
              <a:ext uri="{FF2B5EF4-FFF2-40B4-BE49-F238E27FC236}">
                <a16:creationId xmlns:a16="http://schemas.microsoft.com/office/drawing/2014/main" id="{988E3AF7-8DBC-42DC-81C7-9BCA4AB4F880}"/>
              </a:ext>
            </a:extLst>
          </p:cNvPr>
          <p:cNvSpPr txBox="1"/>
          <p:nvPr/>
        </p:nvSpPr>
        <p:spPr>
          <a:xfrm>
            <a:off x="5325084" y="5989827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Todo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lo anterior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4" name="TextBox 9">
            <a:extLst>
              <a:ext uri="{FF2B5EF4-FFF2-40B4-BE49-F238E27FC236}">
                <a16:creationId xmlns:a16="http://schemas.microsoft.com/office/drawing/2014/main" id="{B71635BB-DB51-45E2-93DD-BE7B5098D6DC}"/>
              </a:ext>
            </a:extLst>
          </p:cNvPr>
          <p:cNvSpPr txBox="1"/>
          <p:nvPr/>
        </p:nvSpPr>
        <p:spPr>
          <a:xfrm>
            <a:off x="5475962" y="645023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Experiencias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especiales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con </a:t>
            </a:r>
            <a:r>
              <a:rPr lang="en-US" sz="2000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autoridades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5" name="TextBox 9">
            <a:extLst>
              <a:ext uri="{FF2B5EF4-FFF2-40B4-BE49-F238E27FC236}">
                <a16:creationId xmlns:a16="http://schemas.microsoft.com/office/drawing/2014/main" id="{F2F84F7D-3957-4268-86A2-E70CCEE848ED}"/>
              </a:ext>
            </a:extLst>
          </p:cNvPr>
          <p:cNvSpPr txBox="1"/>
          <p:nvPr/>
        </p:nvSpPr>
        <p:spPr>
          <a:xfrm>
            <a:off x="5475962" y="6940978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Participación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en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campañas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institucionales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7307269" y="3691592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5475962" y="7359926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Reconocimiento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como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 del </a:t>
            </a:r>
            <a:r>
              <a:rPr lang="en-US" b="1" dirty="0" err="1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semestre</a:t>
            </a: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26" name="TextBox 9">
            <a:extLst>
              <a:ext uri="{FF2B5EF4-FFF2-40B4-BE49-F238E27FC236}">
                <a16:creationId xmlns:a16="http://schemas.microsoft.com/office/drawing/2014/main" id="{3F43EA48-B9D1-48D4-A588-A384DDEE33F9}"/>
              </a:ext>
            </a:extLst>
          </p:cNvPr>
          <p:cNvSpPr txBox="1"/>
          <p:nvPr/>
        </p:nvSpPr>
        <p:spPr>
          <a:xfrm>
            <a:off x="8306449" y="5529419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600" b="1" dirty="0">
                <a:solidFill>
                  <a:srgbClr val="00B050"/>
                </a:solidFill>
                <a:latin typeface="Raleway Bold"/>
                <a:ea typeface="Raleway Bold"/>
                <a:cs typeface="Raleway Bold"/>
                <a:sym typeface="Raleway Bold"/>
              </a:rPr>
              <a:t> 500 puntos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094656D-2299-4466-AD45-21724AE1124D}"/>
              </a:ext>
            </a:extLst>
          </p:cNvPr>
          <p:cNvSpPr/>
          <p:nvPr/>
        </p:nvSpPr>
        <p:spPr>
          <a:xfrm>
            <a:off x="1143000" y="2775660"/>
            <a:ext cx="633359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MX" sz="3600" b="1" dirty="0">
                <a:solidFill>
                  <a:srgbClr val="00B050"/>
                </a:solidFill>
                <a:latin typeface="Calibri" panose="020F0502020204030204" pitchFamily="34" charset="0"/>
              </a:rPr>
              <a:t>NIVELES DE EMBAJADOR:</a:t>
            </a:r>
            <a:endParaRPr lang="es-MX" sz="3600" dirty="0"/>
          </a:p>
        </p:txBody>
      </p:sp>
    </p:spTree>
    <p:extLst>
      <p:ext uri="{BB962C8B-B14F-4D97-AF65-F5344CB8AC3E}">
        <p14:creationId xmlns:p14="http://schemas.microsoft.com/office/powerpoint/2010/main" val="2622355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368033" y="2576252"/>
            <a:ext cx="15935355" cy="107414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KIT DEL EMBAJADOR: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Te damos todas las herramientas para compartir Westhill de forma fácil y auténtica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Código QR personalizado.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Imágenes para WhatsApp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Historias de Instagram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Videos cortos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Invitaciones a eventos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Información de las licenciaturas 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Mensajes sugeridos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Calendarios de eventos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  <p:extLst>
      <p:ext uri="{BB962C8B-B14F-4D97-AF65-F5344CB8AC3E}">
        <p14:creationId xmlns:p14="http://schemas.microsoft.com/office/powerpoint/2010/main" val="4536671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368033" y="2576252"/>
            <a:ext cx="15935355" cy="8586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RECONOCIMIENTOS: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EMBAJADOR DEL MES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Reconocimiento en redes institucionales.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Historias destacadas en Instagram.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Regalo Especial. (Un desayuno de Starbucks).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183C77-FC49-4B0F-ADAF-312EABA6F65E}"/>
              </a:ext>
            </a:extLst>
          </p:cNvPr>
          <p:cNvSpPr/>
          <p:nvPr/>
        </p:nvSpPr>
        <p:spPr>
          <a:xfrm>
            <a:off x="1356551" y="5143500"/>
            <a:ext cx="15935355" cy="85869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EMBAJADOR DEL SEMESTRE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Reconocimiento en redes institucionales.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Experiencia especial.</a:t>
            </a:r>
          </a:p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Difusión en medios.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5680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524194" y="608481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PLAN DE ACCIÓN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368033" y="2576252"/>
            <a:ext cx="15935355" cy="98796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sz="2800" b="1" dirty="0">
                <a:solidFill>
                  <a:srgbClr val="00B050"/>
                </a:solidFill>
                <a:latin typeface="Calibri" panose="020F0502020204030204" pitchFamily="34" charset="0"/>
              </a:rPr>
              <a:t>VIVE MI CARRERA: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Invita a un prospecto a vivir una experiencia real en tu carrera.</a:t>
            </a: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Asiste a una clase.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Conoce profesores e instalaciones.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Conversa con estudiantes.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Descubre laboratorios y actividades.</a:t>
            </a:r>
          </a:p>
          <a:p>
            <a:pPr fontAlgn="ctr"/>
            <a:r>
              <a:rPr lang="es-MX" sz="2800" b="1" dirty="0">
                <a:solidFill>
                  <a:schemeClr val="accent5">
                    <a:lumMod val="50000"/>
                  </a:schemeClr>
                </a:solidFill>
                <a:latin typeface="Calibri" panose="020F0502020204030204" pitchFamily="34" charset="0"/>
              </a:rPr>
              <a:t>Sé su anfitrión.</a:t>
            </a: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9" name="TextBox 9">
            <a:extLst>
              <a:ext uri="{FF2B5EF4-FFF2-40B4-BE49-F238E27FC236}">
                <a16:creationId xmlns:a16="http://schemas.microsoft.com/office/drawing/2014/main" id="{E505D4BA-1C3A-412D-B7CE-8F5F2025217F}"/>
              </a:ext>
            </a:extLst>
          </p:cNvPr>
          <p:cNvSpPr txBox="1"/>
          <p:nvPr/>
        </p:nvSpPr>
        <p:spPr>
          <a:xfrm>
            <a:off x="11650346" y="4091259"/>
            <a:ext cx="7516552" cy="49250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800" b="1" dirty="0">
                <a:solidFill>
                  <a:schemeClr val="bg1"/>
                </a:solidFill>
                <a:latin typeface="Raleway Bold"/>
                <a:ea typeface="Raleway Bold"/>
                <a:cs typeface="Raleway Bold"/>
                <a:sym typeface="Raleway Bold"/>
              </a:rPr>
              <a:t>EMBAJADOR</a:t>
            </a:r>
          </a:p>
        </p:txBody>
      </p:sp>
      <p:sp>
        <p:nvSpPr>
          <p:cNvPr id="34" name="TextBox 9">
            <a:extLst>
              <a:ext uri="{FF2B5EF4-FFF2-40B4-BE49-F238E27FC236}">
                <a16:creationId xmlns:a16="http://schemas.microsoft.com/office/drawing/2014/main" id="{90E69E30-493F-47D6-AA77-423F7991D7DD}"/>
              </a:ext>
            </a:extLst>
          </p:cNvPr>
          <p:cNvSpPr txBox="1"/>
          <p:nvPr/>
        </p:nvSpPr>
        <p:spPr>
          <a:xfrm>
            <a:off x="8171880" y="7989195"/>
            <a:ext cx="9429546" cy="981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Raleway Bold"/>
                <a:ea typeface="Raleway Bold"/>
                <a:cs typeface="Raleway Bold"/>
                <a:sym typeface="Raleway Bold"/>
              </a:rPr>
              <a:t>.</a:t>
            </a:r>
          </a:p>
          <a:p>
            <a:pPr algn="ctr">
              <a:lnSpc>
                <a:spcPts val="4105"/>
              </a:lnSpc>
            </a:pPr>
            <a:endParaRPr lang="en-US" sz="2000" b="1" dirty="0">
              <a:solidFill>
                <a:schemeClr val="accent5">
                  <a:lumMod val="50000"/>
                </a:schemeClr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E183C77-FC49-4B0F-ADAF-312EABA6F65E}"/>
              </a:ext>
            </a:extLst>
          </p:cNvPr>
          <p:cNvSpPr/>
          <p:nvPr/>
        </p:nvSpPr>
        <p:spPr>
          <a:xfrm>
            <a:off x="1356551" y="5143500"/>
            <a:ext cx="15935355" cy="6432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chemeClr val="accent5">
                  <a:lumMod val="50000"/>
                </a:schemeClr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31337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0582669">
            <a:off x="-1043853" y="-2764899"/>
            <a:ext cx="22960615" cy="5470951"/>
            <a:chOff x="0" y="0"/>
            <a:chExt cx="30614153" cy="7294601"/>
          </a:xfrm>
        </p:grpSpPr>
        <p:sp>
          <p:nvSpPr>
            <p:cNvPr id="3" name="Freeform 3"/>
            <p:cNvSpPr/>
            <p:nvPr/>
          </p:nvSpPr>
          <p:spPr>
            <a:xfrm>
              <a:off x="775796" y="0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0" y="207991"/>
              <a:ext cx="29838357" cy="7086610"/>
            </a:xfrm>
            <a:custGeom>
              <a:avLst/>
              <a:gdLst/>
              <a:ahLst/>
              <a:cxnLst/>
              <a:rect l="l" t="t" r="r" b="b"/>
              <a:pathLst>
                <a:path w="29838357" h="7086610">
                  <a:moveTo>
                    <a:pt x="0" y="0"/>
                  </a:moveTo>
                  <a:lnTo>
                    <a:pt x="29838357" y="0"/>
                  </a:lnTo>
                  <a:lnTo>
                    <a:pt x="29838357" y="7086610"/>
                  </a:lnTo>
                  <a:lnTo>
                    <a:pt x="0" y="70866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9771545" y="584685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RECOMENDADOS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43424" y="309138"/>
            <a:ext cx="3695279" cy="409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0"/>
              </a:lnSpc>
            </a:pPr>
            <a:r>
              <a:rPr lang="en-US" sz="300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#SOMOS</a:t>
            </a:r>
            <a:r>
              <a:rPr lang="en-US" sz="3000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WESTHILL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4805100" y="9625517"/>
            <a:ext cx="1997527" cy="321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7"/>
              </a:lnSpc>
            </a:pPr>
            <a:r>
              <a:rPr lang="en-US" sz="2317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@univwesthill</a:t>
            </a:r>
          </a:p>
        </p:txBody>
      </p:sp>
      <p:sp>
        <p:nvSpPr>
          <p:cNvPr id="32" name="Freeform 7">
            <a:extLst>
              <a:ext uri="{FF2B5EF4-FFF2-40B4-BE49-F238E27FC236}">
                <a16:creationId xmlns:a16="http://schemas.microsoft.com/office/drawing/2014/main" id="{979CC4BA-51F5-410D-89A8-549FD6C7B0B3}"/>
              </a:ext>
            </a:extLst>
          </p:cNvPr>
          <p:cNvSpPr/>
          <p:nvPr/>
        </p:nvSpPr>
        <p:spPr>
          <a:xfrm>
            <a:off x="16064700" y="-29423"/>
            <a:ext cx="1475854" cy="1743923"/>
          </a:xfrm>
          <a:custGeom>
            <a:avLst/>
            <a:gdLst/>
            <a:ahLst/>
            <a:cxnLst/>
            <a:rect l="l" t="t" r="r" b="b"/>
            <a:pathLst>
              <a:path w="879351" h="1039073">
                <a:moveTo>
                  <a:pt x="0" y="0"/>
                </a:moveTo>
                <a:lnTo>
                  <a:pt x="879351" y="0"/>
                </a:lnTo>
                <a:lnTo>
                  <a:pt x="879351" y="1039073"/>
                </a:lnTo>
                <a:lnTo>
                  <a:pt x="0" y="10390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6984" t="-40714" r="-29893" b="-95309"/>
            </a:stretch>
          </a:blipFill>
        </p:spPr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660196B4-AE8A-4488-9FAD-0901A1F7941F}"/>
              </a:ext>
            </a:extLst>
          </p:cNvPr>
          <p:cNvSpPr/>
          <p:nvPr/>
        </p:nvSpPr>
        <p:spPr>
          <a:xfrm>
            <a:off x="329566" y="1906941"/>
            <a:ext cx="17425033" cy="809883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362F9365-CCCF-409A-9233-B8561B59375A}"/>
              </a:ext>
            </a:extLst>
          </p:cNvPr>
          <p:cNvSpPr/>
          <p:nvPr/>
        </p:nvSpPr>
        <p:spPr>
          <a:xfrm>
            <a:off x="7046930" y="4729710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47" name="Rectángulo 46">
            <a:extLst>
              <a:ext uri="{FF2B5EF4-FFF2-40B4-BE49-F238E27FC236}">
                <a16:creationId xmlns:a16="http://schemas.microsoft.com/office/drawing/2014/main" id="{1BC3538D-ECF5-46C3-A664-9DECEE25B8AE}"/>
              </a:ext>
            </a:extLst>
          </p:cNvPr>
          <p:cNvSpPr/>
          <p:nvPr/>
        </p:nvSpPr>
        <p:spPr>
          <a:xfrm>
            <a:off x="9002352" y="558275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04DC39E4-6001-4C60-BBB1-125F24F6832E}"/>
              </a:ext>
            </a:extLst>
          </p:cNvPr>
          <p:cNvSpPr/>
          <p:nvPr/>
        </p:nvSpPr>
        <p:spPr>
          <a:xfrm>
            <a:off x="6919882" y="311527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63" name="Rectángulo 62">
            <a:extLst>
              <a:ext uri="{FF2B5EF4-FFF2-40B4-BE49-F238E27FC236}">
                <a16:creationId xmlns:a16="http://schemas.microsoft.com/office/drawing/2014/main" id="{8168BBD0-888B-450B-BFEC-737B316FF3C2}"/>
              </a:ext>
            </a:extLst>
          </p:cNvPr>
          <p:cNvSpPr/>
          <p:nvPr/>
        </p:nvSpPr>
        <p:spPr>
          <a:xfrm>
            <a:off x="5891076" y="3309372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3" name="Rectángulo: esquinas redondeadas 72">
            <a:extLst>
              <a:ext uri="{FF2B5EF4-FFF2-40B4-BE49-F238E27FC236}">
                <a16:creationId xmlns:a16="http://schemas.microsoft.com/office/drawing/2014/main" id="{D7CCBE78-7B78-4B2B-A43D-F39C0F770002}"/>
              </a:ext>
            </a:extLst>
          </p:cNvPr>
          <p:cNvSpPr/>
          <p:nvPr/>
        </p:nvSpPr>
        <p:spPr>
          <a:xfrm>
            <a:off x="589517" y="2280020"/>
            <a:ext cx="16725353" cy="730837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ACDB228C-0B12-4DB0-9F0E-DCD55300D928}"/>
              </a:ext>
            </a:extLst>
          </p:cNvPr>
          <p:cNvSpPr/>
          <p:nvPr/>
        </p:nvSpPr>
        <p:spPr>
          <a:xfrm>
            <a:off x="1105390" y="2673941"/>
            <a:ext cx="15935355" cy="104951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endParaRPr lang="es-MX" sz="28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Con esta información podemos analizar que los medios de contacto de Recomendados, Ferias Escolares y Página Web son los más importantes generadores de inscritos. Para lo cual la propuesta es la siguiente:</a:t>
            </a:r>
          </a:p>
          <a:p>
            <a:pPr fontAlgn="ctr"/>
            <a:endParaRPr lang="es-MX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solidFill>
                  <a:srgbClr val="00B050"/>
                </a:solidFill>
                <a:latin typeface="Calibri" panose="020F0502020204030204" pitchFamily="34" charset="0"/>
              </a:rPr>
              <a:t>Programa de Recomendados </a:t>
            </a:r>
          </a:p>
          <a:p>
            <a:pPr fontAlgn="ctr"/>
            <a:r>
              <a:rPr lang="es-MX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La propuesta es convertir la recomendación en un programa comercial estructurado.</a:t>
            </a:r>
          </a:p>
          <a:p>
            <a:pPr fontAlgn="ctr"/>
            <a:r>
              <a:rPr lang="es-MX" sz="2400" b="1" dirty="0">
                <a:solidFill>
                  <a:srgbClr val="000000"/>
                </a:solidFill>
                <a:latin typeface="Calibri" panose="020F0502020204030204" pitchFamily="34" charset="0"/>
              </a:rPr>
              <a:t>Cada alumno inscrito recibe un código o </a:t>
            </a:r>
            <a:r>
              <a:rPr lang="es-MX" sz="2400" b="1" dirty="0">
                <a:solidFill>
                  <a:srgbClr val="00B050"/>
                </a:solidFill>
                <a:latin typeface="Calibri" panose="020F0502020204030204" pitchFamily="34" charset="0"/>
              </a:rPr>
              <a:t>enlace personalizado de recomendación.</a:t>
            </a:r>
          </a:p>
          <a:p>
            <a:pPr fontAlgn="ctr"/>
            <a:endParaRPr lang="es-MX" sz="24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dirty="0">
                <a:solidFill>
                  <a:srgbClr val="00B050"/>
                </a:solidFill>
                <a:latin typeface="Calibri" panose="020F0502020204030204" pitchFamily="34" charset="0"/>
              </a:rPr>
              <a:t>Beneficio económico (Bono especial)</a:t>
            </a:r>
          </a:p>
          <a:p>
            <a:pPr fontAlgn="ctr"/>
            <a:r>
              <a:rPr lang="es-MX" sz="2400" b="1" dirty="0">
                <a:latin typeface="Calibri" panose="020F0502020204030204" pitchFamily="34" charset="0"/>
              </a:rPr>
              <a:t>1 invitado inscrito    $2000</a:t>
            </a:r>
          </a:p>
          <a:p>
            <a:pPr fontAlgn="ctr"/>
            <a:r>
              <a:rPr lang="es-MX" sz="2400" b="1" dirty="0">
                <a:latin typeface="Calibri" panose="020F0502020204030204" pitchFamily="34" charset="0"/>
              </a:rPr>
              <a:t>2 invitados inscritos $3500</a:t>
            </a:r>
          </a:p>
          <a:p>
            <a:pPr fontAlgn="ctr"/>
            <a:r>
              <a:rPr lang="es-MX" sz="2400" b="1" dirty="0">
                <a:latin typeface="Calibri" panose="020F0502020204030204" pitchFamily="34" charset="0"/>
              </a:rPr>
              <a:t>3 invitados inscritos $5000.</a:t>
            </a:r>
          </a:p>
          <a:p>
            <a:pPr fontAlgn="ctr"/>
            <a:endParaRPr lang="es-MX" sz="2400" b="1" dirty="0">
              <a:solidFill>
                <a:srgbClr val="00B05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dirty="0">
                <a:solidFill>
                  <a:srgbClr val="00B050"/>
                </a:solidFill>
                <a:latin typeface="Calibri" panose="020F0502020204030204" pitchFamily="34" charset="0"/>
              </a:rPr>
              <a:t>Beneficio de Pertenencia:</a:t>
            </a:r>
          </a:p>
          <a:p>
            <a:pPr fontAlgn="ctr"/>
            <a:r>
              <a:rPr lang="es-MX" sz="2400" b="1" dirty="0">
                <a:latin typeface="Calibri" panose="020F0502020204030204" pitchFamily="34" charset="0"/>
              </a:rPr>
              <a:t>Reconocimiento al “Embajador Westhill del mes”. (Historias de Instagram).</a:t>
            </a:r>
          </a:p>
          <a:p>
            <a:pPr fontAlgn="ctr"/>
            <a:r>
              <a:rPr lang="es-MX" sz="2400" b="1" dirty="0">
                <a:latin typeface="Calibri" panose="020F0502020204030204" pitchFamily="34" charset="0"/>
              </a:rPr>
              <a:t>Dar un regalo como termo, paraguas, sudadera, </a:t>
            </a:r>
            <a:r>
              <a:rPr lang="es-MX" sz="2400" b="1" dirty="0" err="1">
                <a:latin typeface="Calibri" panose="020F0502020204030204" pitchFamily="34" charset="0"/>
              </a:rPr>
              <a:t>étc</a:t>
            </a:r>
            <a:r>
              <a:rPr lang="es-MX" sz="2400" b="1" dirty="0">
                <a:latin typeface="Calibri" panose="020F0502020204030204" pitchFamily="34" charset="0"/>
              </a:rPr>
              <a:t>.</a:t>
            </a:r>
          </a:p>
          <a:p>
            <a:pPr fontAlgn="ctr"/>
            <a:endParaRPr lang="es-MX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400" b="1" i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400" b="1" i="1" dirty="0">
                <a:latin typeface="Calibri" panose="020F0502020204030204" pitchFamily="34" charset="0"/>
              </a:rPr>
              <a:t>          </a:t>
            </a:r>
            <a:endParaRPr lang="es-MX" sz="2400" b="1" dirty="0"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endParaRPr lang="es-MX" sz="2800" b="1" dirty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fontAlgn="ctr"/>
            <a:r>
              <a:rPr lang="es-MX" sz="2800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75" name="Rectángulo 74">
            <a:extLst>
              <a:ext uri="{FF2B5EF4-FFF2-40B4-BE49-F238E27FC236}">
                <a16:creationId xmlns:a16="http://schemas.microsoft.com/office/drawing/2014/main" id="{2C230D46-39FB-420A-BD74-F28896046801}"/>
              </a:ext>
            </a:extLst>
          </p:cNvPr>
          <p:cNvSpPr/>
          <p:nvPr/>
        </p:nvSpPr>
        <p:spPr>
          <a:xfrm>
            <a:off x="9013643" y="3070116"/>
            <a:ext cx="219013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0" name="Rectángulo 79">
            <a:extLst>
              <a:ext uri="{FF2B5EF4-FFF2-40B4-BE49-F238E27FC236}">
                <a16:creationId xmlns:a16="http://schemas.microsoft.com/office/drawing/2014/main" id="{11563497-907B-450F-B3F4-0DC59C39770C}"/>
              </a:ext>
            </a:extLst>
          </p:cNvPr>
          <p:cNvSpPr/>
          <p:nvPr/>
        </p:nvSpPr>
        <p:spPr>
          <a:xfrm>
            <a:off x="7937042" y="3843963"/>
            <a:ext cx="15566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ctr"/>
            <a:r>
              <a:rPr lang="es-MX" b="1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</a:p>
        </p:txBody>
      </p:sp>
      <p:sp>
        <p:nvSpPr>
          <p:cNvPr id="86" name="TextBox 9">
            <a:extLst>
              <a:ext uri="{FF2B5EF4-FFF2-40B4-BE49-F238E27FC236}">
                <a16:creationId xmlns:a16="http://schemas.microsoft.com/office/drawing/2014/main" id="{6D245126-DD97-4FB9-ACE1-70432188DA0F}"/>
              </a:ext>
            </a:extLst>
          </p:cNvPr>
          <p:cNvSpPr txBox="1"/>
          <p:nvPr/>
        </p:nvSpPr>
        <p:spPr>
          <a:xfrm>
            <a:off x="10286582" y="323010"/>
            <a:ext cx="5779861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C27DBC1-3732-4635-B6B1-8E276554795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8587" y="4614106"/>
            <a:ext cx="3703394" cy="4794037"/>
          </a:xfrm>
          <a:prstGeom prst="rect">
            <a:avLst/>
          </a:prstGeom>
        </p:spPr>
      </p:pic>
      <p:sp>
        <p:nvSpPr>
          <p:cNvPr id="21" name="TextBox 9">
            <a:extLst>
              <a:ext uri="{FF2B5EF4-FFF2-40B4-BE49-F238E27FC236}">
                <a16:creationId xmlns:a16="http://schemas.microsoft.com/office/drawing/2014/main" id="{490142CE-7D36-45DD-B8AD-AD79B4DA3C74}"/>
              </a:ext>
            </a:extLst>
          </p:cNvPr>
          <p:cNvSpPr txBox="1"/>
          <p:nvPr/>
        </p:nvSpPr>
        <p:spPr>
          <a:xfrm>
            <a:off x="10721869" y="3949230"/>
            <a:ext cx="7516552" cy="5257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05"/>
              </a:lnSpc>
            </a:pPr>
            <a:r>
              <a:rPr lang="en-US" sz="3731" b="1" dirty="0">
                <a:solidFill>
                  <a:srgbClr val="00B050"/>
                </a:solidFill>
                <a:latin typeface="Raleway Bold"/>
                <a:ea typeface="Raleway Bold"/>
                <a:cs typeface="Raleway Bold"/>
                <a:sym typeface="Raleway Bold"/>
              </a:rPr>
              <a:t>Actual</a:t>
            </a:r>
            <a:r>
              <a:rPr lang="en-US" sz="3731" b="1" dirty="0">
                <a:solidFill>
                  <a:srgbClr val="276092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17710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57617</TotalTime>
  <Words>722</Words>
  <Application>Microsoft Office PowerPoint</Application>
  <PresentationFormat>Personalizado</PresentationFormat>
  <Paragraphs>383</Paragraphs>
  <Slides>13</Slides>
  <Notes>1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Arial</vt:lpstr>
      <vt:lpstr>Raleway</vt:lpstr>
      <vt:lpstr>Calibri</vt:lpstr>
      <vt:lpstr>Raleway Bold</vt:lpstr>
      <vt:lpstr>Office Theme</vt:lpstr>
      <vt:lpstr>Worksheet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Admisiones</dc:title>
  <dc:creator>Community Manager</dc:creator>
  <cp:lastModifiedBy>Paloma Gárate Pérez</cp:lastModifiedBy>
  <cp:revision>562</cp:revision>
  <cp:lastPrinted>2026-06-18T20:37:07Z</cp:lastPrinted>
  <dcterms:created xsi:type="dcterms:W3CDTF">2006-08-16T00:00:00Z</dcterms:created>
  <dcterms:modified xsi:type="dcterms:W3CDTF">2026-10-02T21:00:02Z</dcterms:modified>
  <dc:identifier>DAG0ZWxG45o</dc:identifier>
</cp:coreProperties>
</file>